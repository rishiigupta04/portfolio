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0714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9900"/>
          </a:solidFill>
          <a:ln w="12700">
            <a:solidFill>
              <a:srgbClr val="FF9900"/>
            </a:solidFill>
            <a:prstDash val="solid"/>
          </a:ln>
        </p:spPr>
        <p:txBody>
          <a:bodyPr/>
          <a:lstStyle/>
          <a:p>
            <a:endParaRPr lang="en-US"/>
          </a:p>
        </p:txBody>
      </p:sp>
      <p:sp>
        <p:nvSpPr>
          <p:cNvPr id="3" name="Shape 1"/>
          <p:cNvSpPr/>
          <p:nvPr/>
        </p:nvSpPr>
        <p:spPr>
          <a:xfrm>
            <a:off x="0" y="73152"/>
            <a:ext cx="228600" cy="5070348"/>
          </a:xfrm>
          <a:prstGeom prst="rect">
            <a:avLst/>
          </a:prstGeom>
          <a:solidFill>
            <a:srgbClr val="FF9900"/>
          </a:solidFill>
          <a:ln w="12700">
            <a:solidFill>
              <a:srgbClr val="FF9900"/>
            </a:solidFill>
            <a:prstDash val="solid"/>
          </a:ln>
        </p:spPr>
        <p:txBody>
          <a:bodyPr/>
          <a:lstStyle/>
          <a:p>
            <a:endParaRPr lang="en-US"/>
          </a:p>
        </p:txBody>
      </p:sp>
      <p:sp>
        <p:nvSpPr>
          <p:cNvPr id="4" name="Shape 2"/>
          <p:cNvSpPr/>
          <p:nvPr/>
        </p:nvSpPr>
        <p:spPr>
          <a:xfrm>
            <a:off x="228600" y="73152"/>
            <a:ext cx="109728" cy="5070348"/>
          </a:xfrm>
          <a:prstGeom prst="rect">
            <a:avLst/>
          </a:prstGeom>
          <a:solidFill>
            <a:srgbClr val="CC7700"/>
          </a:solidFill>
          <a:ln w="12700">
            <a:solidFill>
              <a:srgbClr val="CC7700"/>
            </a:solidFill>
            <a:prstDash val="solid"/>
          </a:ln>
        </p:spPr>
        <p:txBody>
          <a:bodyPr/>
          <a:lstStyle/>
          <a:p>
            <a:endParaRPr lang="en-US"/>
          </a:p>
        </p:txBody>
      </p:sp>
      <p:sp>
        <p:nvSpPr>
          <p:cNvPr id="5" name="Shape 3"/>
          <p:cNvSpPr/>
          <p:nvPr/>
        </p:nvSpPr>
        <p:spPr>
          <a:xfrm>
            <a:off x="5943600" y="-457200"/>
            <a:ext cx="3657600" cy="3657600"/>
          </a:xfrm>
          <a:prstGeom prst="ellipse">
            <a:avLst/>
          </a:prstGeom>
          <a:solidFill>
            <a:srgbClr val="FF9900">
              <a:alpha val="12000"/>
            </a:srgbClr>
          </a:solidFill>
          <a:ln w="12700">
            <a:solidFill>
              <a:srgbClr val="FF9900">
                <a:alpha val="12000"/>
              </a:srgbClr>
            </a:solidFill>
            <a:prstDash val="solid"/>
          </a:ln>
        </p:spPr>
        <p:txBody>
          <a:bodyPr/>
          <a:lstStyle/>
          <a:p>
            <a:endParaRPr lang="en-US"/>
          </a:p>
        </p:txBody>
      </p:sp>
      <p:sp>
        <p:nvSpPr>
          <p:cNvPr id="6" name="Shape 4"/>
          <p:cNvSpPr/>
          <p:nvPr/>
        </p:nvSpPr>
        <p:spPr>
          <a:xfrm>
            <a:off x="6400800" y="2286000"/>
            <a:ext cx="2743200" cy="2743200"/>
          </a:xfrm>
          <a:prstGeom prst="ellipse">
            <a:avLst/>
          </a:prstGeom>
          <a:solidFill>
            <a:srgbClr val="00B3B3">
              <a:alpha val="10000"/>
            </a:srgbClr>
          </a:solidFill>
          <a:ln w="12700">
            <a:solidFill>
              <a:srgbClr val="00B3B3">
                <a:alpha val="10000"/>
              </a:srgbClr>
            </a:solidFill>
            <a:prstDash val="solid"/>
          </a:ln>
        </p:spPr>
        <p:txBody>
          <a:bodyPr/>
          <a:lstStyle/>
          <a:p>
            <a:endParaRPr lang="en-US"/>
          </a:p>
        </p:txBody>
      </p:sp>
      <p:sp>
        <p:nvSpPr>
          <p:cNvPr id="7" name="Shape 5"/>
          <p:cNvSpPr/>
          <p:nvPr/>
        </p:nvSpPr>
        <p:spPr>
          <a:xfrm>
            <a:off x="6583680" y="274320"/>
            <a:ext cx="91440" cy="91440"/>
          </a:xfrm>
          <a:prstGeom prst="ellipse">
            <a:avLst/>
          </a:prstGeom>
          <a:solidFill>
            <a:srgbClr val="FF9900">
              <a:alpha val="30000"/>
            </a:srgbClr>
          </a:solidFill>
          <a:ln w="12700">
            <a:solidFill>
              <a:srgbClr val="FF9900">
                <a:alpha val="30000"/>
              </a:srgbClr>
            </a:solidFill>
            <a:prstDash val="solid"/>
          </a:ln>
        </p:spPr>
        <p:txBody>
          <a:bodyPr/>
          <a:lstStyle/>
          <a:p>
            <a:endParaRPr lang="en-US"/>
          </a:p>
        </p:txBody>
      </p:sp>
      <p:sp>
        <p:nvSpPr>
          <p:cNvPr id="8" name="Shape 6"/>
          <p:cNvSpPr/>
          <p:nvPr/>
        </p:nvSpPr>
        <p:spPr>
          <a:xfrm>
            <a:off x="6903720" y="274320"/>
            <a:ext cx="91440" cy="91440"/>
          </a:xfrm>
          <a:prstGeom prst="ellipse">
            <a:avLst/>
          </a:prstGeom>
          <a:solidFill>
            <a:srgbClr val="FF9900">
              <a:alpha val="30000"/>
            </a:srgbClr>
          </a:solidFill>
          <a:ln w="12700">
            <a:solidFill>
              <a:srgbClr val="FF9900">
                <a:alpha val="30000"/>
              </a:srgbClr>
            </a:solidFill>
            <a:prstDash val="solid"/>
          </a:ln>
        </p:spPr>
        <p:txBody>
          <a:bodyPr/>
          <a:lstStyle/>
          <a:p>
            <a:endParaRPr lang="en-US"/>
          </a:p>
        </p:txBody>
      </p:sp>
      <p:sp>
        <p:nvSpPr>
          <p:cNvPr id="9" name="Shape 7"/>
          <p:cNvSpPr/>
          <p:nvPr/>
        </p:nvSpPr>
        <p:spPr>
          <a:xfrm>
            <a:off x="7223760" y="274320"/>
            <a:ext cx="91440" cy="91440"/>
          </a:xfrm>
          <a:prstGeom prst="ellipse">
            <a:avLst/>
          </a:prstGeom>
          <a:solidFill>
            <a:srgbClr val="FF9900">
              <a:alpha val="30000"/>
            </a:srgbClr>
          </a:solidFill>
          <a:ln w="12700">
            <a:solidFill>
              <a:srgbClr val="FF9900">
                <a:alpha val="30000"/>
              </a:srgbClr>
            </a:solidFill>
            <a:prstDash val="solid"/>
          </a:ln>
        </p:spPr>
        <p:txBody>
          <a:bodyPr/>
          <a:lstStyle/>
          <a:p>
            <a:endParaRPr lang="en-US"/>
          </a:p>
        </p:txBody>
      </p:sp>
      <p:sp>
        <p:nvSpPr>
          <p:cNvPr id="10" name="Shape 8"/>
          <p:cNvSpPr/>
          <p:nvPr/>
        </p:nvSpPr>
        <p:spPr>
          <a:xfrm>
            <a:off x="7543800" y="274320"/>
            <a:ext cx="91440" cy="91440"/>
          </a:xfrm>
          <a:prstGeom prst="ellipse">
            <a:avLst/>
          </a:prstGeom>
          <a:solidFill>
            <a:srgbClr val="FF9900">
              <a:alpha val="30000"/>
            </a:srgbClr>
          </a:solidFill>
          <a:ln w="12700">
            <a:solidFill>
              <a:srgbClr val="FF9900">
                <a:alpha val="30000"/>
              </a:srgbClr>
            </a:solidFill>
            <a:prstDash val="solid"/>
          </a:ln>
        </p:spPr>
        <p:txBody>
          <a:bodyPr/>
          <a:lstStyle/>
          <a:p>
            <a:endParaRPr lang="en-US"/>
          </a:p>
        </p:txBody>
      </p:sp>
      <p:sp>
        <p:nvSpPr>
          <p:cNvPr id="11" name="Shape 9"/>
          <p:cNvSpPr/>
          <p:nvPr/>
        </p:nvSpPr>
        <p:spPr>
          <a:xfrm>
            <a:off x="7863840" y="274320"/>
            <a:ext cx="91440" cy="91440"/>
          </a:xfrm>
          <a:prstGeom prst="ellipse">
            <a:avLst/>
          </a:prstGeom>
          <a:solidFill>
            <a:srgbClr val="FF9900">
              <a:alpha val="30000"/>
            </a:srgbClr>
          </a:solidFill>
          <a:ln w="12700">
            <a:solidFill>
              <a:srgbClr val="FF9900">
                <a:alpha val="30000"/>
              </a:srgbClr>
            </a:solidFill>
            <a:prstDash val="solid"/>
          </a:ln>
        </p:spPr>
        <p:txBody>
          <a:bodyPr/>
          <a:lstStyle/>
          <a:p>
            <a:endParaRPr lang="en-US"/>
          </a:p>
        </p:txBody>
      </p:sp>
      <p:sp>
        <p:nvSpPr>
          <p:cNvPr id="12" name="Shape 10"/>
          <p:cNvSpPr/>
          <p:nvPr/>
        </p:nvSpPr>
        <p:spPr>
          <a:xfrm>
            <a:off x="6583680" y="594360"/>
            <a:ext cx="91440" cy="91440"/>
          </a:xfrm>
          <a:prstGeom prst="ellipse">
            <a:avLst/>
          </a:prstGeom>
          <a:solidFill>
            <a:srgbClr val="FF9900">
              <a:alpha val="30000"/>
            </a:srgbClr>
          </a:solidFill>
          <a:ln w="12700">
            <a:solidFill>
              <a:srgbClr val="FF9900">
                <a:alpha val="30000"/>
              </a:srgbClr>
            </a:solidFill>
            <a:prstDash val="solid"/>
          </a:ln>
        </p:spPr>
        <p:txBody>
          <a:bodyPr/>
          <a:lstStyle/>
          <a:p>
            <a:endParaRPr lang="en-US"/>
          </a:p>
        </p:txBody>
      </p:sp>
      <p:sp>
        <p:nvSpPr>
          <p:cNvPr id="13" name="Shape 11"/>
          <p:cNvSpPr/>
          <p:nvPr/>
        </p:nvSpPr>
        <p:spPr>
          <a:xfrm>
            <a:off x="6903720" y="594360"/>
            <a:ext cx="91440" cy="91440"/>
          </a:xfrm>
          <a:prstGeom prst="ellipse">
            <a:avLst/>
          </a:prstGeom>
          <a:solidFill>
            <a:srgbClr val="FF9900">
              <a:alpha val="30000"/>
            </a:srgbClr>
          </a:solidFill>
          <a:ln w="12700">
            <a:solidFill>
              <a:srgbClr val="FF9900">
                <a:alpha val="30000"/>
              </a:srgbClr>
            </a:solidFill>
            <a:prstDash val="solid"/>
          </a:ln>
        </p:spPr>
        <p:txBody>
          <a:bodyPr/>
          <a:lstStyle/>
          <a:p>
            <a:endParaRPr lang="en-US"/>
          </a:p>
        </p:txBody>
      </p:sp>
      <p:sp>
        <p:nvSpPr>
          <p:cNvPr id="14" name="Shape 12"/>
          <p:cNvSpPr/>
          <p:nvPr/>
        </p:nvSpPr>
        <p:spPr>
          <a:xfrm>
            <a:off x="7223760" y="594360"/>
            <a:ext cx="91440" cy="91440"/>
          </a:xfrm>
          <a:prstGeom prst="ellipse">
            <a:avLst/>
          </a:prstGeom>
          <a:solidFill>
            <a:srgbClr val="FF9900">
              <a:alpha val="30000"/>
            </a:srgbClr>
          </a:solidFill>
          <a:ln w="12700">
            <a:solidFill>
              <a:srgbClr val="FF9900">
                <a:alpha val="30000"/>
              </a:srgbClr>
            </a:solidFill>
            <a:prstDash val="solid"/>
          </a:ln>
        </p:spPr>
        <p:txBody>
          <a:bodyPr/>
          <a:lstStyle/>
          <a:p>
            <a:endParaRPr lang="en-US"/>
          </a:p>
        </p:txBody>
      </p:sp>
      <p:sp>
        <p:nvSpPr>
          <p:cNvPr id="15" name="Shape 13"/>
          <p:cNvSpPr/>
          <p:nvPr/>
        </p:nvSpPr>
        <p:spPr>
          <a:xfrm>
            <a:off x="7543800" y="594360"/>
            <a:ext cx="91440" cy="91440"/>
          </a:xfrm>
          <a:prstGeom prst="ellipse">
            <a:avLst/>
          </a:prstGeom>
          <a:solidFill>
            <a:srgbClr val="FF9900">
              <a:alpha val="30000"/>
            </a:srgbClr>
          </a:solidFill>
          <a:ln w="12700">
            <a:solidFill>
              <a:srgbClr val="FF9900">
                <a:alpha val="30000"/>
              </a:srgbClr>
            </a:solidFill>
            <a:prstDash val="solid"/>
          </a:ln>
        </p:spPr>
        <p:txBody>
          <a:bodyPr/>
          <a:lstStyle/>
          <a:p>
            <a:endParaRPr lang="en-US"/>
          </a:p>
        </p:txBody>
      </p:sp>
      <p:sp>
        <p:nvSpPr>
          <p:cNvPr id="16" name="Shape 14"/>
          <p:cNvSpPr/>
          <p:nvPr/>
        </p:nvSpPr>
        <p:spPr>
          <a:xfrm>
            <a:off x="7863840" y="594360"/>
            <a:ext cx="91440" cy="91440"/>
          </a:xfrm>
          <a:prstGeom prst="ellipse">
            <a:avLst/>
          </a:prstGeom>
          <a:solidFill>
            <a:srgbClr val="FF9900">
              <a:alpha val="30000"/>
            </a:srgbClr>
          </a:solidFill>
          <a:ln w="12700">
            <a:solidFill>
              <a:srgbClr val="FF9900">
                <a:alpha val="30000"/>
              </a:srgbClr>
            </a:solidFill>
            <a:prstDash val="solid"/>
          </a:ln>
        </p:spPr>
        <p:txBody>
          <a:bodyPr/>
          <a:lstStyle/>
          <a:p>
            <a:endParaRPr lang="en-US"/>
          </a:p>
        </p:txBody>
      </p:sp>
      <p:sp>
        <p:nvSpPr>
          <p:cNvPr id="17" name="Shape 15"/>
          <p:cNvSpPr/>
          <p:nvPr/>
        </p:nvSpPr>
        <p:spPr>
          <a:xfrm>
            <a:off x="6583680" y="914400"/>
            <a:ext cx="91440" cy="91440"/>
          </a:xfrm>
          <a:prstGeom prst="ellipse">
            <a:avLst/>
          </a:prstGeom>
          <a:solidFill>
            <a:srgbClr val="FF9900">
              <a:alpha val="30000"/>
            </a:srgbClr>
          </a:solidFill>
          <a:ln w="12700">
            <a:solidFill>
              <a:srgbClr val="FF9900">
                <a:alpha val="30000"/>
              </a:srgbClr>
            </a:solidFill>
            <a:prstDash val="solid"/>
          </a:ln>
        </p:spPr>
        <p:txBody>
          <a:bodyPr/>
          <a:lstStyle/>
          <a:p>
            <a:endParaRPr lang="en-US"/>
          </a:p>
        </p:txBody>
      </p:sp>
      <p:sp>
        <p:nvSpPr>
          <p:cNvPr id="18" name="Shape 16"/>
          <p:cNvSpPr/>
          <p:nvPr/>
        </p:nvSpPr>
        <p:spPr>
          <a:xfrm>
            <a:off x="6903720" y="914400"/>
            <a:ext cx="91440" cy="91440"/>
          </a:xfrm>
          <a:prstGeom prst="ellipse">
            <a:avLst/>
          </a:prstGeom>
          <a:solidFill>
            <a:srgbClr val="FF9900">
              <a:alpha val="30000"/>
            </a:srgbClr>
          </a:solidFill>
          <a:ln w="12700">
            <a:solidFill>
              <a:srgbClr val="FF9900">
                <a:alpha val="30000"/>
              </a:srgbClr>
            </a:solidFill>
            <a:prstDash val="solid"/>
          </a:ln>
        </p:spPr>
        <p:txBody>
          <a:bodyPr/>
          <a:lstStyle/>
          <a:p>
            <a:endParaRPr lang="en-US"/>
          </a:p>
        </p:txBody>
      </p:sp>
      <p:sp>
        <p:nvSpPr>
          <p:cNvPr id="19" name="Shape 17"/>
          <p:cNvSpPr/>
          <p:nvPr/>
        </p:nvSpPr>
        <p:spPr>
          <a:xfrm>
            <a:off x="7223760" y="914400"/>
            <a:ext cx="91440" cy="91440"/>
          </a:xfrm>
          <a:prstGeom prst="ellipse">
            <a:avLst/>
          </a:prstGeom>
          <a:solidFill>
            <a:srgbClr val="FF9900">
              <a:alpha val="30000"/>
            </a:srgbClr>
          </a:solidFill>
          <a:ln w="12700">
            <a:solidFill>
              <a:srgbClr val="FF9900">
                <a:alpha val="30000"/>
              </a:srgbClr>
            </a:solidFill>
            <a:prstDash val="solid"/>
          </a:ln>
        </p:spPr>
        <p:txBody>
          <a:bodyPr/>
          <a:lstStyle/>
          <a:p>
            <a:endParaRPr lang="en-US"/>
          </a:p>
        </p:txBody>
      </p:sp>
      <p:sp>
        <p:nvSpPr>
          <p:cNvPr id="20" name="Shape 18"/>
          <p:cNvSpPr/>
          <p:nvPr/>
        </p:nvSpPr>
        <p:spPr>
          <a:xfrm>
            <a:off x="7543800" y="914400"/>
            <a:ext cx="91440" cy="91440"/>
          </a:xfrm>
          <a:prstGeom prst="ellipse">
            <a:avLst/>
          </a:prstGeom>
          <a:solidFill>
            <a:srgbClr val="FF9900">
              <a:alpha val="30000"/>
            </a:srgbClr>
          </a:solidFill>
          <a:ln w="12700">
            <a:solidFill>
              <a:srgbClr val="FF9900">
                <a:alpha val="30000"/>
              </a:srgbClr>
            </a:solidFill>
            <a:prstDash val="solid"/>
          </a:ln>
        </p:spPr>
        <p:txBody>
          <a:bodyPr/>
          <a:lstStyle/>
          <a:p>
            <a:endParaRPr lang="en-US"/>
          </a:p>
        </p:txBody>
      </p:sp>
      <p:sp>
        <p:nvSpPr>
          <p:cNvPr id="21" name="Shape 19"/>
          <p:cNvSpPr/>
          <p:nvPr/>
        </p:nvSpPr>
        <p:spPr>
          <a:xfrm>
            <a:off x="7863840" y="914400"/>
            <a:ext cx="91440" cy="91440"/>
          </a:xfrm>
          <a:prstGeom prst="ellipse">
            <a:avLst/>
          </a:prstGeom>
          <a:solidFill>
            <a:srgbClr val="FF9900">
              <a:alpha val="30000"/>
            </a:srgbClr>
          </a:solidFill>
          <a:ln w="12700">
            <a:solidFill>
              <a:srgbClr val="FF9900">
                <a:alpha val="30000"/>
              </a:srgbClr>
            </a:solidFill>
            <a:prstDash val="solid"/>
          </a:ln>
        </p:spPr>
        <p:txBody>
          <a:bodyPr/>
          <a:lstStyle/>
          <a:p>
            <a:endParaRPr lang="en-US"/>
          </a:p>
        </p:txBody>
      </p:sp>
      <p:sp>
        <p:nvSpPr>
          <p:cNvPr id="22" name="Shape 20"/>
          <p:cNvSpPr/>
          <p:nvPr/>
        </p:nvSpPr>
        <p:spPr>
          <a:xfrm>
            <a:off x="6583680" y="1234440"/>
            <a:ext cx="91440" cy="91440"/>
          </a:xfrm>
          <a:prstGeom prst="ellipse">
            <a:avLst/>
          </a:prstGeom>
          <a:solidFill>
            <a:srgbClr val="FF9900">
              <a:alpha val="30000"/>
            </a:srgbClr>
          </a:solidFill>
          <a:ln w="12700">
            <a:solidFill>
              <a:srgbClr val="FF9900">
                <a:alpha val="30000"/>
              </a:srgbClr>
            </a:solidFill>
            <a:prstDash val="solid"/>
          </a:ln>
        </p:spPr>
        <p:txBody>
          <a:bodyPr/>
          <a:lstStyle/>
          <a:p>
            <a:endParaRPr lang="en-US"/>
          </a:p>
        </p:txBody>
      </p:sp>
      <p:sp>
        <p:nvSpPr>
          <p:cNvPr id="23" name="Shape 21"/>
          <p:cNvSpPr/>
          <p:nvPr/>
        </p:nvSpPr>
        <p:spPr>
          <a:xfrm>
            <a:off x="6903720" y="1234440"/>
            <a:ext cx="91440" cy="91440"/>
          </a:xfrm>
          <a:prstGeom prst="ellipse">
            <a:avLst/>
          </a:prstGeom>
          <a:solidFill>
            <a:srgbClr val="FF9900">
              <a:alpha val="30000"/>
            </a:srgbClr>
          </a:solidFill>
          <a:ln w="12700">
            <a:solidFill>
              <a:srgbClr val="FF9900">
                <a:alpha val="30000"/>
              </a:srgbClr>
            </a:solidFill>
            <a:prstDash val="solid"/>
          </a:ln>
        </p:spPr>
        <p:txBody>
          <a:bodyPr/>
          <a:lstStyle/>
          <a:p>
            <a:endParaRPr lang="en-US"/>
          </a:p>
        </p:txBody>
      </p:sp>
      <p:sp>
        <p:nvSpPr>
          <p:cNvPr id="24" name="Shape 22"/>
          <p:cNvSpPr/>
          <p:nvPr/>
        </p:nvSpPr>
        <p:spPr>
          <a:xfrm>
            <a:off x="7223760" y="1234440"/>
            <a:ext cx="91440" cy="91440"/>
          </a:xfrm>
          <a:prstGeom prst="ellipse">
            <a:avLst/>
          </a:prstGeom>
          <a:solidFill>
            <a:srgbClr val="FF9900">
              <a:alpha val="30000"/>
            </a:srgbClr>
          </a:solidFill>
          <a:ln w="12700">
            <a:solidFill>
              <a:srgbClr val="FF9900">
                <a:alpha val="30000"/>
              </a:srgbClr>
            </a:solidFill>
            <a:prstDash val="solid"/>
          </a:ln>
        </p:spPr>
        <p:txBody>
          <a:bodyPr/>
          <a:lstStyle/>
          <a:p>
            <a:endParaRPr lang="en-US"/>
          </a:p>
        </p:txBody>
      </p:sp>
      <p:sp>
        <p:nvSpPr>
          <p:cNvPr id="25" name="Shape 23"/>
          <p:cNvSpPr/>
          <p:nvPr/>
        </p:nvSpPr>
        <p:spPr>
          <a:xfrm>
            <a:off x="7543800" y="1234440"/>
            <a:ext cx="91440" cy="91440"/>
          </a:xfrm>
          <a:prstGeom prst="ellipse">
            <a:avLst/>
          </a:prstGeom>
          <a:solidFill>
            <a:srgbClr val="FF9900">
              <a:alpha val="30000"/>
            </a:srgbClr>
          </a:solidFill>
          <a:ln w="12700">
            <a:solidFill>
              <a:srgbClr val="FF9900">
                <a:alpha val="30000"/>
              </a:srgbClr>
            </a:solidFill>
            <a:prstDash val="solid"/>
          </a:ln>
        </p:spPr>
        <p:txBody>
          <a:bodyPr/>
          <a:lstStyle/>
          <a:p>
            <a:endParaRPr lang="en-US"/>
          </a:p>
        </p:txBody>
      </p:sp>
      <p:sp>
        <p:nvSpPr>
          <p:cNvPr id="26" name="Shape 24"/>
          <p:cNvSpPr/>
          <p:nvPr/>
        </p:nvSpPr>
        <p:spPr>
          <a:xfrm>
            <a:off x="7863840" y="1234440"/>
            <a:ext cx="91440" cy="91440"/>
          </a:xfrm>
          <a:prstGeom prst="ellipse">
            <a:avLst/>
          </a:prstGeom>
          <a:solidFill>
            <a:srgbClr val="FF9900">
              <a:alpha val="30000"/>
            </a:srgbClr>
          </a:solidFill>
          <a:ln w="12700">
            <a:solidFill>
              <a:srgbClr val="FF9900">
                <a:alpha val="30000"/>
              </a:srgbClr>
            </a:solidFill>
            <a:prstDash val="solid"/>
          </a:ln>
        </p:spPr>
        <p:txBody>
          <a:bodyPr/>
          <a:lstStyle/>
          <a:p>
            <a:endParaRPr lang="en-US"/>
          </a:p>
        </p:txBody>
      </p:sp>
      <p:sp>
        <p:nvSpPr>
          <p:cNvPr id="27" name="Shape 25"/>
          <p:cNvSpPr/>
          <p:nvPr/>
        </p:nvSpPr>
        <p:spPr>
          <a:xfrm>
            <a:off x="640080" y="457200"/>
            <a:ext cx="1645920" cy="411480"/>
          </a:xfrm>
          <a:prstGeom prst="rect">
            <a:avLst/>
          </a:prstGeom>
          <a:solidFill>
            <a:srgbClr val="FF9900"/>
          </a:solidFill>
          <a:ln w="12700">
            <a:solidFill>
              <a:srgbClr val="FF9900"/>
            </a:solidFill>
            <a:prstDash val="solid"/>
          </a:ln>
        </p:spPr>
        <p:txBody>
          <a:bodyPr/>
          <a:lstStyle/>
          <a:p>
            <a:endParaRPr lang="en-US"/>
          </a:p>
        </p:txBody>
      </p:sp>
      <p:sp>
        <p:nvSpPr>
          <p:cNvPr id="28" name="Text 26"/>
          <p:cNvSpPr/>
          <p:nvPr/>
        </p:nvSpPr>
        <p:spPr>
          <a:xfrm>
            <a:off x="640080" y="457200"/>
            <a:ext cx="1645920" cy="411480"/>
          </a:xfrm>
          <a:prstGeom prst="rect">
            <a:avLst/>
          </a:prstGeom>
          <a:noFill/>
          <a:ln/>
        </p:spPr>
        <p:txBody>
          <a:bodyPr wrap="square" lIns="0" tIns="0" rIns="0" bIns="0" rtlCol="0" anchor="ctr"/>
          <a:lstStyle/>
          <a:p>
            <a:pPr marL="0" indent="0" algn="ctr">
              <a:buNone/>
            </a:pPr>
            <a:r>
              <a:rPr lang="en-US" sz="1000" b="1" dirty="0">
                <a:solidFill>
                  <a:srgbClr val="0D1B2A"/>
                </a:solidFill>
              </a:rPr>
              <a:t>AWS SERVICE</a:t>
            </a:r>
            <a:endParaRPr lang="en-US" sz="1000" dirty="0"/>
          </a:p>
        </p:txBody>
      </p:sp>
      <p:sp>
        <p:nvSpPr>
          <p:cNvPr id="29" name="Text 27"/>
          <p:cNvSpPr/>
          <p:nvPr/>
        </p:nvSpPr>
        <p:spPr>
          <a:xfrm>
            <a:off x="640080" y="1051560"/>
            <a:ext cx="7772400" cy="640080"/>
          </a:xfrm>
          <a:prstGeom prst="rect">
            <a:avLst/>
          </a:prstGeom>
          <a:noFill/>
          <a:ln/>
        </p:spPr>
        <p:txBody>
          <a:bodyPr wrap="square" rtlCol="0" anchor="ctr"/>
          <a:lstStyle/>
          <a:p>
            <a:pPr marL="0" indent="0">
              <a:buNone/>
            </a:pPr>
            <a:r>
              <a:rPr lang="en-US" sz="4000" dirty="0">
                <a:solidFill>
                  <a:srgbClr val="8FA3B8"/>
                </a:solidFill>
                <a:latin typeface="Calibri" pitchFamily="34" charset="0"/>
                <a:ea typeface="Calibri" pitchFamily="34" charset="-122"/>
                <a:cs typeface="Calibri" pitchFamily="34" charset="-120"/>
              </a:rPr>
              <a:t>Amazon</a:t>
            </a:r>
            <a:endParaRPr lang="en-US" sz="4000" dirty="0"/>
          </a:p>
        </p:txBody>
      </p:sp>
      <p:sp>
        <p:nvSpPr>
          <p:cNvPr id="30" name="Text 28"/>
          <p:cNvSpPr/>
          <p:nvPr/>
        </p:nvSpPr>
        <p:spPr>
          <a:xfrm>
            <a:off x="640080" y="1600200"/>
            <a:ext cx="7772400" cy="1005840"/>
          </a:xfrm>
          <a:prstGeom prst="rect">
            <a:avLst/>
          </a:prstGeom>
          <a:noFill/>
          <a:ln/>
        </p:spPr>
        <p:txBody>
          <a:bodyPr wrap="square" rtlCol="0" anchor="ctr"/>
          <a:lstStyle/>
          <a:p>
            <a:pPr marL="0" indent="0">
              <a:buNone/>
            </a:pPr>
            <a:r>
              <a:rPr lang="en-US" sz="7200" b="1" dirty="0">
                <a:solidFill>
                  <a:srgbClr val="FF9900"/>
                </a:solidFill>
                <a:latin typeface="Calibri" pitchFamily="34" charset="0"/>
                <a:ea typeface="Calibri" pitchFamily="34" charset="-122"/>
                <a:cs typeface="Calibri" pitchFamily="34" charset="-120"/>
              </a:rPr>
              <a:t>Bedrock</a:t>
            </a:r>
            <a:endParaRPr lang="en-US" sz="7200" dirty="0"/>
          </a:p>
        </p:txBody>
      </p:sp>
      <p:sp>
        <p:nvSpPr>
          <p:cNvPr id="31" name="Text 29"/>
          <p:cNvSpPr/>
          <p:nvPr/>
        </p:nvSpPr>
        <p:spPr>
          <a:xfrm>
            <a:off x="640080" y="2606040"/>
            <a:ext cx="7772400" cy="502920"/>
          </a:xfrm>
          <a:prstGeom prst="rect">
            <a:avLst/>
          </a:prstGeom>
          <a:noFill/>
          <a:ln/>
        </p:spPr>
        <p:txBody>
          <a:bodyPr wrap="square" rtlCol="0" anchor="ctr"/>
          <a:lstStyle/>
          <a:p>
            <a:pPr marL="0" indent="0">
              <a:buNone/>
            </a:pPr>
            <a:r>
              <a:rPr lang="en-US" sz="2200" dirty="0">
                <a:solidFill>
                  <a:srgbClr val="FFFFFF"/>
                </a:solidFill>
                <a:latin typeface="Calibri" pitchFamily="34" charset="0"/>
                <a:ea typeface="Calibri" pitchFamily="34" charset="-122"/>
                <a:cs typeface="Calibri" pitchFamily="34" charset="-120"/>
              </a:rPr>
              <a:t>for Conversational AI &amp; Generative AI</a:t>
            </a:r>
            <a:endParaRPr lang="en-US" sz="2200" dirty="0"/>
          </a:p>
        </p:txBody>
      </p:sp>
      <p:sp>
        <p:nvSpPr>
          <p:cNvPr id="32" name="Text 30"/>
          <p:cNvSpPr/>
          <p:nvPr/>
        </p:nvSpPr>
        <p:spPr>
          <a:xfrm>
            <a:off x="640080" y="3200400"/>
            <a:ext cx="6400800" cy="365760"/>
          </a:xfrm>
          <a:prstGeom prst="rect">
            <a:avLst/>
          </a:prstGeom>
          <a:noFill/>
          <a:ln/>
        </p:spPr>
        <p:txBody>
          <a:bodyPr wrap="square" rtlCol="0" anchor="ctr"/>
          <a:lstStyle/>
          <a:p>
            <a:pPr marL="0" indent="0">
              <a:buNone/>
            </a:pPr>
            <a:r>
              <a:rPr lang="en-US" sz="1300" i="1" dirty="0">
                <a:solidFill>
                  <a:srgbClr val="8FA3B8"/>
                </a:solidFill>
                <a:latin typeface="Calibri" pitchFamily="34" charset="0"/>
                <a:ea typeface="Calibri" pitchFamily="34" charset="-122"/>
                <a:cs typeface="Calibri" pitchFamily="34" charset="-120"/>
              </a:rPr>
              <a:t>Foundation Models • Serverless Architecture • Enterprise Scale</a:t>
            </a:r>
            <a:endParaRPr lang="en-US" sz="1300" dirty="0"/>
          </a:p>
        </p:txBody>
      </p:sp>
      <p:sp>
        <p:nvSpPr>
          <p:cNvPr id="33" name="Shape 31"/>
          <p:cNvSpPr/>
          <p:nvPr/>
        </p:nvSpPr>
        <p:spPr>
          <a:xfrm>
            <a:off x="0" y="4686300"/>
            <a:ext cx="9144000" cy="457200"/>
          </a:xfrm>
          <a:prstGeom prst="rect">
            <a:avLst/>
          </a:prstGeom>
          <a:solidFill>
            <a:srgbClr val="162232"/>
          </a:solidFill>
          <a:ln w="12700">
            <a:solidFill>
              <a:srgbClr val="162232"/>
            </a:solidFill>
            <a:prstDash val="solid"/>
          </a:ln>
        </p:spPr>
        <p:txBody>
          <a:bodyPr/>
          <a:lstStyle/>
          <a:p>
            <a:endParaRPr lang="en-US"/>
          </a:p>
        </p:txBody>
      </p:sp>
      <p:sp>
        <p:nvSpPr>
          <p:cNvPr id="34" name="Text 32"/>
          <p:cNvSpPr/>
          <p:nvPr/>
        </p:nvSpPr>
        <p:spPr>
          <a:xfrm>
            <a:off x="640080" y="4686300"/>
            <a:ext cx="5486400" cy="457200"/>
          </a:xfrm>
          <a:prstGeom prst="rect">
            <a:avLst/>
          </a:prstGeom>
          <a:noFill/>
          <a:ln/>
        </p:spPr>
        <p:txBody>
          <a:bodyPr wrap="square" rtlCol="0" anchor="ctr"/>
          <a:lstStyle/>
          <a:p>
            <a:pPr marL="0" indent="0">
              <a:buNone/>
            </a:pPr>
            <a:r>
              <a:rPr lang="en-US" sz="1100" dirty="0">
                <a:solidFill>
                  <a:srgbClr val="8FA3B8"/>
                </a:solidFill>
                <a:latin typeface="Calibri" pitchFamily="34" charset="0"/>
                <a:ea typeface="Calibri" pitchFamily="34" charset="-122"/>
                <a:cs typeface="Calibri" pitchFamily="34" charset="-120"/>
              </a:rPr>
              <a:t>Cloud Computing | AWS Bedrock Deep Dive</a:t>
            </a:r>
            <a:endParaRPr lang="en-US" sz="1100" dirty="0"/>
          </a:p>
        </p:txBody>
      </p:sp>
      <p:sp>
        <p:nvSpPr>
          <p:cNvPr id="35" name="Text 33"/>
          <p:cNvSpPr/>
          <p:nvPr/>
        </p:nvSpPr>
        <p:spPr>
          <a:xfrm>
            <a:off x="7772400" y="4686300"/>
            <a:ext cx="1097280" cy="457200"/>
          </a:xfrm>
          <a:prstGeom prst="rect">
            <a:avLst/>
          </a:prstGeom>
          <a:noFill/>
          <a:ln/>
        </p:spPr>
        <p:txBody>
          <a:bodyPr wrap="square" rtlCol="0" anchor="ctr"/>
          <a:lstStyle/>
          <a:p>
            <a:pPr marL="0" indent="0" algn="r">
              <a:buNone/>
            </a:pPr>
            <a:r>
              <a:rPr lang="en-US" sz="1100" dirty="0">
                <a:solidFill>
                  <a:srgbClr val="FF9900"/>
                </a:solidFill>
                <a:latin typeface="Calibri" pitchFamily="34" charset="0"/>
                <a:ea typeface="Calibri" pitchFamily="34" charset="-122"/>
                <a:cs typeface="Calibri" pitchFamily="34" charset="-120"/>
              </a:rPr>
              <a:t>2025</a:t>
            </a:r>
            <a:endParaRPr lang="en-US" sz="1100" dirty="0"/>
          </a:p>
        </p:txBody>
      </p:sp>
      <p:sp>
        <p:nvSpPr>
          <p:cNvPr id="38" name="TextBox 37">
            <a:extLst>
              <a:ext uri="{FF2B5EF4-FFF2-40B4-BE49-F238E27FC236}">
                <a16:creationId xmlns:a16="http://schemas.microsoft.com/office/drawing/2014/main" id="{C1718974-0D93-C5B3-4C19-ECA9A5DF46F8}"/>
              </a:ext>
            </a:extLst>
          </p:cNvPr>
          <p:cNvSpPr txBox="1"/>
          <p:nvPr/>
        </p:nvSpPr>
        <p:spPr>
          <a:xfrm>
            <a:off x="640080" y="3706106"/>
            <a:ext cx="4808220" cy="369332"/>
          </a:xfrm>
          <a:prstGeom prst="rect">
            <a:avLst/>
          </a:prstGeom>
          <a:noFill/>
        </p:spPr>
        <p:txBody>
          <a:bodyPr wrap="square">
            <a:spAutoFit/>
          </a:bodyPr>
          <a:lstStyle/>
          <a:p>
            <a:pPr marL="0" indent="0">
              <a:buNone/>
            </a:pPr>
            <a:r>
              <a:rPr lang="en-US" sz="1800" dirty="0">
                <a:solidFill>
                  <a:schemeClr val="bg1"/>
                </a:solidFill>
              </a:rPr>
              <a:t>Rishiraj Gupta (A018) | Nidhi Tiwari (A033)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9900"/>
          </a:solidFill>
          <a:ln w="12700">
            <a:solidFill>
              <a:srgbClr val="FF9900"/>
            </a:solidFill>
            <a:prstDash val="solid"/>
          </a:ln>
        </p:spPr>
        <p:txBody>
          <a:bodyPr/>
          <a:lstStyle/>
          <a:p>
            <a:endParaRPr lang="en-US"/>
          </a:p>
        </p:txBody>
      </p:sp>
      <p:sp>
        <p:nvSpPr>
          <p:cNvPr id="3" name="Text 1"/>
          <p:cNvSpPr/>
          <p:nvPr/>
        </p:nvSpPr>
        <p:spPr>
          <a:xfrm>
            <a:off x="457200" y="228600"/>
            <a:ext cx="8229600" cy="457200"/>
          </a:xfrm>
          <a:prstGeom prst="rect">
            <a:avLst/>
          </a:prstGeom>
          <a:noFill/>
          <a:ln/>
        </p:spPr>
        <p:txBody>
          <a:bodyPr wrap="square" rtlCol="0" anchor="ctr"/>
          <a:lstStyle/>
          <a:p>
            <a:pPr marL="0" indent="0">
              <a:buNone/>
            </a:pPr>
            <a:r>
              <a:rPr lang="en-US" sz="1100" b="1" kern="0" spc="400" dirty="0">
                <a:solidFill>
                  <a:srgbClr val="FF9900"/>
                </a:solidFill>
                <a:latin typeface="Calibri" pitchFamily="34" charset="0"/>
                <a:ea typeface="Calibri" pitchFamily="34" charset="-122"/>
                <a:cs typeface="Calibri" pitchFamily="34" charset="-120"/>
              </a:rPr>
              <a:t>AGENDA</a:t>
            </a:r>
            <a:endParaRPr lang="en-US" sz="1100" dirty="0"/>
          </a:p>
        </p:txBody>
      </p:sp>
      <p:sp>
        <p:nvSpPr>
          <p:cNvPr id="4" name="Text 2"/>
          <p:cNvSpPr/>
          <p:nvPr/>
        </p:nvSpPr>
        <p:spPr>
          <a:xfrm>
            <a:off x="457200" y="594360"/>
            <a:ext cx="82296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What We'll Cover Today</a:t>
            </a:r>
            <a:endParaRPr lang="en-US" sz="3200" dirty="0"/>
          </a:p>
        </p:txBody>
      </p:sp>
      <p:sp>
        <p:nvSpPr>
          <p:cNvPr id="5" name="Shape 3"/>
          <p:cNvSpPr/>
          <p:nvPr/>
        </p:nvSpPr>
        <p:spPr>
          <a:xfrm>
            <a:off x="457200" y="1417320"/>
            <a:ext cx="4114800" cy="960120"/>
          </a:xfrm>
          <a:prstGeom prst="rect">
            <a:avLst/>
          </a:prstGeom>
          <a:solidFill>
            <a:srgbClr val="1E3045"/>
          </a:solidFill>
          <a:ln w="12700">
            <a:solidFill>
              <a:srgbClr val="1E3045"/>
            </a:solidFill>
            <a:prstDash val="solid"/>
          </a:ln>
        </p:spPr>
        <p:txBody>
          <a:bodyPr/>
          <a:lstStyle/>
          <a:p>
            <a:endParaRPr lang="en-US"/>
          </a:p>
        </p:txBody>
      </p:sp>
      <p:sp>
        <p:nvSpPr>
          <p:cNvPr id="6" name="Shape 4"/>
          <p:cNvSpPr/>
          <p:nvPr/>
        </p:nvSpPr>
        <p:spPr>
          <a:xfrm>
            <a:off x="457200" y="1417320"/>
            <a:ext cx="64008" cy="960120"/>
          </a:xfrm>
          <a:prstGeom prst="rect">
            <a:avLst/>
          </a:prstGeom>
          <a:solidFill>
            <a:srgbClr val="FF9900"/>
          </a:solidFill>
          <a:ln w="12700">
            <a:solidFill>
              <a:srgbClr val="FF9900"/>
            </a:solidFill>
            <a:prstDash val="solid"/>
          </a:ln>
        </p:spPr>
        <p:txBody>
          <a:bodyPr/>
          <a:lstStyle/>
          <a:p>
            <a:endParaRPr lang="en-US"/>
          </a:p>
        </p:txBody>
      </p:sp>
      <p:sp>
        <p:nvSpPr>
          <p:cNvPr id="7" name="Text 5"/>
          <p:cNvSpPr/>
          <p:nvPr/>
        </p:nvSpPr>
        <p:spPr>
          <a:xfrm>
            <a:off x="621792" y="1463040"/>
            <a:ext cx="548640" cy="411480"/>
          </a:xfrm>
          <a:prstGeom prst="rect">
            <a:avLst/>
          </a:prstGeom>
          <a:noFill/>
          <a:ln/>
        </p:spPr>
        <p:txBody>
          <a:bodyPr wrap="square" lIns="0" tIns="0" rIns="0" bIns="0" rtlCol="0" anchor="ctr"/>
          <a:lstStyle/>
          <a:p>
            <a:pPr marL="0" indent="0">
              <a:buNone/>
            </a:pPr>
            <a:r>
              <a:rPr lang="en-US" sz="2200" b="1" dirty="0">
                <a:solidFill>
                  <a:srgbClr val="FF9900"/>
                </a:solidFill>
                <a:latin typeface="Calibri" pitchFamily="34" charset="0"/>
                <a:ea typeface="Calibri" pitchFamily="34" charset="-122"/>
                <a:cs typeface="Calibri" pitchFamily="34" charset="-120"/>
              </a:rPr>
              <a:t>01</a:t>
            </a:r>
            <a:endParaRPr lang="en-US" sz="2200" dirty="0"/>
          </a:p>
        </p:txBody>
      </p:sp>
      <p:sp>
        <p:nvSpPr>
          <p:cNvPr id="8" name="Text 6"/>
          <p:cNvSpPr/>
          <p:nvPr/>
        </p:nvSpPr>
        <p:spPr>
          <a:xfrm>
            <a:off x="621792" y="1801368"/>
            <a:ext cx="37490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Introduction to AWS Bedrock</a:t>
            </a:r>
            <a:endParaRPr lang="en-US" sz="1300" dirty="0"/>
          </a:p>
        </p:txBody>
      </p:sp>
      <p:sp>
        <p:nvSpPr>
          <p:cNvPr id="9" name="Text 7"/>
          <p:cNvSpPr/>
          <p:nvPr/>
        </p:nvSpPr>
        <p:spPr>
          <a:xfrm>
            <a:off x="621792" y="2075688"/>
            <a:ext cx="3749040" cy="256032"/>
          </a:xfrm>
          <a:prstGeom prst="rect">
            <a:avLst/>
          </a:prstGeom>
          <a:noFill/>
          <a:ln/>
        </p:spPr>
        <p:txBody>
          <a:bodyPr wrap="square" lIns="0" tIns="0" rIns="0" bIns="0" rtlCol="0" anchor="ctr"/>
          <a:lstStyle/>
          <a:p>
            <a:pPr marL="0" indent="0">
              <a:buNone/>
            </a:pPr>
            <a:r>
              <a:rPr lang="en-US" sz="1000" dirty="0">
                <a:solidFill>
                  <a:srgbClr val="8FA3B8"/>
                </a:solidFill>
                <a:latin typeface="Calibri" pitchFamily="34" charset="0"/>
                <a:ea typeface="Calibri" pitchFamily="34" charset="-122"/>
                <a:cs typeface="Calibri" pitchFamily="34" charset="-120"/>
              </a:rPr>
              <a:t>What it is and why it matters</a:t>
            </a:r>
            <a:endParaRPr lang="en-US" sz="1000" dirty="0"/>
          </a:p>
        </p:txBody>
      </p:sp>
      <p:sp>
        <p:nvSpPr>
          <p:cNvPr id="10" name="Shape 8"/>
          <p:cNvSpPr/>
          <p:nvPr/>
        </p:nvSpPr>
        <p:spPr>
          <a:xfrm>
            <a:off x="4846320" y="1417320"/>
            <a:ext cx="4114800" cy="960120"/>
          </a:xfrm>
          <a:prstGeom prst="rect">
            <a:avLst/>
          </a:prstGeom>
          <a:solidFill>
            <a:srgbClr val="1E3045"/>
          </a:solidFill>
          <a:ln w="12700">
            <a:solidFill>
              <a:srgbClr val="1E3045"/>
            </a:solidFill>
            <a:prstDash val="solid"/>
          </a:ln>
        </p:spPr>
        <p:txBody>
          <a:bodyPr/>
          <a:lstStyle/>
          <a:p>
            <a:endParaRPr lang="en-US"/>
          </a:p>
        </p:txBody>
      </p:sp>
      <p:sp>
        <p:nvSpPr>
          <p:cNvPr id="11" name="Shape 9"/>
          <p:cNvSpPr/>
          <p:nvPr/>
        </p:nvSpPr>
        <p:spPr>
          <a:xfrm>
            <a:off x="4846320" y="1417320"/>
            <a:ext cx="64008" cy="960120"/>
          </a:xfrm>
          <a:prstGeom prst="rect">
            <a:avLst/>
          </a:prstGeom>
          <a:solidFill>
            <a:srgbClr val="FF9900"/>
          </a:solidFill>
          <a:ln w="12700">
            <a:solidFill>
              <a:srgbClr val="FF9900"/>
            </a:solidFill>
            <a:prstDash val="solid"/>
          </a:ln>
        </p:spPr>
        <p:txBody>
          <a:bodyPr/>
          <a:lstStyle/>
          <a:p>
            <a:endParaRPr lang="en-US"/>
          </a:p>
        </p:txBody>
      </p:sp>
      <p:sp>
        <p:nvSpPr>
          <p:cNvPr id="12" name="Text 10"/>
          <p:cNvSpPr/>
          <p:nvPr/>
        </p:nvSpPr>
        <p:spPr>
          <a:xfrm>
            <a:off x="5010912" y="1463040"/>
            <a:ext cx="548640" cy="411480"/>
          </a:xfrm>
          <a:prstGeom prst="rect">
            <a:avLst/>
          </a:prstGeom>
          <a:noFill/>
          <a:ln/>
        </p:spPr>
        <p:txBody>
          <a:bodyPr wrap="square" lIns="0" tIns="0" rIns="0" bIns="0" rtlCol="0" anchor="ctr"/>
          <a:lstStyle/>
          <a:p>
            <a:pPr marL="0" indent="0">
              <a:buNone/>
            </a:pPr>
            <a:r>
              <a:rPr lang="en-US" sz="2200" b="1" dirty="0">
                <a:solidFill>
                  <a:srgbClr val="FF9900"/>
                </a:solidFill>
                <a:latin typeface="Calibri" pitchFamily="34" charset="0"/>
                <a:ea typeface="Calibri" pitchFamily="34" charset="-122"/>
                <a:cs typeface="Calibri" pitchFamily="34" charset="-120"/>
              </a:rPr>
              <a:t>02</a:t>
            </a:r>
            <a:endParaRPr lang="en-US" sz="2200" dirty="0"/>
          </a:p>
        </p:txBody>
      </p:sp>
      <p:sp>
        <p:nvSpPr>
          <p:cNvPr id="13" name="Text 11"/>
          <p:cNvSpPr/>
          <p:nvPr/>
        </p:nvSpPr>
        <p:spPr>
          <a:xfrm>
            <a:off x="5010912" y="1801368"/>
            <a:ext cx="37490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Core Concepts &amp; Architecture</a:t>
            </a:r>
            <a:endParaRPr lang="en-US" sz="1300" dirty="0"/>
          </a:p>
        </p:txBody>
      </p:sp>
      <p:sp>
        <p:nvSpPr>
          <p:cNvPr id="14" name="Text 12"/>
          <p:cNvSpPr/>
          <p:nvPr/>
        </p:nvSpPr>
        <p:spPr>
          <a:xfrm>
            <a:off x="5010912" y="2075688"/>
            <a:ext cx="3749040" cy="256032"/>
          </a:xfrm>
          <a:prstGeom prst="rect">
            <a:avLst/>
          </a:prstGeom>
          <a:noFill/>
          <a:ln/>
        </p:spPr>
        <p:txBody>
          <a:bodyPr wrap="square" lIns="0" tIns="0" rIns="0" bIns="0" rtlCol="0" anchor="ctr"/>
          <a:lstStyle/>
          <a:p>
            <a:pPr marL="0" indent="0">
              <a:buNone/>
            </a:pPr>
            <a:r>
              <a:rPr lang="en-US" sz="1000" dirty="0">
                <a:solidFill>
                  <a:srgbClr val="8FA3B8"/>
                </a:solidFill>
                <a:latin typeface="Calibri" pitchFamily="34" charset="0"/>
                <a:ea typeface="Calibri" pitchFamily="34" charset="-122"/>
                <a:cs typeface="Calibri" pitchFamily="34" charset="-120"/>
              </a:rPr>
              <a:t>FMs, APIs, serverless design</a:t>
            </a:r>
            <a:endParaRPr lang="en-US" sz="1000" dirty="0"/>
          </a:p>
        </p:txBody>
      </p:sp>
      <p:sp>
        <p:nvSpPr>
          <p:cNvPr id="15" name="Shape 13"/>
          <p:cNvSpPr/>
          <p:nvPr/>
        </p:nvSpPr>
        <p:spPr>
          <a:xfrm>
            <a:off x="457200" y="2532888"/>
            <a:ext cx="4114800" cy="960120"/>
          </a:xfrm>
          <a:prstGeom prst="rect">
            <a:avLst/>
          </a:prstGeom>
          <a:solidFill>
            <a:srgbClr val="1E3045"/>
          </a:solidFill>
          <a:ln w="12700">
            <a:solidFill>
              <a:srgbClr val="1E3045"/>
            </a:solidFill>
            <a:prstDash val="solid"/>
          </a:ln>
        </p:spPr>
        <p:txBody>
          <a:bodyPr/>
          <a:lstStyle/>
          <a:p>
            <a:endParaRPr lang="en-US"/>
          </a:p>
        </p:txBody>
      </p:sp>
      <p:sp>
        <p:nvSpPr>
          <p:cNvPr id="16" name="Shape 14"/>
          <p:cNvSpPr/>
          <p:nvPr/>
        </p:nvSpPr>
        <p:spPr>
          <a:xfrm>
            <a:off x="457200" y="2532888"/>
            <a:ext cx="64008" cy="960120"/>
          </a:xfrm>
          <a:prstGeom prst="rect">
            <a:avLst/>
          </a:prstGeom>
          <a:solidFill>
            <a:srgbClr val="FF9900"/>
          </a:solidFill>
          <a:ln w="12700">
            <a:solidFill>
              <a:srgbClr val="FF9900"/>
            </a:solidFill>
            <a:prstDash val="solid"/>
          </a:ln>
        </p:spPr>
        <p:txBody>
          <a:bodyPr/>
          <a:lstStyle/>
          <a:p>
            <a:endParaRPr lang="en-US"/>
          </a:p>
        </p:txBody>
      </p:sp>
      <p:sp>
        <p:nvSpPr>
          <p:cNvPr id="17" name="Text 15"/>
          <p:cNvSpPr/>
          <p:nvPr/>
        </p:nvSpPr>
        <p:spPr>
          <a:xfrm>
            <a:off x="621792" y="2578608"/>
            <a:ext cx="548640" cy="411480"/>
          </a:xfrm>
          <a:prstGeom prst="rect">
            <a:avLst/>
          </a:prstGeom>
          <a:noFill/>
          <a:ln/>
        </p:spPr>
        <p:txBody>
          <a:bodyPr wrap="square" lIns="0" tIns="0" rIns="0" bIns="0" rtlCol="0" anchor="ctr"/>
          <a:lstStyle/>
          <a:p>
            <a:pPr marL="0" indent="0">
              <a:buNone/>
            </a:pPr>
            <a:r>
              <a:rPr lang="en-US" sz="2200" b="1" dirty="0">
                <a:solidFill>
                  <a:srgbClr val="FF9900"/>
                </a:solidFill>
                <a:latin typeface="Calibri" pitchFamily="34" charset="0"/>
                <a:ea typeface="Calibri" pitchFamily="34" charset="-122"/>
                <a:cs typeface="Calibri" pitchFamily="34" charset="-120"/>
              </a:rPr>
              <a:t>03</a:t>
            </a:r>
            <a:endParaRPr lang="en-US" sz="2200" dirty="0"/>
          </a:p>
        </p:txBody>
      </p:sp>
      <p:sp>
        <p:nvSpPr>
          <p:cNvPr id="18" name="Text 16"/>
          <p:cNvSpPr/>
          <p:nvPr/>
        </p:nvSpPr>
        <p:spPr>
          <a:xfrm>
            <a:off x="621792" y="2916936"/>
            <a:ext cx="37490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Foundation Models Ecosystem</a:t>
            </a:r>
            <a:endParaRPr lang="en-US" sz="1300" dirty="0"/>
          </a:p>
        </p:txBody>
      </p:sp>
      <p:sp>
        <p:nvSpPr>
          <p:cNvPr id="19" name="Text 17"/>
          <p:cNvSpPr/>
          <p:nvPr/>
        </p:nvSpPr>
        <p:spPr>
          <a:xfrm>
            <a:off x="621792" y="3191256"/>
            <a:ext cx="3749040" cy="256032"/>
          </a:xfrm>
          <a:prstGeom prst="rect">
            <a:avLst/>
          </a:prstGeom>
          <a:noFill/>
          <a:ln/>
        </p:spPr>
        <p:txBody>
          <a:bodyPr wrap="square" lIns="0" tIns="0" rIns="0" bIns="0" rtlCol="0" anchor="ctr"/>
          <a:lstStyle/>
          <a:p>
            <a:pPr marL="0" indent="0">
              <a:buNone/>
            </a:pPr>
            <a:r>
              <a:rPr lang="en-US" sz="1000" dirty="0">
                <a:solidFill>
                  <a:srgbClr val="8FA3B8"/>
                </a:solidFill>
                <a:latin typeface="Calibri" pitchFamily="34" charset="0"/>
                <a:ea typeface="Calibri" pitchFamily="34" charset="-122"/>
                <a:cs typeface="Calibri" pitchFamily="34" charset="-120"/>
              </a:rPr>
              <a:t>Claude, Llama, Titan, Cohere &amp; more</a:t>
            </a:r>
            <a:endParaRPr lang="en-US" sz="1000" dirty="0"/>
          </a:p>
        </p:txBody>
      </p:sp>
      <p:sp>
        <p:nvSpPr>
          <p:cNvPr id="20" name="Shape 18"/>
          <p:cNvSpPr/>
          <p:nvPr/>
        </p:nvSpPr>
        <p:spPr>
          <a:xfrm>
            <a:off x="4846320" y="2532888"/>
            <a:ext cx="4114800" cy="960120"/>
          </a:xfrm>
          <a:prstGeom prst="rect">
            <a:avLst/>
          </a:prstGeom>
          <a:solidFill>
            <a:srgbClr val="1E3045"/>
          </a:solidFill>
          <a:ln w="12700">
            <a:solidFill>
              <a:srgbClr val="1E3045"/>
            </a:solidFill>
            <a:prstDash val="solid"/>
          </a:ln>
        </p:spPr>
        <p:txBody>
          <a:bodyPr/>
          <a:lstStyle/>
          <a:p>
            <a:endParaRPr lang="en-US"/>
          </a:p>
        </p:txBody>
      </p:sp>
      <p:sp>
        <p:nvSpPr>
          <p:cNvPr id="21" name="Shape 19"/>
          <p:cNvSpPr/>
          <p:nvPr/>
        </p:nvSpPr>
        <p:spPr>
          <a:xfrm>
            <a:off x="4846320" y="2532888"/>
            <a:ext cx="64008" cy="960120"/>
          </a:xfrm>
          <a:prstGeom prst="rect">
            <a:avLst/>
          </a:prstGeom>
          <a:solidFill>
            <a:srgbClr val="FF9900"/>
          </a:solidFill>
          <a:ln w="12700">
            <a:solidFill>
              <a:srgbClr val="FF9900"/>
            </a:solidFill>
            <a:prstDash val="solid"/>
          </a:ln>
        </p:spPr>
        <p:txBody>
          <a:bodyPr/>
          <a:lstStyle/>
          <a:p>
            <a:endParaRPr lang="en-US"/>
          </a:p>
        </p:txBody>
      </p:sp>
      <p:sp>
        <p:nvSpPr>
          <p:cNvPr id="22" name="Text 20"/>
          <p:cNvSpPr/>
          <p:nvPr/>
        </p:nvSpPr>
        <p:spPr>
          <a:xfrm>
            <a:off x="5010912" y="2578608"/>
            <a:ext cx="548640" cy="411480"/>
          </a:xfrm>
          <a:prstGeom prst="rect">
            <a:avLst/>
          </a:prstGeom>
          <a:noFill/>
          <a:ln/>
        </p:spPr>
        <p:txBody>
          <a:bodyPr wrap="square" lIns="0" tIns="0" rIns="0" bIns="0" rtlCol="0" anchor="ctr"/>
          <a:lstStyle/>
          <a:p>
            <a:pPr marL="0" indent="0">
              <a:buNone/>
            </a:pPr>
            <a:r>
              <a:rPr lang="en-US" sz="2200" b="1" dirty="0">
                <a:solidFill>
                  <a:srgbClr val="FF9900"/>
                </a:solidFill>
                <a:latin typeface="Calibri" pitchFamily="34" charset="0"/>
                <a:ea typeface="Calibri" pitchFamily="34" charset="-122"/>
                <a:cs typeface="Calibri" pitchFamily="34" charset="-120"/>
              </a:rPr>
              <a:t>04</a:t>
            </a:r>
            <a:endParaRPr lang="en-US" sz="2200" dirty="0"/>
          </a:p>
        </p:txBody>
      </p:sp>
      <p:sp>
        <p:nvSpPr>
          <p:cNvPr id="23" name="Text 21"/>
          <p:cNvSpPr/>
          <p:nvPr/>
        </p:nvSpPr>
        <p:spPr>
          <a:xfrm>
            <a:off x="5010912" y="2916936"/>
            <a:ext cx="37490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Bedrock + Amazon Lex Integration</a:t>
            </a:r>
            <a:endParaRPr lang="en-US" sz="1300" dirty="0"/>
          </a:p>
        </p:txBody>
      </p:sp>
      <p:sp>
        <p:nvSpPr>
          <p:cNvPr id="24" name="Text 22"/>
          <p:cNvSpPr/>
          <p:nvPr/>
        </p:nvSpPr>
        <p:spPr>
          <a:xfrm>
            <a:off x="5010912" y="3191256"/>
            <a:ext cx="3749040" cy="256032"/>
          </a:xfrm>
          <a:prstGeom prst="rect">
            <a:avLst/>
          </a:prstGeom>
          <a:noFill/>
          <a:ln/>
        </p:spPr>
        <p:txBody>
          <a:bodyPr wrap="square" lIns="0" tIns="0" rIns="0" bIns="0" rtlCol="0" anchor="ctr"/>
          <a:lstStyle/>
          <a:p>
            <a:pPr marL="0" indent="0">
              <a:buNone/>
            </a:pPr>
            <a:r>
              <a:rPr lang="en-US" sz="1000" dirty="0">
                <a:solidFill>
                  <a:srgbClr val="8FA3B8"/>
                </a:solidFill>
                <a:latin typeface="Calibri" pitchFamily="34" charset="0"/>
                <a:ea typeface="Calibri" pitchFamily="34" charset="-122"/>
                <a:cs typeface="Calibri" pitchFamily="34" charset="-120"/>
              </a:rPr>
              <a:t>Hybrid conversational AI</a:t>
            </a:r>
            <a:endParaRPr lang="en-US" sz="1000" dirty="0"/>
          </a:p>
        </p:txBody>
      </p:sp>
      <p:sp>
        <p:nvSpPr>
          <p:cNvPr id="25" name="Shape 23"/>
          <p:cNvSpPr/>
          <p:nvPr/>
        </p:nvSpPr>
        <p:spPr>
          <a:xfrm>
            <a:off x="457200" y="3648456"/>
            <a:ext cx="4114800" cy="960120"/>
          </a:xfrm>
          <a:prstGeom prst="rect">
            <a:avLst/>
          </a:prstGeom>
          <a:solidFill>
            <a:srgbClr val="1E3045"/>
          </a:solidFill>
          <a:ln w="12700">
            <a:solidFill>
              <a:srgbClr val="1E3045"/>
            </a:solidFill>
            <a:prstDash val="solid"/>
          </a:ln>
        </p:spPr>
        <p:txBody>
          <a:bodyPr/>
          <a:lstStyle/>
          <a:p>
            <a:endParaRPr lang="en-US"/>
          </a:p>
        </p:txBody>
      </p:sp>
      <p:sp>
        <p:nvSpPr>
          <p:cNvPr id="26" name="Shape 24"/>
          <p:cNvSpPr/>
          <p:nvPr/>
        </p:nvSpPr>
        <p:spPr>
          <a:xfrm>
            <a:off x="457200" y="3648456"/>
            <a:ext cx="64008" cy="960120"/>
          </a:xfrm>
          <a:prstGeom prst="rect">
            <a:avLst/>
          </a:prstGeom>
          <a:solidFill>
            <a:srgbClr val="FF9900"/>
          </a:solidFill>
          <a:ln w="12700">
            <a:solidFill>
              <a:srgbClr val="FF9900"/>
            </a:solidFill>
            <a:prstDash val="solid"/>
          </a:ln>
        </p:spPr>
        <p:txBody>
          <a:bodyPr/>
          <a:lstStyle/>
          <a:p>
            <a:endParaRPr lang="en-US"/>
          </a:p>
        </p:txBody>
      </p:sp>
      <p:sp>
        <p:nvSpPr>
          <p:cNvPr id="27" name="Text 25"/>
          <p:cNvSpPr/>
          <p:nvPr/>
        </p:nvSpPr>
        <p:spPr>
          <a:xfrm>
            <a:off x="621792" y="3694176"/>
            <a:ext cx="548640" cy="411480"/>
          </a:xfrm>
          <a:prstGeom prst="rect">
            <a:avLst/>
          </a:prstGeom>
          <a:noFill/>
          <a:ln/>
        </p:spPr>
        <p:txBody>
          <a:bodyPr wrap="square" lIns="0" tIns="0" rIns="0" bIns="0" rtlCol="0" anchor="ctr"/>
          <a:lstStyle/>
          <a:p>
            <a:pPr marL="0" indent="0">
              <a:buNone/>
            </a:pPr>
            <a:r>
              <a:rPr lang="en-US" sz="2200" b="1" dirty="0">
                <a:solidFill>
                  <a:srgbClr val="FF9900"/>
                </a:solidFill>
                <a:latin typeface="Calibri" pitchFamily="34" charset="0"/>
                <a:ea typeface="Calibri" pitchFamily="34" charset="-122"/>
                <a:cs typeface="Calibri" pitchFamily="34" charset="-120"/>
              </a:rPr>
              <a:t>05</a:t>
            </a:r>
            <a:endParaRPr lang="en-US" sz="2200" dirty="0"/>
          </a:p>
        </p:txBody>
      </p:sp>
      <p:sp>
        <p:nvSpPr>
          <p:cNvPr id="28" name="Text 26"/>
          <p:cNvSpPr/>
          <p:nvPr/>
        </p:nvSpPr>
        <p:spPr>
          <a:xfrm>
            <a:off x="621792" y="4032504"/>
            <a:ext cx="37490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Security, Benefits &amp; Challenges</a:t>
            </a:r>
            <a:endParaRPr lang="en-US" sz="1300" dirty="0"/>
          </a:p>
        </p:txBody>
      </p:sp>
      <p:sp>
        <p:nvSpPr>
          <p:cNvPr id="29" name="Text 27"/>
          <p:cNvSpPr/>
          <p:nvPr/>
        </p:nvSpPr>
        <p:spPr>
          <a:xfrm>
            <a:off x="621792" y="4306824"/>
            <a:ext cx="3749040" cy="256032"/>
          </a:xfrm>
          <a:prstGeom prst="rect">
            <a:avLst/>
          </a:prstGeom>
          <a:noFill/>
          <a:ln/>
        </p:spPr>
        <p:txBody>
          <a:bodyPr wrap="square" lIns="0" tIns="0" rIns="0" bIns="0" rtlCol="0" anchor="ctr"/>
          <a:lstStyle/>
          <a:p>
            <a:pPr marL="0" indent="0">
              <a:buNone/>
            </a:pPr>
            <a:r>
              <a:rPr lang="en-US" sz="1000" dirty="0">
                <a:solidFill>
                  <a:srgbClr val="8FA3B8"/>
                </a:solidFill>
                <a:latin typeface="Calibri" pitchFamily="34" charset="0"/>
                <a:ea typeface="Calibri" pitchFamily="34" charset="-122"/>
                <a:cs typeface="Calibri" pitchFamily="34" charset="-120"/>
              </a:rPr>
              <a:t>IAM, VPC, cost management</a:t>
            </a:r>
            <a:endParaRPr lang="en-US" sz="1000" dirty="0"/>
          </a:p>
        </p:txBody>
      </p:sp>
      <p:sp>
        <p:nvSpPr>
          <p:cNvPr id="30" name="Shape 28"/>
          <p:cNvSpPr/>
          <p:nvPr/>
        </p:nvSpPr>
        <p:spPr>
          <a:xfrm>
            <a:off x="4846320" y="3648456"/>
            <a:ext cx="4114800" cy="960120"/>
          </a:xfrm>
          <a:prstGeom prst="rect">
            <a:avLst/>
          </a:prstGeom>
          <a:solidFill>
            <a:srgbClr val="1E3045"/>
          </a:solidFill>
          <a:ln w="12700">
            <a:solidFill>
              <a:srgbClr val="1E3045"/>
            </a:solidFill>
            <a:prstDash val="solid"/>
          </a:ln>
        </p:spPr>
        <p:txBody>
          <a:bodyPr/>
          <a:lstStyle/>
          <a:p>
            <a:endParaRPr lang="en-US"/>
          </a:p>
        </p:txBody>
      </p:sp>
      <p:sp>
        <p:nvSpPr>
          <p:cNvPr id="31" name="Shape 29"/>
          <p:cNvSpPr/>
          <p:nvPr/>
        </p:nvSpPr>
        <p:spPr>
          <a:xfrm>
            <a:off x="4846320" y="3648456"/>
            <a:ext cx="64008" cy="960120"/>
          </a:xfrm>
          <a:prstGeom prst="rect">
            <a:avLst/>
          </a:prstGeom>
          <a:solidFill>
            <a:srgbClr val="FF9900"/>
          </a:solidFill>
          <a:ln w="12700">
            <a:solidFill>
              <a:srgbClr val="FF9900"/>
            </a:solidFill>
            <a:prstDash val="solid"/>
          </a:ln>
        </p:spPr>
        <p:txBody>
          <a:bodyPr/>
          <a:lstStyle/>
          <a:p>
            <a:endParaRPr lang="en-US"/>
          </a:p>
        </p:txBody>
      </p:sp>
      <p:sp>
        <p:nvSpPr>
          <p:cNvPr id="32" name="Text 30"/>
          <p:cNvSpPr/>
          <p:nvPr/>
        </p:nvSpPr>
        <p:spPr>
          <a:xfrm>
            <a:off x="5010912" y="3694176"/>
            <a:ext cx="548640" cy="411480"/>
          </a:xfrm>
          <a:prstGeom prst="rect">
            <a:avLst/>
          </a:prstGeom>
          <a:noFill/>
          <a:ln/>
        </p:spPr>
        <p:txBody>
          <a:bodyPr wrap="square" lIns="0" tIns="0" rIns="0" bIns="0" rtlCol="0" anchor="ctr"/>
          <a:lstStyle/>
          <a:p>
            <a:pPr marL="0" indent="0">
              <a:buNone/>
            </a:pPr>
            <a:r>
              <a:rPr lang="en-US" sz="2200" b="1" dirty="0">
                <a:solidFill>
                  <a:srgbClr val="FF9900"/>
                </a:solidFill>
                <a:latin typeface="Calibri" pitchFamily="34" charset="0"/>
                <a:ea typeface="Calibri" pitchFamily="34" charset="-122"/>
                <a:cs typeface="Calibri" pitchFamily="34" charset="-120"/>
              </a:rPr>
              <a:t>06</a:t>
            </a:r>
            <a:endParaRPr lang="en-US" sz="2200" dirty="0"/>
          </a:p>
        </p:txBody>
      </p:sp>
      <p:sp>
        <p:nvSpPr>
          <p:cNvPr id="33" name="Text 31"/>
          <p:cNvSpPr/>
          <p:nvPr/>
        </p:nvSpPr>
        <p:spPr>
          <a:xfrm>
            <a:off x="5010912" y="4032504"/>
            <a:ext cx="37490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Research Paper Overview</a:t>
            </a:r>
            <a:endParaRPr lang="en-US" sz="1300" dirty="0"/>
          </a:p>
        </p:txBody>
      </p:sp>
      <p:sp>
        <p:nvSpPr>
          <p:cNvPr id="34" name="Text 32"/>
          <p:cNvSpPr/>
          <p:nvPr/>
        </p:nvSpPr>
        <p:spPr>
          <a:xfrm>
            <a:off x="5010912" y="4306824"/>
            <a:ext cx="3749040" cy="256032"/>
          </a:xfrm>
          <a:prstGeom prst="rect">
            <a:avLst/>
          </a:prstGeom>
          <a:noFill/>
          <a:ln/>
        </p:spPr>
        <p:txBody>
          <a:bodyPr wrap="square" lIns="0" tIns="0" rIns="0" bIns="0" rtlCol="0" anchor="ctr"/>
          <a:lstStyle/>
          <a:p>
            <a:pPr marL="0" indent="0">
              <a:buNone/>
            </a:pPr>
            <a:r>
              <a:rPr lang="en-US" sz="1000" dirty="0">
                <a:solidFill>
                  <a:srgbClr val="8FA3B8"/>
                </a:solidFill>
                <a:latin typeface="Calibri" pitchFamily="34" charset="0"/>
                <a:ea typeface="Calibri" pitchFamily="34" charset="-122"/>
                <a:cs typeface="Calibri" pitchFamily="34" charset="-120"/>
              </a:rPr>
              <a:t>AWS Bedrock for GenAI — Yerram 2025</a:t>
            </a:r>
            <a:endParaRPr lang="en-US" sz="1000" dirty="0"/>
          </a:p>
        </p:txBody>
      </p:sp>
      <p:sp>
        <p:nvSpPr>
          <p:cNvPr id="35" name="Shape 33"/>
          <p:cNvSpPr/>
          <p:nvPr/>
        </p:nvSpPr>
        <p:spPr>
          <a:xfrm>
            <a:off x="0" y="4686300"/>
            <a:ext cx="9144000" cy="457200"/>
          </a:xfrm>
          <a:prstGeom prst="rect">
            <a:avLst/>
          </a:prstGeom>
          <a:solidFill>
            <a:srgbClr val="162232"/>
          </a:solidFill>
          <a:ln w="12700">
            <a:solidFill>
              <a:srgbClr val="162232"/>
            </a:solidFill>
            <a:prstDash val="solid"/>
          </a:ln>
        </p:spPr>
        <p:txBody>
          <a:bodyPr/>
          <a:lstStyle/>
          <a:p>
            <a:endParaRPr lang="en-US"/>
          </a:p>
        </p:txBody>
      </p:sp>
      <p:sp>
        <p:nvSpPr>
          <p:cNvPr id="36" name="Text 34"/>
          <p:cNvSpPr/>
          <p:nvPr/>
        </p:nvSpPr>
        <p:spPr>
          <a:xfrm>
            <a:off x="457200" y="4686300"/>
            <a:ext cx="7315200" cy="457200"/>
          </a:xfrm>
          <a:prstGeom prst="rect">
            <a:avLst/>
          </a:prstGeom>
          <a:noFill/>
          <a:ln/>
        </p:spPr>
        <p:txBody>
          <a:bodyPr wrap="square" rtlCol="0" anchor="ctr"/>
          <a:lstStyle/>
          <a:p>
            <a:pPr marL="0" indent="0">
              <a:buNone/>
            </a:pPr>
            <a:r>
              <a:rPr lang="en-US" sz="1000" dirty="0">
                <a:solidFill>
                  <a:srgbClr val="8FA3B8"/>
                </a:solidFill>
                <a:latin typeface="Calibri" pitchFamily="34" charset="0"/>
                <a:ea typeface="Calibri" pitchFamily="34" charset="-122"/>
                <a:cs typeface="Calibri" pitchFamily="34" charset="-120"/>
              </a:rPr>
              <a:t>Amazon Bedrock | Cloud Computing Presentation</a:t>
            </a:r>
            <a:endParaRPr lang="en-US" sz="1000" dirty="0"/>
          </a:p>
        </p:txBody>
      </p:sp>
      <p:sp>
        <p:nvSpPr>
          <p:cNvPr id="37" name="Text 35"/>
          <p:cNvSpPr/>
          <p:nvPr/>
        </p:nvSpPr>
        <p:spPr>
          <a:xfrm>
            <a:off x="8046720" y="4686300"/>
            <a:ext cx="914400" cy="457200"/>
          </a:xfrm>
          <a:prstGeom prst="rect">
            <a:avLst/>
          </a:prstGeom>
          <a:noFill/>
          <a:ln/>
        </p:spPr>
        <p:txBody>
          <a:bodyPr wrap="square" rtlCol="0" anchor="ctr"/>
          <a:lstStyle/>
          <a:p>
            <a:pPr marL="0" indent="0" algn="r">
              <a:buNone/>
            </a:pPr>
            <a:r>
              <a:rPr lang="en-US" sz="1000" dirty="0">
                <a:solidFill>
                  <a:srgbClr val="8FA3B8"/>
                </a:solidFill>
                <a:latin typeface="Calibri" pitchFamily="34" charset="0"/>
                <a:ea typeface="Calibri" pitchFamily="34" charset="-122"/>
                <a:cs typeface="Calibri" pitchFamily="34" charset="-120"/>
              </a:rPr>
              <a:t>2 / 14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9900"/>
          </a:solidFill>
          <a:ln w="12700">
            <a:solidFill>
              <a:srgbClr val="FF9900"/>
            </a:solidFill>
            <a:prstDash val="solid"/>
          </a:ln>
        </p:spPr>
        <p:txBody>
          <a:bodyPr/>
          <a:lstStyle/>
          <a:p>
            <a:endParaRPr lang="en-US"/>
          </a:p>
        </p:txBody>
      </p:sp>
      <p:sp>
        <p:nvSpPr>
          <p:cNvPr id="3" name="Text 1"/>
          <p:cNvSpPr/>
          <p:nvPr/>
        </p:nvSpPr>
        <p:spPr>
          <a:xfrm>
            <a:off x="457200" y="228600"/>
            <a:ext cx="8229600" cy="320040"/>
          </a:xfrm>
          <a:prstGeom prst="rect">
            <a:avLst/>
          </a:prstGeom>
          <a:noFill/>
          <a:ln/>
        </p:spPr>
        <p:txBody>
          <a:bodyPr wrap="square" rtlCol="0" anchor="ctr"/>
          <a:lstStyle/>
          <a:p>
            <a:pPr marL="0" indent="0">
              <a:buNone/>
            </a:pPr>
            <a:r>
              <a:rPr lang="en-US" sz="1000" b="1" kern="0" spc="400" dirty="0">
                <a:solidFill>
                  <a:srgbClr val="FF9900"/>
                </a:solidFill>
                <a:latin typeface="Calibri" pitchFamily="34" charset="0"/>
                <a:ea typeface="Calibri" pitchFamily="34" charset="-122"/>
                <a:cs typeface="Calibri" pitchFamily="34" charset="-120"/>
              </a:rPr>
              <a:t>INTRODUCTION</a:t>
            </a:r>
            <a:endParaRPr lang="en-US" sz="1000" dirty="0"/>
          </a:p>
        </p:txBody>
      </p:sp>
      <p:sp>
        <p:nvSpPr>
          <p:cNvPr id="4" name="Text 2"/>
          <p:cNvSpPr/>
          <p:nvPr/>
        </p:nvSpPr>
        <p:spPr>
          <a:xfrm>
            <a:off x="457200" y="502920"/>
            <a:ext cx="8229600" cy="54864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What is Amazon Bedrock?</a:t>
            </a:r>
            <a:endParaRPr lang="en-US" sz="3000" dirty="0"/>
          </a:p>
        </p:txBody>
      </p:sp>
      <p:sp>
        <p:nvSpPr>
          <p:cNvPr id="5" name="Shape 3"/>
          <p:cNvSpPr/>
          <p:nvPr/>
        </p:nvSpPr>
        <p:spPr>
          <a:xfrm>
            <a:off x="365760" y="1143000"/>
            <a:ext cx="4297680" cy="3291840"/>
          </a:xfrm>
          <a:prstGeom prst="rect">
            <a:avLst/>
          </a:prstGeom>
          <a:solidFill>
            <a:srgbClr val="1E3045"/>
          </a:solidFill>
          <a:ln w="12700">
            <a:solidFill>
              <a:srgbClr val="1E3045"/>
            </a:solidFill>
            <a:prstDash val="solid"/>
          </a:ln>
        </p:spPr>
        <p:txBody>
          <a:bodyPr/>
          <a:lstStyle/>
          <a:p>
            <a:endParaRPr lang="en-US"/>
          </a:p>
        </p:txBody>
      </p:sp>
      <p:sp>
        <p:nvSpPr>
          <p:cNvPr id="6" name="Shape 4"/>
          <p:cNvSpPr/>
          <p:nvPr/>
        </p:nvSpPr>
        <p:spPr>
          <a:xfrm>
            <a:off x="365760" y="1143000"/>
            <a:ext cx="4297680" cy="54864"/>
          </a:xfrm>
          <a:prstGeom prst="rect">
            <a:avLst/>
          </a:prstGeom>
          <a:solidFill>
            <a:srgbClr val="FF9900"/>
          </a:solidFill>
          <a:ln w="12700">
            <a:solidFill>
              <a:srgbClr val="FF9900"/>
            </a:solidFill>
            <a:prstDash val="solid"/>
          </a:ln>
        </p:spPr>
        <p:txBody>
          <a:bodyPr/>
          <a:lstStyle/>
          <a:p>
            <a:endParaRPr lang="en-US"/>
          </a:p>
        </p:txBody>
      </p:sp>
      <p:sp>
        <p:nvSpPr>
          <p:cNvPr id="7" name="Text 5"/>
          <p:cNvSpPr/>
          <p:nvPr/>
        </p:nvSpPr>
        <p:spPr>
          <a:xfrm>
            <a:off x="548640" y="1261872"/>
            <a:ext cx="3931920" cy="320040"/>
          </a:xfrm>
          <a:prstGeom prst="rect">
            <a:avLst/>
          </a:prstGeom>
          <a:noFill/>
          <a:ln/>
        </p:spPr>
        <p:txBody>
          <a:bodyPr wrap="square" lIns="0" tIns="0" rIns="0" bIns="0" rtlCol="0" anchor="ctr"/>
          <a:lstStyle/>
          <a:p>
            <a:pPr marL="0" indent="0">
              <a:buNone/>
            </a:pPr>
            <a:r>
              <a:rPr lang="en-US" sz="1300" b="1" dirty="0">
                <a:solidFill>
                  <a:srgbClr val="FF9900"/>
                </a:solidFill>
                <a:latin typeface="Calibri" pitchFamily="34" charset="0"/>
                <a:ea typeface="Calibri" pitchFamily="34" charset="-122"/>
                <a:cs typeface="Calibri" pitchFamily="34" charset="-120"/>
              </a:rPr>
              <a:t>Definition</a:t>
            </a:r>
            <a:endParaRPr lang="en-US" sz="1300" dirty="0"/>
          </a:p>
        </p:txBody>
      </p:sp>
      <p:sp>
        <p:nvSpPr>
          <p:cNvPr id="8" name="Text 6"/>
          <p:cNvSpPr/>
          <p:nvPr/>
        </p:nvSpPr>
        <p:spPr>
          <a:xfrm>
            <a:off x="548640" y="1627632"/>
            <a:ext cx="3931920" cy="11887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Amazon Bedrock is a fully managed, serverless service that provides developers access to high-performing Foundation Models (FMs) from leading AI companies through a single unified API — without managing infrastructure.</a:t>
            </a:r>
            <a:endParaRPr lang="en-US" sz="1250" dirty="0"/>
          </a:p>
        </p:txBody>
      </p:sp>
      <p:sp>
        <p:nvSpPr>
          <p:cNvPr id="9" name="Text 7"/>
          <p:cNvSpPr/>
          <p:nvPr/>
        </p:nvSpPr>
        <p:spPr>
          <a:xfrm>
            <a:off x="548640" y="2907792"/>
            <a:ext cx="3931920" cy="320040"/>
          </a:xfrm>
          <a:prstGeom prst="rect">
            <a:avLst/>
          </a:prstGeom>
          <a:noFill/>
          <a:ln/>
        </p:spPr>
        <p:txBody>
          <a:bodyPr wrap="square" lIns="0" tIns="0" rIns="0" bIns="0" rtlCol="0" anchor="ctr"/>
          <a:lstStyle/>
          <a:p>
            <a:pPr marL="0" indent="0">
              <a:buNone/>
            </a:pPr>
            <a:r>
              <a:rPr lang="en-US" sz="1200" b="1" dirty="0">
                <a:solidFill>
                  <a:srgbClr val="00B3B3"/>
                </a:solidFill>
                <a:latin typeface="Calibri" pitchFamily="34" charset="0"/>
                <a:ea typeface="Calibri" pitchFamily="34" charset="-122"/>
                <a:cs typeface="Calibri" pitchFamily="34" charset="-120"/>
              </a:rPr>
              <a:t>Core Value Proposition</a:t>
            </a:r>
            <a:endParaRPr lang="en-US" sz="1200" dirty="0"/>
          </a:p>
        </p:txBody>
      </p:sp>
      <p:sp>
        <p:nvSpPr>
          <p:cNvPr id="10" name="Text 8"/>
          <p:cNvSpPr/>
          <p:nvPr/>
        </p:nvSpPr>
        <p:spPr>
          <a:xfrm>
            <a:off x="548640" y="3246120"/>
            <a:ext cx="3931920" cy="1097280"/>
          </a:xfrm>
          <a:prstGeom prst="rect">
            <a:avLst/>
          </a:prstGeom>
          <a:noFill/>
          <a:ln/>
        </p:spPr>
        <p:txBody>
          <a:bodyPr wrap="square" lIns="0" tIns="0" rIns="0" bIns="0" rtlCol="0" anchor="ctr"/>
          <a:lstStyle/>
          <a:p>
            <a:pPr marL="342900" indent="-342900">
              <a:buSzPct val="100000"/>
              <a:buChar char="•"/>
            </a:pPr>
            <a:r>
              <a:rPr lang="en-US" sz="1100" dirty="0">
                <a:solidFill>
                  <a:srgbClr val="E8EFF6"/>
                </a:solidFill>
                <a:latin typeface="Calibri" pitchFamily="34" charset="0"/>
                <a:ea typeface="Calibri" pitchFamily="34" charset="-122"/>
                <a:cs typeface="Calibri" pitchFamily="34" charset="-120"/>
              </a:rPr>
              <a:t>No GPU clusters to manage</a:t>
            </a:r>
            <a:endParaRPr lang="en-US" sz="1100" dirty="0"/>
          </a:p>
          <a:p>
            <a:pPr marL="342900" indent="-342900">
              <a:buSzPct val="100000"/>
              <a:buChar char="•"/>
            </a:pPr>
            <a:r>
              <a:rPr lang="en-US" sz="1100" dirty="0">
                <a:solidFill>
                  <a:srgbClr val="E8EFF6"/>
                </a:solidFill>
                <a:latin typeface="Calibri" pitchFamily="34" charset="0"/>
                <a:ea typeface="Calibri" pitchFamily="34" charset="-122"/>
                <a:cs typeface="Calibri" pitchFamily="34" charset="-120"/>
              </a:rPr>
              <a:t>No model training required</a:t>
            </a:r>
            <a:endParaRPr lang="en-US" sz="1100" dirty="0"/>
          </a:p>
          <a:p>
            <a:pPr marL="342900" indent="-342900">
              <a:buSzPct val="100000"/>
              <a:buChar char="•"/>
            </a:pPr>
            <a:r>
              <a:rPr lang="en-US" sz="1100" dirty="0">
                <a:solidFill>
                  <a:srgbClr val="E8EFF6"/>
                </a:solidFill>
                <a:latin typeface="Calibri" pitchFamily="34" charset="0"/>
                <a:ea typeface="Calibri" pitchFamily="34" charset="-122"/>
                <a:cs typeface="Calibri" pitchFamily="34" charset="-120"/>
              </a:rPr>
              <a:t>API-first, pay-per-use model</a:t>
            </a:r>
            <a:endParaRPr lang="en-US" sz="1100" dirty="0"/>
          </a:p>
          <a:p>
            <a:pPr marL="342900" indent="-342900">
              <a:buSzPct val="100000"/>
              <a:buChar char="•"/>
            </a:pPr>
            <a:r>
              <a:rPr lang="en-US" sz="1100" dirty="0">
                <a:solidFill>
                  <a:srgbClr val="E8EFF6"/>
                </a:solidFill>
                <a:latin typeface="Calibri" pitchFamily="34" charset="0"/>
                <a:ea typeface="Calibri" pitchFamily="34" charset="-122"/>
                <a:cs typeface="Calibri" pitchFamily="34" charset="-120"/>
              </a:rPr>
              <a:t>Enterprise-grade security built-in</a:t>
            </a:r>
            <a:endParaRPr lang="en-US" sz="1100" dirty="0"/>
          </a:p>
        </p:txBody>
      </p:sp>
      <p:sp>
        <p:nvSpPr>
          <p:cNvPr id="11" name="Shape 9"/>
          <p:cNvSpPr/>
          <p:nvPr/>
        </p:nvSpPr>
        <p:spPr>
          <a:xfrm>
            <a:off x="4983480" y="1143000"/>
            <a:ext cx="1828800" cy="1508760"/>
          </a:xfrm>
          <a:prstGeom prst="rect">
            <a:avLst/>
          </a:prstGeom>
          <a:solidFill>
            <a:srgbClr val="162232"/>
          </a:solidFill>
          <a:ln w="12700">
            <a:solidFill>
              <a:srgbClr val="2A4060"/>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5641848" y="1252728"/>
            <a:ext cx="502920" cy="502920"/>
          </a:xfrm>
          <a:prstGeom prst="rect">
            <a:avLst/>
          </a:prstGeom>
        </p:spPr>
      </p:pic>
      <p:sp>
        <p:nvSpPr>
          <p:cNvPr id="13" name="Text 10"/>
          <p:cNvSpPr/>
          <p:nvPr/>
        </p:nvSpPr>
        <p:spPr>
          <a:xfrm>
            <a:off x="4983480" y="1801368"/>
            <a:ext cx="1828800" cy="411480"/>
          </a:xfrm>
          <a:prstGeom prst="rect">
            <a:avLst/>
          </a:prstGeom>
          <a:noFill/>
          <a:ln/>
        </p:spPr>
        <p:txBody>
          <a:bodyPr wrap="square" lIns="0" tIns="0" rIns="0" bIns="0" rtlCol="0" anchor="ctr"/>
          <a:lstStyle/>
          <a:p>
            <a:pPr marL="0" indent="0" algn="ctr">
              <a:buNone/>
            </a:pPr>
            <a:r>
              <a:rPr lang="en-US" sz="1800" b="1" dirty="0">
                <a:solidFill>
                  <a:srgbClr val="FF9900"/>
                </a:solidFill>
                <a:latin typeface="Calibri" pitchFamily="34" charset="0"/>
                <a:ea typeface="Calibri" pitchFamily="34" charset="-122"/>
                <a:cs typeface="Calibri" pitchFamily="34" charset="-120"/>
              </a:rPr>
              <a:t>2023</a:t>
            </a:r>
            <a:endParaRPr lang="en-US" sz="1800" dirty="0"/>
          </a:p>
        </p:txBody>
      </p:sp>
      <p:sp>
        <p:nvSpPr>
          <p:cNvPr id="14" name="Text 11"/>
          <p:cNvSpPr/>
          <p:nvPr/>
        </p:nvSpPr>
        <p:spPr>
          <a:xfrm>
            <a:off x="4983480" y="2221992"/>
            <a:ext cx="1828800" cy="320040"/>
          </a:xfrm>
          <a:prstGeom prst="rect">
            <a:avLst/>
          </a:prstGeom>
          <a:noFill/>
          <a:ln/>
        </p:spPr>
        <p:txBody>
          <a:bodyPr wrap="square" lIns="0" tIns="0" rIns="0" bIns="0" rtlCol="0" anchor="ctr"/>
          <a:lstStyle/>
          <a:p>
            <a:pPr marL="0" indent="0" algn="ctr">
              <a:buNone/>
            </a:pPr>
            <a:r>
              <a:rPr lang="en-US" sz="1000" dirty="0">
                <a:solidFill>
                  <a:srgbClr val="8FA3B8"/>
                </a:solidFill>
                <a:latin typeface="Calibri" pitchFamily="34" charset="0"/>
                <a:ea typeface="Calibri" pitchFamily="34" charset="-122"/>
                <a:cs typeface="Calibri" pitchFamily="34" charset="-120"/>
              </a:rPr>
              <a:t>Launched</a:t>
            </a:r>
            <a:endParaRPr lang="en-US" sz="1000" dirty="0"/>
          </a:p>
        </p:txBody>
      </p:sp>
      <p:sp>
        <p:nvSpPr>
          <p:cNvPr id="15" name="Shape 12"/>
          <p:cNvSpPr/>
          <p:nvPr/>
        </p:nvSpPr>
        <p:spPr>
          <a:xfrm>
            <a:off x="6995160" y="1143000"/>
            <a:ext cx="1828800" cy="1508760"/>
          </a:xfrm>
          <a:prstGeom prst="rect">
            <a:avLst/>
          </a:prstGeom>
          <a:solidFill>
            <a:srgbClr val="162232"/>
          </a:solidFill>
          <a:ln w="12700">
            <a:solidFill>
              <a:srgbClr val="2A4060"/>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7653528" y="1252728"/>
            <a:ext cx="502920" cy="502920"/>
          </a:xfrm>
          <a:prstGeom prst="rect">
            <a:avLst/>
          </a:prstGeom>
        </p:spPr>
      </p:pic>
      <p:sp>
        <p:nvSpPr>
          <p:cNvPr id="17" name="Text 13"/>
          <p:cNvSpPr/>
          <p:nvPr/>
        </p:nvSpPr>
        <p:spPr>
          <a:xfrm>
            <a:off x="6995160" y="1801368"/>
            <a:ext cx="1828800" cy="411480"/>
          </a:xfrm>
          <a:prstGeom prst="rect">
            <a:avLst/>
          </a:prstGeom>
          <a:noFill/>
          <a:ln/>
        </p:spPr>
        <p:txBody>
          <a:bodyPr wrap="square" lIns="0" tIns="0" rIns="0" bIns="0" rtlCol="0" anchor="ctr"/>
          <a:lstStyle/>
          <a:p>
            <a:pPr marL="0" indent="0" algn="ctr">
              <a:buNone/>
            </a:pPr>
            <a:r>
              <a:rPr lang="en-US" sz="1800" b="1" dirty="0">
                <a:solidFill>
                  <a:srgbClr val="FF9900"/>
                </a:solidFill>
                <a:latin typeface="Calibri" pitchFamily="34" charset="0"/>
                <a:ea typeface="Calibri" pitchFamily="34" charset="-122"/>
                <a:cs typeface="Calibri" pitchFamily="34" charset="-120"/>
              </a:rPr>
              <a:t>5+</a:t>
            </a:r>
            <a:endParaRPr lang="en-US" sz="1800" dirty="0"/>
          </a:p>
        </p:txBody>
      </p:sp>
      <p:sp>
        <p:nvSpPr>
          <p:cNvPr id="18" name="Text 14"/>
          <p:cNvSpPr/>
          <p:nvPr/>
        </p:nvSpPr>
        <p:spPr>
          <a:xfrm>
            <a:off x="6995160" y="2221992"/>
            <a:ext cx="1828800" cy="320040"/>
          </a:xfrm>
          <a:prstGeom prst="rect">
            <a:avLst/>
          </a:prstGeom>
          <a:noFill/>
          <a:ln/>
        </p:spPr>
        <p:txBody>
          <a:bodyPr wrap="square" lIns="0" tIns="0" rIns="0" bIns="0" rtlCol="0" anchor="ctr"/>
          <a:lstStyle/>
          <a:p>
            <a:pPr marL="0" indent="0" algn="ctr">
              <a:buNone/>
            </a:pPr>
            <a:r>
              <a:rPr lang="en-US" sz="1000" dirty="0">
                <a:solidFill>
                  <a:srgbClr val="8FA3B8"/>
                </a:solidFill>
                <a:latin typeface="Calibri" pitchFamily="34" charset="0"/>
                <a:ea typeface="Calibri" pitchFamily="34" charset="-122"/>
                <a:cs typeface="Calibri" pitchFamily="34" charset="-120"/>
              </a:rPr>
              <a:t>Model Providers</a:t>
            </a:r>
            <a:endParaRPr lang="en-US" sz="1000" dirty="0"/>
          </a:p>
        </p:txBody>
      </p:sp>
      <p:sp>
        <p:nvSpPr>
          <p:cNvPr id="19" name="Shape 15"/>
          <p:cNvSpPr/>
          <p:nvPr/>
        </p:nvSpPr>
        <p:spPr>
          <a:xfrm>
            <a:off x="4983480" y="2834640"/>
            <a:ext cx="1828800" cy="1508760"/>
          </a:xfrm>
          <a:prstGeom prst="rect">
            <a:avLst/>
          </a:prstGeom>
          <a:solidFill>
            <a:srgbClr val="162232"/>
          </a:solidFill>
          <a:ln w="12700">
            <a:solidFill>
              <a:srgbClr val="2A4060"/>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5641848" y="2944368"/>
            <a:ext cx="502920" cy="502920"/>
          </a:xfrm>
          <a:prstGeom prst="rect">
            <a:avLst/>
          </a:prstGeom>
        </p:spPr>
      </p:pic>
      <p:sp>
        <p:nvSpPr>
          <p:cNvPr id="21" name="Text 16"/>
          <p:cNvSpPr/>
          <p:nvPr/>
        </p:nvSpPr>
        <p:spPr>
          <a:xfrm>
            <a:off x="4983480" y="3493008"/>
            <a:ext cx="1828800" cy="411480"/>
          </a:xfrm>
          <a:prstGeom prst="rect">
            <a:avLst/>
          </a:prstGeom>
          <a:noFill/>
          <a:ln/>
        </p:spPr>
        <p:txBody>
          <a:bodyPr wrap="square" lIns="0" tIns="0" rIns="0" bIns="0" rtlCol="0" anchor="ctr"/>
          <a:lstStyle/>
          <a:p>
            <a:pPr marL="0" indent="0" algn="ctr">
              <a:buNone/>
            </a:pPr>
            <a:r>
              <a:rPr lang="en-US" sz="1800" b="1" dirty="0">
                <a:solidFill>
                  <a:srgbClr val="FF9900"/>
                </a:solidFill>
                <a:latin typeface="Calibri" pitchFamily="34" charset="0"/>
                <a:ea typeface="Calibri" pitchFamily="34" charset="-122"/>
                <a:cs typeface="Calibri" pitchFamily="34" charset="-120"/>
              </a:rPr>
              <a:t>Serverless</a:t>
            </a:r>
            <a:endParaRPr lang="en-US" sz="1800" dirty="0"/>
          </a:p>
        </p:txBody>
      </p:sp>
      <p:sp>
        <p:nvSpPr>
          <p:cNvPr id="22" name="Text 17"/>
          <p:cNvSpPr/>
          <p:nvPr/>
        </p:nvSpPr>
        <p:spPr>
          <a:xfrm>
            <a:off x="4983480" y="3913632"/>
            <a:ext cx="1828800" cy="320040"/>
          </a:xfrm>
          <a:prstGeom prst="rect">
            <a:avLst/>
          </a:prstGeom>
          <a:noFill/>
          <a:ln/>
        </p:spPr>
        <p:txBody>
          <a:bodyPr wrap="square" lIns="0" tIns="0" rIns="0" bIns="0" rtlCol="0" anchor="ctr"/>
          <a:lstStyle/>
          <a:p>
            <a:pPr marL="0" indent="0" algn="ctr">
              <a:buNone/>
            </a:pPr>
            <a:r>
              <a:rPr lang="en-US" sz="1000" dirty="0">
                <a:solidFill>
                  <a:srgbClr val="8FA3B8"/>
                </a:solidFill>
                <a:latin typeface="Calibri" pitchFamily="34" charset="0"/>
                <a:ea typeface="Calibri" pitchFamily="34" charset="-122"/>
                <a:cs typeface="Calibri" pitchFamily="34" charset="-120"/>
              </a:rPr>
              <a:t>Deployment</a:t>
            </a:r>
            <a:endParaRPr lang="en-US" sz="1000" dirty="0"/>
          </a:p>
        </p:txBody>
      </p:sp>
      <p:sp>
        <p:nvSpPr>
          <p:cNvPr id="23" name="Shape 18"/>
          <p:cNvSpPr/>
          <p:nvPr/>
        </p:nvSpPr>
        <p:spPr>
          <a:xfrm>
            <a:off x="6995160" y="2834640"/>
            <a:ext cx="1828800" cy="1508760"/>
          </a:xfrm>
          <a:prstGeom prst="rect">
            <a:avLst/>
          </a:prstGeom>
          <a:solidFill>
            <a:srgbClr val="162232"/>
          </a:solidFill>
          <a:ln w="12700">
            <a:solidFill>
              <a:srgbClr val="2A4060"/>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7653528" y="2944368"/>
            <a:ext cx="502920" cy="502920"/>
          </a:xfrm>
          <a:prstGeom prst="rect">
            <a:avLst/>
          </a:prstGeom>
        </p:spPr>
      </p:pic>
      <p:sp>
        <p:nvSpPr>
          <p:cNvPr id="25" name="Text 19"/>
          <p:cNvSpPr/>
          <p:nvPr/>
        </p:nvSpPr>
        <p:spPr>
          <a:xfrm>
            <a:off x="6995160" y="3493008"/>
            <a:ext cx="1828800" cy="411480"/>
          </a:xfrm>
          <a:prstGeom prst="rect">
            <a:avLst/>
          </a:prstGeom>
          <a:noFill/>
          <a:ln/>
        </p:spPr>
        <p:txBody>
          <a:bodyPr wrap="square" lIns="0" tIns="0" rIns="0" bIns="0" rtlCol="0" anchor="ctr"/>
          <a:lstStyle/>
          <a:p>
            <a:pPr marL="0" indent="0" algn="ctr">
              <a:buNone/>
            </a:pPr>
            <a:r>
              <a:rPr lang="en-US" sz="1800" b="1" dirty="0">
                <a:solidFill>
                  <a:srgbClr val="FF9900"/>
                </a:solidFill>
                <a:latin typeface="Calibri" pitchFamily="34" charset="0"/>
                <a:ea typeface="Calibri" pitchFamily="34" charset="-122"/>
                <a:cs typeface="Calibri" pitchFamily="34" charset="-120"/>
              </a:rPr>
              <a:t>AWS IAM</a:t>
            </a:r>
            <a:endParaRPr lang="en-US" sz="1800" dirty="0"/>
          </a:p>
        </p:txBody>
      </p:sp>
      <p:sp>
        <p:nvSpPr>
          <p:cNvPr id="26" name="Text 20"/>
          <p:cNvSpPr/>
          <p:nvPr/>
        </p:nvSpPr>
        <p:spPr>
          <a:xfrm>
            <a:off x="6995160" y="3913632"/>
            <a:ext cx="1828800" cy="320040"/>
          </a:xfrm>
          <a:prstGeom prst="rect">
            <a:avLst/>
          </a:prstGeom>
          <a:noFill/>
          <a:ln/>
        </p:spPr>
        <p:txBody>
          <a:bodyPr wrap="square" lIns="0" tIns="0" rIns="0" bIns="0" rtlCol="0" anchor="ctr"/>
          <a:lstStyle/>
          <a:p>
            <a:pPr marL="0" indent="0" algn="ctr">
              <a:buNone/>
            </a:pPr>
            <a:r>
              <a:rPr lang="en-US" sz="1000" dirty="0">
                <a:solidFill>
                  <a:srgbClr val="8FA3B8"/>
                </a:solidFill>
                <a:latin typeface="Calibri" pitchFamily="34" charset="0"/>
                <a:ea typeface="Calibri" pitchFamily="34" charset="-122"/>
                <a:cs typeface="Calibri" pitchFamily="34" charset="-120"/>
              </a:rPr>
              <a:t>Auth Method</a:t>
            </a:r>
            <a:endParaRPr lang="en-US" sz="1000" dirty="0"/>
          </a:p>
        </p:txBody>
      </p:sp>
      <p:sp>
        <p:nvSpPr>
          <p:cNvPr id="27" name="Shape 21"/>
          <p:cNvSpPr/>
          <p:nvPr/>
        </p:nvSpPr>
        <p:spPr>
          <a:xfrm>
            <a:off x="0" y="4686300"/>
            <a:ext cx="9144000" cy="457200"/>
          </a:xfrm>
          <a:prstGeom prst="rect">
            <a:avLst/>
          </a:prstGeom>
          <a:solidFill>
            <a:srgbClr val="162232"/>
          </a:solidFill>
          <a:ln w="12700">
            <a:solidFill>
              <a:srgbClr val="162232"/>
            </a:solidFill>
            <a:prstDash val="solid"/>
          </a:ln>
        </p:spPr>
        <p:txBody>
          <a:bodyPr/>
          <a:lstStyle/>
          <a:p>
            <a:endParaRPr lang="en-US"/>
          </a:p>
        </p:txBody>
      </p:sp>
      <p:sp>
        <p:nvSpPr>
          <p:cNvPr id="28" name="Text 22"/>
          <p:cNvSpPr/>
          <p:nvPr/>
        </p:nvSpPr>
        <p:spPr>
          <a:xfrm>
            <a:off x="457200" y="4686300"/>
            <a:ext cx="7315200" cy="457200"/>
          </a:xfrm>
          <a:prstGeom prst="rect">
            <a:avLst/>
          </a:prstGeom>
          <a:noFill/>
          <a:ln/>
        </p:spPr>
        <p:txBody>
          <a:bodyPr wrap="square" rtlCol="0" anchor="ctr"/>
          <a:lstStyle/>
          <a:p>
            <a:pPr marL="0" indent="0">
              <a:buNone/>
            </a:pPr>
            <a:r>
              <a:rPr lang="en-US" sz="1000" dirty="0">
                <a:solidFill>
                  <a:srgbClr val="8FA3B8"/>
                </a:solidFill>
                <a:latin typeface="Calibri" pitchFamily="34" charset="0"/>
                <a:ea typeface="Calibri" pitchFamily="34" charset="-122"/>
                <a:cs typeface="Calibri" pitchFamily="34" charset="-120"/>
              </a:rPr>
              <a:t>Amazon Bedrock | Cloud Computing Presentation</a:t>
            </a:r>
            <a:endParaRPr lang="en-US" sz="1000" dirty="0"/>
          </a:p>
        </p:txBody>
      </p:sp>
      <p:sp>
        <p:nvSpPr>
          <p:cNvPr id="29" name="Text 23"/>
          <p:cNvSpPr/>
          <p:nvPr/>
        </p:nvSpPr>
        <p:spPr>
          <a:xfrm>
            <a:off x="8046720" y="4686300"/>
            <a:ext cx="914400" cy="457200"/>
          </a:xfrm>
          <a:prstGeom prst="rect">
            <a:avLst/>
          </a:prstGeom>
          <a:noFill/>
          <a:ln/>
        </p:spPr>
        <p:txBody>
          <a:bodyPr wrap="square" rtlCol="0" anchor="ctr"/>
          <a:lstStyle/>
          <a:p>
            <a:pPr marL="0" indent="0" algn="r">
              <a:buNone/>
            </a:pPr>
            <a:r>
              <a:rPr lang="en-US" sz="1000" dirty="0">
                <a:solidFill>
                  <a:srgbClr val="8FA3B8"/>
                </a:solidFill>
                <a:latin typeface="Calibri" pitchFamily="34" charset="0"/>
                <a:ea typeface="Calibri" pitchFamily="34" charset="-122"/>
                <a:cs typeface="Calibri" pitchFamily="34" charset="-120"/>
              </a:rPr>
              <a:t>3 / 14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3B3"/>
          </a:solidFill>
          <a:ln w="12700">
            <a:solidFill>
              <a:srgbClr val="00B3B3"/>
            </a:solidFill>
            <a:prstDash val="solid"/>
          </a:ln>
        </p:spPr>
        <p:txBody>
          <a:bodyPr/>
          <a:lstStyle/>
          <a:p>
            <a:endParaRPr lang="en-US"/>
          </a:p>
        </p:txBody>
      </p:sp>
      <p:sp>
        <p:nvSpPr>
          <p:cNvPr id="3" name="Text 1"/>
          <p:cNvSpPr/>
          <p:nvPr/>
        </p:nvSpPr>
        <p:spPr>
          <a:xfrm>
            <a:off x="457200" y="182880"/>
            <a:ext cx="8229600" cy="274320"/>
          </a:xfrm>
          <a:prstGeom prst="rect">
            <a:avLst/>
          </a:prstGeom>
          <a:noFill/>
          <a:ln/>
        </p:spPr>
        <p:txBody>
          <a:bodyPr wrap="square" rtlCol="0" anchor="ctr"/>
          <a:lstStyle/>
          <a:p>
            <a:pPr marL="0" indent="0">
              <a:buNone/>
            </a:pPr>
            <a:r>
              <a:rPr lang="en-US" sz="1000" b="1" kern="0" spc="400" dirty="0">
                <a:solidFill>
                  <a:srgbClr val="00B3B3"/>
                </a:solidFill>
                <a:latin typeface="Calibri" pitchFamily="34" charset="0"/>
                <a:ea typeface="Calibri" pitchFamily="34" charset="-122"/>
                <a:cs typeface="Calibri" pitchFamily="34" charset="-120"/>
              </a:rPr>
              <a:t>ARCHITECTURE</a:t>
            </a:r>
            <a:endParaRPr lang="en-US" sz="1000" dirty="0"/>
          </a:p>
        </p:txBody>
      </p:sp>
      <p:sp>
        <p:nvSpPr>
          <p:cNvPr id="4" name="Text 2"/>
          <p:cNvSpPr/>
          <p:nvPr/>
        </p:nvSpPr>
        <p:spPr>
          <a:xfrm>
            <a:off x="457200" y="438912"/>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Core Architecture &amp; API Flow</a:t>
            </a:r>
            <a:endParaRPr lang="en-US" sz="2800" dirty="0"/>
          </a:p>
        </p:txBody>
      </p:sp>
      <p:sp>
        <p:nvSpPr>
          <p:cNvPr id="5" name="Shape 3"/>
          <p:cNvSpPr/>
          <p:nvPr/>
        </p:nvSpPr>
        <p:spPr>
          <a:xfrm>
            <a:off x="274320" y="1051560"/>
            <a:ext cx="1554480" cy="1097280"/>
          </a:xfrm>
          <a:prstGeom prst="rect">
            <a:avLst/>
          </a:prstGeom>
          <a:solidFill>
            <a:srgbClr val="00B3B3">
              <a:alpha val="85000"/>
            </a:srgbClr>
          </a:solidFill>
          <a:ln w="12700">
            <a:solidFill>
              <a:srgbClr val="00B3B3"/>
            </a:solidFill>
            <a:prstDash val="solid"/>
          </a:ln>
        </p:spPr>
        <p:txBody>
          <a:bodyPr/>
          <a:lstStyle/>
          <a:p>
            <a:endParaRPr lang="en-US"/>
          </a:p>
        </p:txBody>
      </p:sp>
      <p:sp>
        <p:nvSpPr>
          <p:cNvPr id="6" name="Text 4"/>
          <p:cNvSpPr/>
          <p:nvPr/>
        </p:nvSpPr>
        <p:spPr>
          <a:xfrm>
            <a:off x="274320" y="1124712"/>
            <a:ext cx="1554480"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Client / App</a:t>
            </a:r>
            <a:endParaRPr lang="en-US" sz="1100" dirty="0"/>
          </a:p>
        </p:txBody>
      </p:sp>
      <p:sp>
        <p:nvSpPr>
          <p:cNvPr id="7" name="Text 5"/>
          <p:cNvSpPr/>
          <p:nvPr/>
        </p:nvSpPr>
        <p:spPr>
          <a:xfrm>
            <a:off x="274320" y="1618488"/>
            <a:ext cx="1554480" cy="438912"/>
          </a:xfrm>
          <a:prstGeom prst="rect">
            <a:avLst/>
          </a:prstGeom>
          <a:noFill/>
          <a:ln/>
        </p:spPr>
        <p:txBody>
          <a:bodyPr wrap="square" lIns="0" tIns="0" rIns="0" bIns="0" rtlCol="0" anchor="ctr"/>
          <a:lstStyle/>
          <a:p>
            <a:pPr marL="0" indent="0" algn="ctr">
              <a:buNone/>
            </a:pPr>
            <a:r>
              <a:rPr lang="en-US" sz="950" dirty="0">
                <a:solidFill>
                  <a:srgbClr val="E8EFF6"/>
                </a:solidFill>
                <a:latin typeface="Calibri" pitchFamily="34" charset="0"/>
                <a:ea typeface="Calibri" pitchFamily="34" charset="-122"/>
                <a:cs typeface="Calibri" pitchFamily="34" charset="-120"/>
              </a:rPr>
              <a:t>Web, Mobile</a:t>
            </a:r>
            <a:endParaRPr lang="en-US" sz="950" dirty="0"/>
          </a:p>
          <a:p>
            <a:pPr marL="0" indent="0" algn="ctr">
              <a:buNone/>
            </a:pPr>
            <a:r>
              <a:rPr lang="en-US" sz="950" dirty="0">
                <a:solidFill>
                  <a:srgbClr val="E8EFF6"/>
                </a:solidFill>
                <a:latin typeface="Calibri" pitchFamily="34" charset="0"/>
                <a:ea typeface="Calibri" pitchFamily="34" charset="-122"/>
                <a:cs typeface="Calibri" pitchFamily="34" charset="-120"/>
              </a:rPr>
              <a:t>or Lex Bot</a:t>
            </a:r>
            <a:endParaRPr lang="en-US" sz="950" dirty="0"/>
          </a:p>
        </p:txBody>
      </p:sp>
      <p:sp>
        <p:nvSpPr>
          <p:cNvPr id="8" name="Shape 6"/>
          <p:cNvSpPr/>
          <p:nvPr/>
        </p:nvSpPr>
        <p:spPr>
          <a:xfrm>
            <a:off x="1828800" y="1577340"/>
            <a:ext cx="164592" cy="45720"/>
          </a:xfrm>
          <a:prstGeom prst="rect">
            <a:avLst/>
          </a:prstGeom>
          <a:solidFill>
            <a:srgbClr val="8FA3B8"/>
          </a:solidFill>
          <a:ln w="12700">
            <a:solidFill>
              <a:srgbClr val="8FA3B8"/>
            </a:solidFill>
            <a:prstDash val="solid"/>
          </a:ln>
        </p:spPr>
        <p:txBody>
          <a:bodyPr/>
          <a:lstStyle/>
          <a:p>
            <a:endParaRPr lang="en-US"/>
          </a:p>
        </p:txBody>
      </p:sp>
      <p:sp>
        <p:nvSpPr>
          <p:cNvPr id="9" name="Shape 7"/>
          <p:cNvSpPr/>
          <p:nvPr/>
        </p:nvSpPr>
        <p:spPr>
          <a:xfrm>
            <a:off x="1993392" y="1051560"/>
            <a:ext cx="1554480" cy="1097280"/>
          </a:xfrm>
          <a:prstGeom prst="rect">
            <a:avLst/>
          </a:prstGeom>
          <a:solidFill>
            <a:srgbClr val="1A73E8">
              <a:alpha val="85000"/>
            </a:srgbClr>
          </a:solidFill>
          <a:ln w="12700">
            <a:solidFill>
              <a:srgbClr val="1A73E8"/>
            </a:solidFill>
            <a:prstDash val="solid"/>
          </a:ln>
        </p:spPr>
        <p:txBody>
          <a:bodyPr/>
          <a:lstStyle/>
          <a:p>
            <a:endParaRPr lang="en-US"/>
          </a:p>
        </p:txBody>
      </p:sp>
      <p:sp>
        <p:nvSpPr>
          <p:cNvPr id="10" name="Text 8"/>
          <p:cNvSpPr/>
          <p:nvPr/>
        </p:nvSpPr>
        <p:spPr>
          <a:xfrm>
            <a:off x="1993392" y="1124712"/>
            <a:ext cx="1554480"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API Gateway</a:t>
            </a:r>
            <a:endParaRPr lang="en-US" sz="1100" dirty="0"/>
          </a:p>
        </p:txBody>
      </p:sp>
      <p:sp>
        <p:nvSpPr>
          <p:cNvPr id="11" name="Text 9"/>
          <p:cNvSpPr/>
          <p:nvPr/>
        </p:nvSpPr>
        <p:spPr>
          <a:xfrm>
            <a:off x="1993392" y="1618488"/>
            <a:ext cx="1554480" cy="438912"/>
          </a:xfrm>
          <a:prstGeom prst="rect">
            <a:avLst/>
          </a:prstGeom>
          <a:noFill/>
          <a:ln/>
        </p:spPr>
        <p:txBody>
          <a:bodyPr wrap="square" lIns="0" tIns="0" rIns="0" bIns="0" rtlCol="0" anchor="ctr"/>
          <a:lstStyle/>
          <a:p>
            <a:pPr marL="0" indent="0" algn="ctr">
              <a:buNone/>
            </a:pPr>
            <a:r>
              <a:rPr lang="en-US" sz="950" dirty="0">
                <a:solidFill>
                  <a:srgbClr val="E8EFF6"/>
                </a:solidFill>
                <a:latin typeface="Calibri" pitchFamily="34" charset="0"/>
                <a:ea typeface="Calibri" pitchFamily="34" charset="-122"/>
                <a:cs typeface="Calibri" pitchFamily="34" charset="-120"/>
              </a:rPr>
              <a:t>REST / SDK</a:t>
            </a:r>
            <a:endParaRPr lang="en-US" sz="950" dirty="0"/>
          </a:p>
          <a:p>
            <a:pPr marL="0" indent="0" algn="ctr">
              <a:buNone/>
            </a:pPr>
            <a:r>
              <a:rPr lang="en-US" sz="950" dirty="0">
                <a:solidFill>
                  <a:srgbClr val="E8EFF6"/>
                </a:solidFill>
                <a:latin typeface="Calibri" pitchFamily="34" charset="0"/>
                <a:ea typeface="Calibri" pitchFamily="34" charset="-122"/>
                <a:cs typeface="Calibri" pitchFamily="34" charset="-120"/>
              </a:rPr>
              <a:t>AWS Auth</a:t>
            </a:r>
            <a:endParaRPr lang="en-US" sz="950" dirty="0"/>
          </a:p>
        </p:txBody>
      </p:sp>
      <p:sp>
        <p:nvSpPr>
          <p:cNvPr id="12" name="Shape 10"/>
          <p:cNvSpPr/>
          <p:nvPr/>
        </p:nvSpPr>
        <p:spPr>
          <a:xfrm>
            <a:off x="3547872" y="1577340"/>
            <a:ext cx="164592" cy="45720"/>
          </a:xfrm>
          <a:prstGeom prst="rect">
            <a:avLst/>
          </a:prstGeom>
          <a:solidFill>
            <a:srgbClr val="8FA3B8"/>
          </a:solidFill>
          <a:ln w="12700">
            <a:solidFill>
              <a:srgbClr val="8FA3B8"/>
            </a:solidFill>
            <a:prstDash val="solid"/>
          </a:ln>
        </p:spPr>
        <p:txBody>
          <a:bodyPr/>
          <a:lstStyle/>
          <a:p>
            <a:endParaRPr lang="en-US"/>
          </a:p>
        </p:txBody>
      </p:sp>
      <p:sp>
        <p:nvSpPr>
          <p:cNvPr id="13" name="Shape 11"/>
          <p:cNvSpPr/>
          <p:nvPr/>
        </p:nvSpPr>
        <p:spPr>
          <a:xfrm>
            <a:off x="3712464" y="1051560"/>
            <a:ext cx="1554480" cy="1097280"/>
          </a:xfrm>
          <a:prstGeom prst="rect">
            <a:avLst/>
          </a:prstGeom>
          <a:solidFill>
            <a:srgbClr val="FF9900">
              <a:alpha val="85000"/>
            </a:srgbClr>
          </a:solidFill>
          <a:ln w="12700">
            <a:solidFill>
              <a:srgbClr val="FF9900"/>
            </a:solidFill>
            <a:prstDash val="solid"/>
          </a:ln>
        </p:spPr>
        <p:txBody>
          <a:bodyPr/>
          <a:lstStyle/>
          <a:p>
            <a:endParaRPr lang="en-US"/>
          </a:p>
        </p:txBody>
      </p:sp>
      <p:sp>
        <p:nvSpPr>
          <p:cNvPr id="14" name="Text 12"/>
          <p:cNvSpPr/>
          <p:nvPr/>
        </p:nvSpPr>
        <p:spPr>
          <a:xfrm>
            <a:off x="3712464" y="1124712"/>
            <a:ext cx="1554480"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Bedrock API</a:t>
            </a:r>
            <a:endParaRPr lang="en-US" sz="1100" dirty="0"/>
          </a:p>
        </p:txBody>
      </p:sp>
      <p:sp>
        <p:nvSpPr>
          <p:cNvPr id="15" name="Text 13"/>
          <p:cNvSpPr/>
          <p:nvPr/>
        </p:nvSpPr>
        <p:spPr>
          <a:xfrm>
            <a:off x="3712464" y="1618488"/>
            <a:ext cx="1554480" cy="438912"/>
          </a:xfrm>
          <a:prstGeom prst="rect">
            <a:avLst/>
          </a:prstGeom>
          <a:noFill/>
          <a:ln/>
        </p:spPr>
        <p:txBody>
          <a:bodyPr wrap="square" lIns="0" tIns="0" rIns="0" bIns="0" rtlCol="0" anchor="ctr"/>
          <a:lstStyle/>
          <a:p>
            <a:pPr marL="0" indent="0" algn="ctr">
              <a:buNone/>
            </a:pPr>
            <a:r>
              <a:rPr lang="en-US" sz="950" dirty="0">
                <a:solidFill>
                  <a:srgbClr val="E8EFF6"/>
                </a:solidFill>
                <a:latin typeface="Calibri" pitchFamily="34" charset="0"/>
                <a:ea typeface="Calibri" pitchFamily="34" charset="-122"/>
                <a:cs typeface="Calibri" pitchFamily="34" charset="-120"/>
              </a:rPr>
              <a:t>InvokeModel</a:t>
            </a:r>
            <a:endParaRPr lang="en-US" sz="950" dirty="0"/>
          </a:p>
          <a:p>
            <a:pPr marL="0" indent="0" algn="ctr">
              <a:buNone/>
            </a:pPr>
            <a:r>
              <a:rPr lang="en-US" sz="950" dirty="0">
                <a:solidFill>
                  <a:srgbClr val="E8EFF6"/>
                </a:solidFill>
                <a:latin typeface="Calibri" pitchFamily="34" charset="0"/>
                <a:ea typeface="Calibri" pitchFamily="34" charset="-122"/>
                <a:cs typeface="Calibri" pitchFamily="34" charset="-120"/>
              </a:rPr>
              <a:t>Streaming</a:t>
            </a:r>
            <a:endParaRPr lang="en-US" sz="950" dirty="0"/>
          </a:p>
        </p:txBody>
      </p:sp>
      <p:sp>
        <p:nvSpPr>
          <p:cNvPr id="16" name="Shape 14"/>
          <p:cNvSpPr/>
          <p:nvPr/>
        </p:nvSpPr>
        <p:spPr>
          <a:xfrm>
            <a:off x="5266944" y="1577340"/>
            <a:ext cx="164592" cy="45720"/>
          </a:xfrm>
          <a:prstGeom prst="rect">
            <a:avLst/>
          </a:prstGeom>
          <a:solidFill>
            <a:srgbClr val="8FA3B8"/>
          </a:solidFill>
          <a:ln w="12700">
            <a:solidFill>
              <a:srgbClr val="8FA3B8"/>
            </a:solidFill>
            <a:prstDash val="solid"/>
          </a:ln>
        </p:spPr>
        <p:txBody>
          <a:bodyPr/>
          <a:lstStyle/>
          <a:p>
            <a:endParaRPr lang="en-US"/>
          </a:p>
        </p:txBody>
      </p:sp>
      <p:sp>
        <p:nvSpPr>
          <p:cNvPr id="17" name="Shape 15"/>
          <p:cNvSpPr/>
          <p:nvPr/>
        </p:nvSpPr>
        <p:spPr>
          <a:xfrm>
            <a:off x="5431536" y="1051560"/>
            <a:ext cx="1554480" cy="1097280"/>
          </a:xfrm>
          <a:prstGeom prst="rect">
            <a:avLst/>
          </a:prstGeom>
          <a:solidFill>
            <a:srgbClr val="9B59B6">
              <a:alpha val="85000"/>
            </a:srgbClr>
          </a:solidFill>
          <a:ln w="12700">
            <a:solidFill>
              <a:srgbClr val="9B59B6"/>
            </a:solidFill>
            <a:prstDash val="solid"/>
          </a:ln>
        </p:spPr>
        <p:txBody>
          <a:bodyPr/>
          <a:lstStyle/>
          <a:p>
            <a:endParaRPr lang="en-US"/>
          </a:p>
        </p:txBody>
      </p:sp>
      <p:sp>
        <p:nvSpPr>
          <p:cNvPr id="18" name="Text 16"/>
          <p:cNvSpPr/>
          <p:nvPr/>
        </p:nvSpPr>
        <p:spPr>
          <a:xfrm>
            <a:off x="5431536" y="1124712"/>
            <a:ext cx="1554480"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Foundation</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Model</a:t>
            </a:r>
            <a:endParaRPr lang="en-US" sz="1100" dirty="0"/>
          </a:p>
        </p:txBody>
      </p:sp>
      <p:sp>
        <p:nvSpPr>
          <p:cNvPr id="19" name="Text 17"/>
          <p:cNvSpPr/>
          <p:nvPr/>
        </p:nvSpPr>
        <p:spPr>
          <a:xfrm>
            <a:off x="5431536" y="1618488"/>
            <a:ext cx="1554480" cy="438912"/>
          </a:xfrm>
          <a:prstGeom prst="rect">
            <a:avLst/>
          </a:prstGeom>
          <a:noFill/>
          <a:ln/>
        </p:spPr>
        <p:txBody>
          <a:bodyPr wrap="square" lIns="0" tIns="0" rIns="0" bIns="0" rtlCol="0" anchor="ctr"/>
          <a:lstStyle/>
          <a:p>
            <a:pPr marL="0" indent="0" algn="ctr">
              <a:buNone/>
            </a:pPr>
            <a:r>
              <a:rPr lang="en-US" sz="950" dirty="0">
                <a:solidFill>
                  <a:srgbClr val="E8EFF6"/>
                </a:solidFill>
                <a:latin typeface="Calibri" pitchFamily="34" charset="0"/>
                <a:ea typeface="Calibri" pitchFamily="34" charset="-122"/>
                <a:cs typeface="Calibri" pitchFamily="34" charset="-120"/>
              </a:rPr>
              <a:t>Claude / Llama</a:t>
            </a:r>
            <a:endParaRPr lang="en-US" sz="950" dirty="0"/>
          </a:p>
          <a:p>
            <a:pPr marL="0" indent="0" algn="ctr">
              <a:buNone/>
            </a:pPr>
            <a:r>
              <a:rPr lang="en-US" sz="950" dirty="0">
                <a:solidFill>
                  <a:srgbClr val="E8EFF6"/>
                </a:solidFill>
                <a:latin typeface="Calibri" pitchFamily="34" charset="0"/>
                <a:ea typeface="Calibri" pitchFamily="34" charset="-122"/>
                <a:cs typeface="Calibri" pitchFamily="34" charset="-120"/>
              </a:rPr>
              <a:t>Titan / Cohere</a:t>
            </a:r>
            <a:endParaRPr lang="en-US" sz="950" dirty="0"/>
          </a:p>
        </p:txBody>
      </p:sp>
      <p:sp>
        <p:nvSpPr>
          <p:cNvPr id="20" name="Shape 18"/>
          <p:cNvSpPr/>
          <p:nvPr/>
        </p:nvSpPr>
        <p:spPr>
          <a:xfrm>
            <a:off x="6986016" y="1577340"/>
            <a:ext cx="164592" cy="45720"/>
          </a:xfrm>
          <a:prstGeom prst="rect">
            <a:avLst/>
          </a:prstGeom>
          <a:solidFill>
            <a:srgbClr val="8FA3B8"/>
          </a:solidFill>
          <a:ln w="12700">
            <a:solidFill>
              <a:srgbClr val="8FA3B8"/>
            </a:solidFill>
            <a:prstDash val="solid"/>
          </a:ln>
        </p:spPr>
        <p:txBody>
          <a:bodyPr/>
          <a:lstStyle/>
          <a:p>
            <a:endParaRPr lang="en-US"/>
          </a:p>
        </p:txBody>
      </p:sp>
      <p:sp>
        <p:nvSpPr>
          <p:cNvPr id="21" name="Shape 19"/>
          <p:cNvSpPr/>
          <p:nvPr/>
        </p:nvSpPr>
        <p:spPr>
          <a:xfrm>
            <a:off x="7150608" y="1051560"/>
            <a:ext cx="1554480" cy="1097280"/>
          </a:xfrm>
          <a:prstGeom prst="rect">
            <a:avLst/>
          </a:prstGeom>
          <a:solidFill>
            <a:srgbClr val="2ECC71">
              <a:alpha val="85000"/>
            </a:srgbClr>
          </a:solidFill>
          <a:ln w="12700">
            <a:solidFill>
              <a:srgbClr val="2ECC71"/>
            </a:solidFill>
            <a:prstDash val="solid"/>
          </a:ln>
        </p:spPr>
        <p:txBody>
          <a:bodyPr/>
          <a:lstStyle/>
          <a:p>
            <a:endParaRPr lang="en-US"/>
          </a:p>
        </p:txBody>
      </p:sp>
      <p:sp>
        <p:nvSpPr>
          <p:cNvPr id="22" name="Text 20"/>
          <p:cNvSpPr/>
          <p:nvPr/>
        </p:nvSpPr>
        <p:spPr>
          <a:xfrm>
            <a:off x="7150608" y="1124712"/>
            <a:ext cx="1554480"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Response</a:t>
            </a:r>
            <a:endParaRPr lang="en-US" sz="1100" dirty="0"/>
          </a:p>
        </p:txBody>
      </p:sp>
      <p:sp>
        <p:nvSpPr>
          <p:cNvPr id="23" name="Text 21"/>
          <p:cNvSpPr/>
          <p:nvPr/>
        </p:nvSpPr>
        <p:spPr>
          <a:xfrm>
            <a:off x="7150608" y="1618488"/>
            <a:ext cx="1554480" cy="438912"/>
          </a:xfrm>
          <a:prstGeom prst="rect">
            <a:avLst/>
          </a:prstGeom>
          <a:noFill/>
          <a:ln/>
        </p:spPr>
        <p:txBody>
          <a:bodyPr wrap="square" lIns="0" tIns="0" rIns="0" bIns="0" rtlCol="0" anchor="ctr"/>
          <a:lstStyle/>
          <a:p>
            <a:pPr marL="0" indent="0" algn="ctr">
              <a:buNone/>
            </a:pPr>
            <a:r>
              <a:rPr lang="en-US" sz="950" dirty="0">
                <a:solidFill>
                  <a:srgbClr val="E8EFF6"/>
                </a:solidFill>
                <a:latin typeface="Calibri" pitchFamily="34" charset="0"/>
                <a:ea typeface="Calibri" pitchFamily="34" charset="-122"/>
                <a:cs typeface="Calibri" pitchFamily="34" charset="-120"/>
              </a:rPr>
              <a:t>Text / Image</a:t>
            </a:r>
            <a:endParaRPr lang="en-US" sz="950" dirty="0"/>
          </a:p>
          <a:p>
            <a:pPr marL="0" indent="0" algn="ctr">
              <a:buNone/>
            </a:pPr>
            <a:r>
              <a:rPr lang="en-US" sz="950" dirty="0">
                <a:solidFill>
                  <a:srgbClr val="E8EFF6"/>
                </a:solidFill>
                <a:latin typeface="Calibri" pitchFamily="34" charset="0"/>
                <a:ea typeface="Calibri" pitchFamily="34" charset="-122"/>
                <a:cs typeface="Calibri" pitchFamily="34" charset="-120"/>
              </a:rPr>
              <a:t>Embeddings</a:t>
            </a:r>
            <a:endParaRPr lang="en-US" sz="950" dirty="0"/>
          </a:p>
        </p:txBody>
      </p:sp>
      <p:sp>
        <p:nvSpPr>
          <p:cNvPr id="24" name="Text 22"/>
          <p:cNvSpPr/>
          <p:nvPr/>
        </p:nvSpPr>
        <p:spPr>
          <a:xfrm>
            <a:off x="274320" y="2286000"/>
            <a:ext cx="8595360" cy="292608"/>
          </a:xfrm>
          <a:prstGeom prst="rect">
            <a:avLst/>
          </a:prstGeom>
          <a:noFill/>
          <a:ln/>
        </p:spPr>
        <p:txBody>
          <a:bodyPr wrap="square" lIns="0" tIns="0" rIns="0" bIns="0" rtlCol="0" anchor="ctr"/>
          <a:lstStyle/>
          <a:p>
            <a:pPr marL="0" indent="0">
              <a:buNone/>
            </a:pPr>
            <a:r>
              <a:rPr lang="en-US" sz="1100" i="1" dirty="0">
                <a:solidFill>
                  <a:srgbClr val="8FA3B8"/>
                </a:solidFill>
                <a:latin typeface="Calibri" pitchFamily="34" charset="0"/>
                <a:ea typeface="Calibri" pitchFamily="34" charset="-122"/>
                <a:cs typeface="Calibri" pitchFamily="34" charset="-120"/>
              </a:rPr>
              <a:t>How a request flows through Bedrock — in plain English:</a:t>
            </a:r>
            <a:endParaRPr lang="en-US" sz="1100" dirty="0"/>
          </a:p>
        </p:txBody>
      </p:sp>
      <p:sp>
        <p:nvSpPr>
          <p:cNvPr id="25" name="Shape 23"/>
          <p:cNvSpPr/>
          <p:nvPr/>
        </p:nvSpPr>
        <p:spPr>
          <a:xfrm>
            <a:off x="274320" y="2651760"/>
            <a:ext cx="1554480" cy="1920240"/>
          </a:xfrm>
          <a:prstGeom prst="rect">
            <a:avLst/>
          </a:prstGeom>
          <a:solidFill>
            <a:srgbClr val="1E3045"/>
          </a:solidFill>
          <a:ln w="12700">
            <a:solidFill>
              <a:srgbClr val="2A4060"/>
            </a:solidFill>
            <a:prstDash val="solid"/>
          </a:ln>
        </p:spPr>
        <p:txBody>
          <a:bodyPr/>
          <a:lstStyle/>
          <a:p>
            <a:endParaRPr lang="en-US"/>
          </a:p>
        </p:txBody>
      </p:sp>
      <p:sp>
        <p:nvSpPr>
          <p:cNvPr id="26" name="Shape 24"/>
          <p:cNvSpPr/>
          <p:nvPr/>
        </p:nvSpPr>
        <p:spPr>
          <a:xfrm>
            <a:off x="841248" y="2706624"/>
            <a:ext cx="411480" cy="411480"/>
          </a:xfrm>
          <a:prstGeom prst="ellipse">
            <a:avLst/>
          </a:prstGeom>
          <a:solidFill>
            <a:srgbClr val="00B3B3">
              <a:alpha val="80000"/>
            </a:srgbClr>
          </a:solidFill>
          <a:ln w="12700">
            <a:solidFill>
              <a:srgbClr val="00B3B3"/>
            </a:solidFill>
            <a:prstDash val="solid"/>
          </a:ln>
        </p:spPr>
        <p:txBody>
          <a:bodyPr/>
          <a:lstStyle/>
          <a:p>
            <a:endParaRPr lang="en-US"/>
          </a:p>
        </p:txBody>
      </p:sp>
      <p:sp>
        <p:nvSpPr>
          <p:cNvPr id="27" name="Text 25"/>
          <p:cNvSpPr/>
          <p:nvPr/>
        </p:nvSpPr>
        <p:spPr>
          <a:xfrm>
            <a:off x="841248" y="2706624"/>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8" name="Text 26"/>
          <p:cNvSpPr/>
          <p:nvPr/>
        </p:nvSpPr>
        <p:spPr>
          <a:xfrm>
            <a:off x="365760" y="3200400"/>
            <a:ext cx="1371600" cy="347472"/>
          </a:xfrm>
          <a:prstGeom prst="rect">
            <a:avLst/>
          </a:prstGeom>
          <a:noFill/>
          <a:ln/>
        </p:spPr>
        <p:txBody>
          <a:bodyPr wrap="square" lIns="0" tIns="0" rIns="0" bIns="0" rtlCol="0" anchor="ctr"/>
          <a:lstStyle/>
          <a:p>
            <a:pPr marL="0" indent="0" algn="ctr">
              <a:buNone/>
            </a:pPr>
            <a:r>
              <a:rPr lang="en-US" sz="1050" b="1" dirty="0">
                <a:solidFill>
                  <a:srgbClr val="00B3B3"/>
                </a:solidFill>
                <a:latin typeface="Calibri" pitchFamily="34" charset="0"/>
                <a:ea typeface="Calibri" pitchFamily="34" charset="-122"/>
                <a:cs typeface="Calibri" pitchFamily="34" charset="-120"/>
              </a:rPr>
              <a:t>You send a request</a:t>
            </a:r>
            <a:endParaRPr lang="en-US" sz="1050" dirty="0"/>
          </a:p>
        </p:txBody>
      </p:sp>
      <p:sp>
        <p:nvSpPr>
          <p:cNvPr id="29" name="Text 27"/>
          <p:cNvSpPr/>
          <p:nvPr/>
        </p:nvSpPr>
        <p:spPr>
          <a:xfrm>
            <a:off x="365760" y="3566160"/>
            <a:ext cx="1371600" cy="868680"/>
          </a:xfrm>
          <a:prstGeom prst="rect">
            <a:avLst/>
          </a:prstGeom>
          <a:noFill/>
          <a:ln/>
        </p:spPr>
        <p:txBody>
          <a:bodyPr wrap="square" lIns="0" tIns="0" rIns="0" bIns="0" rtlCol="0" anchor="ctr"/>
          <a:lstStyle/>
          <a:p>
            <a:pPr marL="0" indent="0" algn="ctr">
              <a:buNone/>
            </a:pPr>
            <a:r>
              <a:rPr lang="en-US" sz="950" dirty="0">
                <a:solidFill>
                  <a:srgbClr val="E8EFF6"/>
                </a:solidFill>
                <a:latin typeface="Calibri" pitchFamily="34" charset="0"/>
                <a:ea typeface="Calibri" pitchFamily="34" charset="-122"/>
                <a:cs typeface="Calibri" pitchFamily="34" charset="-120"/>
              </a:rPr>
              <a:t>Your app, chatbot, or web page sends a text prompt to AWS.</a:t>
            </a:r>
            <a:endParaRPr lang="en-US" sz="950" dirty="0"/>
          </a:p>
        </p:txBody>
      </p:sp>
      <p:sp>
        <p:nvSpPr>
          <p:cNvPr id="30" name="Shape 28"/>
          <p:cNvSpPr/>
          <p:nvPr/>
        </p:nvSpPr>
        <p:spPr>
          <a:xfrm>
            <a:off x="1993392" y="2651760"/>
            <a:ext cx="1554480" cy="1920240"/>
          </a:xfrm>
          <a:prstGeom prst="rect">
            <a:avLst/>
          </a:prstGeom>
          <a:solidFill>
            <a:srgbClr val="1E3045"/>
          </a:solidFill>
          <a:ln w="12700">
            <a:solidFill>
              <a:srgbClr val="2A4060"/>
            </a:solidFill>
            <a:prstDash val="solid"/>
          </a:ln>
        </p:spPr>
        <p:txBody>
          <a:bodyPr/>
          <a:lstStyle/>
          <a:p>
            <a:endParaRPr lang="en-US"/>
          </a:p>
        </p:txBody>
      </p:sp>
      <p:sp>
        <p:nvSpPr>
          <p:cNvPr id="31" name="Shape 29"/>
          <p:cNvSpPr/>
          <p:nvPr/>
        </p:nvSpPr>
        <p:spPr>
          <a:xfrm>
            <a:off x="2560320" y="2706624"/>
            <a:ext cx="411480" cy="411480"/>
          </a:xfrm>
          <a:prstGeom prst="ellipse">
            <a:avLst/>
          </a:prstGeom>
          <a:solidFill>
            <a:srgbClr val="1A73E8">
              <a:alpha val="80000"/>
            </a:srgbClr>
          </a:solidFill>
          <a:ln w="12700">
            <a:solidFill>
              <a:srgbClr val="1A73E8"/>
            </a:solidFill>
            <a:prstDash val="solid"/>
          </a:ln>
        </p:spPr>
        <p:txBody>
          <a:bodyPr/>
          <a:lstStyle/>
          <a:p>
            <a:endParaRPr lang="en-US"/>
          </a:p>
        </p:txBody>
      </p:sp>
      <p:sp>
        <p:nvSpPr>
          <p:cNvPr id="32" name="Text 30"/>
          <p:cNvSpPr/>
          <p:nvPr/>
        </p:nvSpPr>
        <p:spPr>
          <a:xfrm>
            <a:off x="2560320" y="2706624"/>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3" name="Text 31"/>
          <p:cNvSpPr/>
          <p:nvPr/>
        </p:nvSpPr>
        <p:spPr>
          <a:xfrm>
            <a:off x="2084832" y="3200400"/>
            <a:ext cx="1371600" cy="347472"/>
          </a:xfrm>
          <a:prstGeom prst="rect">
            <a:avLst/>
          </a:prstGeom>
          <a:noFill/>
          <a:ln/>
        </p:spPr>
        <p:txBody>
          <a:bodyPr wrap="square" lIns="0" tIns="0" rIns="0" bIns="0" rtlCol="0" anchor="ctr"/>
          <a:lstStyle/>
          <a:p>
            <a:pPr marL="0" indent="0" algn="ctr">
              <a:buNone/>
            </a:pPr>
            <a:r>
              <a:rPr lang="en-US" sz="1050" b="1" dirty="0">
                <a:solidFill>
                  <a:srgbClr val="1A73E8"/>
                </a:solidFill>
                <a:latin typeface="Calibri" pitchFamily="34" charset="0"/>
                <a:ea typeface="Calibri" pitchFamily="34" charset="-122"/>
                <a:cs typeface="Calibri" pitchFamily="34" charset="-120"/>
              </a:rPr>
              <a:t>AWS checks identity</a:t>
            </a:r>
            <a:endParaRPr lang="en-US" sz="1050" dirty="0"/>
          </a:p>
        </p:txBody>
      </p:sp>
      <p:sp>
        <p:nvSpPr>
          <p:cNvPr id="34" name="Text 32"/>
          <p:cNvSpPr/>
          <p:nvPr/>
        </p:nvSpPr>
        <p:spPr>
          <a:xfrm>
            <a:off x="2084832" y="3566160"/>
            <a:ext cx="1371600" cy="868680"/>
          </a:xfrm>
          <a:prstGeom prst="rect">
            <a:avLst/>
          </a:prstGeom>
          <a:noFill/>
          <a:ln/>
        </p:spPr>
        <p:txBody>
          <a:bodyPr wrap="square" lIns="0" tIns="0" rIns="0" bIns="0" rtlCol="0" anchor="ctr"/>
          <a:lstStyle/>
          <a:p>
            <a:pPr marL="0" indent="0" algn="ctr">
              <a:buNone/>
            </a:pPr>
            <a:r>
              <a:rPr lang="en-US" sz="950" dirty="0">
                <a:solidFill>
                  <a:srgbClr val="E8EFF6"/>
                </a:solidFill>
                <a:latin typeface="Calibri" pitchFamily="34" charset="0"/>
                <a:ea typeface="Calibri" pitchFamily="34" charset="-122"/>
                <a:cs typeface="Calibri" pitchFamily="34" charset="-120"/>
              </a:rPr>
              <a:t>The API Gateway verifies who you are using AWS credentials (IAM).</a:t>
            </a:r>
            <a:endParaRPr lang="en-US" sz="950" dirty="0"/>
          </a:p>
        </p:txBody>
      </p:sp>
      <p:sp>
        <p:nvSpPr>
          <p:cNvPr id="35" name="Shape 33"/>
          <p:cNvSpPr/>
          <p:nvPr/>
        </p:nvSpPr>
        <p:spPr>
          <a:xfrm>
            <a:off x="3712464" y="2651760"/>
            <a:ext cx="1554480" cy="1920240"/>
          </a:xfrm>
          <a:prstGeom prst="rect">
            <a:avLst/>
          </a:prstGeom>
          <a:solidFill>
            <a:srgbClr val="1E3045"/>
          </a:solidFill>
          <a:ln w="12700">
            <a:solidFill>
              <a:srgbClr val="2A4060"/>
            </a:solidFill>
            <a:prstDash val="solid"/>
          </a:ln>
        </p:spPr>
        <p:txBody>
          <a:bodyPr/>
          <a:lstStyle/>
          <a:p>
            <a:endParaRPr lang="en-US"/>
          </a:p>
        </p:txBody>
      </p:sp>
      <p:sp>
        <p:nvSpPr>
          <p:cNvPr id="36" name="Shape 34"/>
          <p:cNvSpPr/>
          <p:nvPr/>
        </p:nvSpPr>
        <p:spPr>
          <a:xfrm>
            <a:off x="4279392" y="2706624"/>
            <a:ext cx="411480" cy="411480"/>
          </a:xfrm>
          <a:prstGeom prst="ellipse">
            <a:avLst/>
          </a:prstGeom>
          <a:solidFill>
            <a:srgbClr val="FF9900">
              <a:alpha val="80000"/>
            </a:srgbClr>
          </a:solidFill>
          <a:ln w="12700">
            <a:solidFill>
              <a:srgbClr val="FF9900"/>
            </a:solidFill>
            <a:prstDash val="solid"/>
          </a:ln>
        </p:spPr>
        <p:txBody>
          <a:bodyPr/>
          <a:lstStyle/>
          <a:p>
            <a:endParaRPr lang="en-US"/>
          </a:p>
        </p:txBody>
      </p:sp>
      <p:sp>
        <p:nvSpPr>
          <p:cNvPr id="37" name="Text 35"/>
          <p:cNvSpPr/>
          <p:nvPr/>
        </p:nvSpPr>
        <p:spPr>
          <a:xfrm>
            <a:off x="4279392" y="2706624"/>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8" name="Text 36"/>
          <p:cNvSpPr/>
          <p:nvPr/>
        </p:nvSpPr>
        <p:spPr>
          <a:xfrm>
            <a:off x="3803904" y="3200400"/>
            <a:ext cx="1371600" cy="347472"/>
          </a:xfrm>
          <a:prstGeom prst="rect">
            <a:avLst/>
          </a:prstGeom>
          <a:noFill/>
          <a:ln/>
        </p:spPr>
        <p:txBody>
          <a:bodyPr wrap="square" lIns="0" tIns="0" rIns="0" bIns="0" rtlCol="0" anchor="ctr"/>
          <a:lstStyle/>
          <a:p>
            <a:pPr marL="0" indent="0" algn="ctr">
              <a:buNone/>
            </a:pPr>
            <a:r>
              <a:rPr lang="en-US" sz="1050" b="1" dirty="0">
                <a:solidFill>
                  <a:srgbClr val="FF9900"/>
                </a:solidFill>
                <a:latin typeface="Calibri" pitchFamily="34" charset="0"/>
                <a:ea typeface="Calibri" pitchFamily="34" charset="-122"/>
                <a:cs typeface="Calibri" pitchFamily="34" charset="-120"/>
              </a:rPr>
              <a:t>Bedrock routes it</a:t>
            </a:r>
            <a:endParaRPr lang="en-US" sz="1050" dirty="0"/>
          </a:p>
        </p:txBody>
      </p:sp>
      <p:sp>
        <p:nvSpPr>
          <p:cNvPr id="39" name="Text 37"/>
          <p:cNvSpPr/>
          <p:nvPr/>
        </p:nvSpPr>
        <p:spPr>
          <a:xfrm>
            <a:off x="3803904" y="3566160"/>
            <a:ext cx="1371600" cy="868680"/>
          </a:xfrm>
          <a:prstGeom prst="rect">
            <a:avLst/>
          </a:prstGeom>
          <a:noFill/>
          <a:ln/>
        </p:spPr>
        <p:txBody>
          <a:bodyPr wrap="square" lIns="0" tIns="0" rIns="0" bIns="0" rtlCol="0" anchor="ctr"/>
          <a:lstStyle/>
          <a:p>
            <a:pPr marL="0" indent="0" algn="ctr">
              <a:buNone/>
            </a:pPr>
            <a:r>
              <a:rPr lang="en-US" sz="950" dirty="0">
                <a:solidFill>
                  <a:srgbClr val="E8EFF6"/>
                </a:solidFill>
                <a:latin typeface="Calibri" pitchFamily="34" charset="0"/>
                <a:ea typeface="Calibri" pitchFamily="34" charset="-122"/>
                <a:cs typeface="Calibri" pitchFamily="34" charset="-120"/>
              </a:rPr>
              <a:t>Bedrock receives your prompt and decides which AI model to send it to.</a:t>
            </a:r>
            <a:endParaRPr lang="en-US" sz="950" dirty="0"/>
          </a:p>
        </p:txBody>
      </p:sp>
      <p:sp>
        <p:nvSpPr>
          <p:cNvPr id="40" name="Shape 38"/>
          <p:cNvSpPr/>
          <p:nvPr/>
        </p:nvSpPr>
        <p:spPr>
          <a:xfrm>
            <a:off x="5431536" y="2651760"/>
            <a:ext cx="1554480" cy="1920240"/>
          </a:xfrm>
          <a:prstGeom prst="rect">
            <a:avLst/>
          </a:prstGeom>
          <a:solidFill>
            <a:srgbClr val="1E3045"/>
          </a:solidFill>
          <a:ln w="12700">
            <a:solidFill>
              <a:srgbClr val="2A4060"/>
            </a:solidFill>
            <a:prstDash val="solid"/>
          </a:ln>
        </p:spPr>
        <p:txBody>
          <a:bodyPr/>
          <a:lstStyle/>
          <a:p>
            <a:endParaRPr lang="en-US"/>
          </a:p>
        </p:txBody>
      </p:sp>
      <p:sp>
        <p:nvSpPr>
          <p:cNvPr id="41" name="Shape 39"/>
          <p:cNvSpPr/>
          <p:nvPr/>
        </p:nvSpPr>
        <p:spPr>
          <a:xfrm>
            <a:off x="5998464" y="2706624"/>
            <a:ext cx="411480" cy="411480"/>
          </a:xfrm>
          <a:prstGeom prst="ellipse">
            <a:avLst/>
          </a:prstGeom>
          <a:solidFill>
            <a:srgbClr val="9B59B6">
              <a:alpha val="80000"/>
            </a:srgbClr>
          </a:solidFill>
          <a:ln w="12700">
            <a:solidFill>
              <a:srgbClr val="9B59B6"/>
            </a:solidFill>
            <a:prstDash val="solid"/>
          </a:ln>
        </p:spPr>
        <p:txBody>
          <a:bodyPr/>
          <a:lstStyle/>
          <a:p>
            <a:endParaRPr lang="en-US"/>
          </a:p>
        </p:txBody>
      </p:sp>
      <p:sp>
        <p:nvSpPr>
          <p:cNvPr id="42" name="Text 40"/>
          <p:cNvSpPr/>
          <p:nvPr/>
        </p:nvSpPr>
        <p:spPr>
          <a:xfrm>
            <a:off x="5998464" y="2706624"/>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3" name="Text 41"/>
          <p:cNvSpPr/>
          <p:nvPr/>
        </p:nvSpPr>
        <p:spPr>
          <a:xfrm>
            <a:off x="5522976" y="3200400"/>
            <a:ext cx="1371600" cy="347472"/>
          </a:xfrm>
          <a:prstGeom prst="rect">
            <a:avLst/>
          </a:prstGeom>
          <a:noFill/>
          <a:ln/>
        </p:spPr>
        <p:txBody>
          <a:bodyPr wrap="square" lIns="0" tIns="0" rIns="0" bIns="0" rtlCol="0" anchor="ctr"/>
          <a:lstStyle/>
          <a:p>
            <a:pPr marL="0" indent="0" algn="ctr">
              <a:buNone/>
            </a:pPr>
            <a:r>
              <a:rPr lang="en-US" sz="1050" b="1" dirty="0">
                <a:solidFill>
                  <a:srgbClr val="9B59B6"/>
                </a:solidFill>
                <a:latin typeface="Calibri" pitchFamily="34" charset="0"/>
                <a:ea typeface="Calibri" pitchFamily="34" charset="-122"/>
                <a:cs typeface="Calibri" pitchFamily="34" charset="-120"/>
              </a:rPr>
              <a:t>AI model thinks</a:t>
            </a:r>
            <a:endParaRPr lang="en-US" sz="1050" dirty="0"/>
          </a:p>
        </p:txBody>
      </p:sp>
      <p:sp>
        <p:nvSpPr>
          <p:cNvPr id="44" name="Text 42"/>
          <p:cNvSpPr/>
          <p:nvPr/>
        </p:nvSpPr>
        <p:spPr>
          <a:xfrm>
            <a:off x="5522976" y="3566160"/>
            <a:ext cx="1371600" cy="868680"/>
          </a:xfrm>
          <a:prstGeom prst="rect">
            <a:avLst/>
          </a:prstGeom>
          <a:noFill/>
          <a:ln/>
        </p:spPr>
        <p:txBody>
          <a:bodyPr wrap="square" lIns="0" tIns="0" rIns="0" bIns="0" rtlCol="0" anchor="ctr"/>
          <a:lstStyle/>
          <a:p>
            <a:pPr marL="0" indent="0" algn="ctr">
              <a:buNone/>
            </a:pPr>
            <a:r>
              <a:rPr lang="en-US" sz="950" dirty="0">
                <a:solidFill>
                  <a:srgbClr val="E8EFF6"/>
                </a:solidFill>
                <a:latin typeface="Calibri" pitchFamily="34" charset="0"/>
                <a:ea typeface="Calibri" pitchFamily="34" charset="-122"/>
                <a:cs typeface="Calibri" pitchFamily="34" charset="-120"/>
              </a:rPr>
              <a:t>The Foundation Model (e.g. Claude) reads your prompt and generates a reply.</a:t>
            </a:r>
            <a:endParaRPr lang="en-US" sz="950" dirty="0"/>
          </a:p>
        </p:txBody>
      </p:sp>
      <p:sp>
        <p:nvSpPr>
          <p:cNvPr id="45" name="Shape 43"/>
          <p:cNvSpPr/>
          <p:nvPr/>
        </p:nvSpPr>
        <p:spPr>
          <a:xfrm>
            <a:off x="7150608" y="2651760"/>
            <a:ext cx="1554480" cy="1920240"/>
          </a:xfrm>
          <a:prstGeom prst="rect">
            <a:avLst/>
          </a:prstGeom>
          <a:solidFill>
            <a:srgbClr val="1E3045"/>
          </a:solidFill>
          <a:ln w="12700">
            <a:solidFill>
              <a:srgbClr val="2A4060"/>
            </a:solidFill>
            <a:prstDash val="solid"/>
          </a:ln>
        </p:spPr>
        <p:txBody>
          <a:bodyPr/>
          <a:lstStyle/>
          <a:p>
            <a:endParaRPr lang="en-US"/>
          </a:p>
        </p:txBody>
      </p:sp>
      <p:sp>
        <p:nvSpPr>
          <p:cNvPr id="46" name="Shape 44"/>
          <p:cNvSpPr/>
          <p:nvPr/>
        </p:nvSpPr>
        <p:spPr>
          <a:xfrm>
            <a:off x="7717536" y="2706624"/>
            <a:ext cx="411480" cy="411480"/>
          </a:xfrm>
          <a:prstGeom prst="ellipse">
            <a:avLst/>
          </a:prstGeom>
          <a:solidFill>
            <a:srgbClr val="2ECC71">
              <a:alpha val="80000"/>
            </a:srgbClr>
          </a:solidFill>
          <a:ln w="12700">
            <a:solidFill>
              <a:srgbClr val="2ECC71"/>
            </a:solidFill>
            <a:prstDash val="solid"/>
          </a:ln>
        </p:spPr>
        <p:txBody>
          <a:bodyPr/>
          <a:lstStyle/>
          <a:p>
            <a:endParaRPr lang="en-US"/>
          </a:p>
        </p:txBody>
      </p:sp>
      <p:sp>
        <p:nvSpPr>
          <p:cNvPr id="47" name="Text 45"/>
          <p:cNvSpPr/>
          <p:nvPr/>
        </p:nvSpPr>
        <p:spPr>
          <a:xfrm>
            <a:off x="7717536" y="2706624"/>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8" name="Text 46"/>
          <p:cNvSpPr/>
          <p:nvPr/>
        </p:nvSpPr>
        <p:spPr>
          <a:xfrm>
            <a:off x="7242048" y="3200400"/>
            <a:ext cx="1371600" cy="347472"/>
          </a:xfrm>
          <a:prstGeom prst="rect">
            <a:avLst/>
          </a:prstGeom>
          <a:noFill/>
          <a:ln/>
        </p:spPr>
        <p:txBody>
          <a:bodyPr wrap="square" lIns="0" tIns="0" rIns="0" bIns="0" rtlCol="0" anchor="ctr"/>
          <a:lstStyle/>
          <a:p>
            <a:pPr marL="0" indent="0" algn="ctr">
              <a:buNone/>
            </a:pPr>
            <a:r>
              <a:rPr lang="en-US" sz="1050" b="1" dirty="0">
                <a:solidFill>
                  <a:srgbClr val="2ECC71"/>
                </a:solidFill>
                <a:latin typeface="Calibri" pitchFamily="34" charset="0"/>
                <a:ea typeface="Calibri" pitchFamily="34" charset="-122"/>
                <a:cs typeface="Calibri" pitchFamily="34" charset="-120"/>
              </a:rPr>
              <a:t>You get an answer</a:t>
            </a:r>
            <a:endParaRPr lang="en-US" sz="1050" dirty="0"/>
          </a:p>
        </p:txBody>
      </p:sp>
      <p:sp>
        <p:nvSpPr>
          <p:cNvPr id="49" name="Text 47"/>
          <p:cNvSpPr/>
          <p:nvPr/>
        </p:nvSpPr>
        <p:spPr>
          <a:xfrm>
            <a:off x="7242048" y="3566160"/>
            <a:ext cx="1371600" cy="868680"/>
          </a:xfrm>
          <a:prstGeom prst="rect">
            <a:avLst/>
          </a:prstGeom>
          <a:noFill/>
          <a:ln/>
        </p:spPr>
        <p:txBody>
          <a:bodyPr wrap="square" lIns="0" tIns="0" rIns="0" bIns="0" rtlCol="0" anchor="ctr"/>
          <a:lstStyle/>
          <a:p>
            <a:pPr marL="0" indent="0" algn="ctr">
              <a:buNone/>
            </a:pPr>
            <a:r>
              <a:rPr lang="en-US" sz="950" dirty="0">
                <a:solidFill>
                  <a:srgbClr val="E8EFF6"/>
                </a:solidFill>
                <a:latin typeface="Calibri" pitchFamily="34" charset="0"/>
                <a:ea typeface="Calibri" pitchFamily="34" charset="-122"/>
                <a:cs typeface="Calibri" pitchFamily="34" charset="-120"/>
              </a:rPr>
              <a:t>The generated text, image, or data is streamed back to your app.</a:t>
            </a:r>
            <a:endParaRPr lang="en-US" sz="950" dirty="0"/>
          </a:p>
        </p:txBody>
      </p:sp>
      <p:sp>
        <p:nvSpPr>
          <p:cNvPr id="50" name="Shape 48"/>
          <p:cNvSpPr/>
          <p:nvPr/>
        </p:nvSpPr>
        <p:spPr>
          <a:xfrm>
            <a:off x="0" y="4686300"/>
            <a:ext cx="9144000" cy="457200"/>
          </a:xfrm>
          <a:prstGeom prst="rect">
            <a:avLst/>
          </a:prstGeom>
          <a:solidFill>
            <a:srgbClr val="162232"/>
          </a:solidFill>
          <a:ln w="12700">
            <a:solidFill>
              <a:srgbClr val="162232"/>
            </a:solidFill>
            <a:prstDash val="solid"/>
          </a:ln>
        </p:spPr>
        <p:txBody>
          <a:bodyPr/>
          <a:lstStyle/>
          <a:p>
            <a:endParaRPr lang="en-US"/>
          </a:p>
        </p:txBody>
      </p:sp>
      <p:sp>
        <p:nvSpPr>
          <p:cNvPr id="51" name="Text 49"/>
          <p:cNvSpPr/>
          <p:nvPr/>
        </p:nvSpPr>
        <p:spPr>
          <a:xfrm>
            <a:off x="457200" y="4686300"/>
            <a:ext cx="7315200" cy="457200"/>
          </a:xfrm>
          <a:prstGeom prst="rect">
            <a:avLst/>
          </a:prstGeom>
          <a:noFill/>
          <a:ln/>
        </p:spPr>
        <p:txBody>
          <a:bodyPr wrap="square" rtlCol="0" anchor="ctr"/>
          <a:lstStyle/>
          <a:p>
            <a:pPr marL="0" indent="0">
              <a:buNone/>
            </a:pPr>
            <a:r>
              <a:rPr lang="en-US" sz="1000" dirty="0">
                <a:solidFill>
                  <a:srgbClr val="8FA3B8"/>
                </a:solidFill>
                <a:latin typeface="Calibri" pitchFamily="34" charset="0"/>
                <a:ea typeface="Calibri" pitchFamily="34" charset="-122"/>
                <a:cs typeface="Calibri" pitchFamily="34" charset="-120"/>
              </a:rPr>
              <a:t>Amazon Bedrock | Cloud Computing Presentation</a:t>
            </a:r>
            <a:endParaRPr lang="en-US" sz="1000" dirty="0"/>
          </a:p>
        </p:txBody>
      </p:sp>
      <p:sp>
        <p:nvSpPr>
          <p:cNvPr id="52" name="Text 50"/>
          <p:cNvSpPr/>
          <p:nvPr/>
        </p:nvSpPr>
        <p:spPr>
          <a:xfrm>
            <a:off x="8046720" y="4686300"/>
            <a:ext cx="914400" cy="457200"/>
          </a:xfrm>
          <a:prstGeom prst="rect">
            <a:avLst/>
          </a:prstGeom>
          <a:noFill/>
          <a:ln/>
        </p:spPr>
        <p:txBody>
          <a:bodyPr wrap="square" rtlCol="0" anchor="ctr"/>
          <a:lstStyle/>
          <a:p>
            <a:pPr marL="0" indent="0" algn="r">
              <a:buNone/>
            </a:pPr>
            <a:r>
              <a:rPr lang="en-US" sz="1000" dirty="0">
                <a:solidFill>
                  <a:srgbClr val="8FA3B8"/>
                </a:solidFill>
                <a:latin typeface="Calibri" pitchFamily="34" charset="0"/>
                <a:ea typeface="Calibri" pitchFamily="34" charset="-122"/>
                <a:cs typeface="Calibri" pitchFamily="34" charset="-120"/>
              </a:rPr>
              <a:t>4 / 14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9B59B6"/>
          </a:solidFill>
          <a:ln w="12700">
            <a:solidFill>
              <a:srgbClr val="9B59B6"/>
            </a:solidFill>
            <a:prstDash val="solid"/>
          </a:ln>
        </p:spPr>
        <p:txBody>
          <a:bodyPr/>
          <a:lstStyle/>
          <a:p>
            <a:endParaRPr lang="en-US"/>
          </a:p>
        </p:txBody>
      </p:sp>
      <p:sp>
        <p:nvSpPr>
          <p:cNvPr id="3" name="Text 1"/>
          <p:cNvSpPr/>
          <p:nvPr/>
        </p:nvSpPr>
        <p:spPr>
          <a:xfrm>
            <a:off x="457200" y="164592"/>
            <a:ext cx="8229600" cy="274320"/>
          </a:xfrm>
          <a:prstGeom prst="rect">
            <a:avLst/>
          </a:prstGeom>
          <a:noFill/>
          <a:ln/>
        </p:spPr>
        <p:txBody>
          <a:bodyPr wrap="square" rtlCol="0" anchor="ctr"/>
          <a:lstStyle/>
          <a:p>
            <a:pPr marL="0" indent="0">
              <a:buNone/>
            </a:pPr>
            <a:r>
              <a:rPr lang="en-US" sz="1000" b="1" kern="0" spc="400" dirty="0">
                <a:solidFill>
                  <a:srgbClr val="9B59B6"/>
                </a:solidFill>
                <a:latin typeface="Calibri" pitchFamily="34" charset="0"/>
                <a:ea typeface="Calibri" pitchFamily="34" charset="-122"/>
                <a:cs typeface="Calibri" pitchFamily="34" charset="-120"/>
              </a:rPr>
              <a:t>FOUNDATION MODELS</a:t>
            </a:r>
            <a:endParaRPr lang="en-US" sz="1000" dirty="0"/>
          </a:p>
        </p:txBody>
      </p:sp>
      <p:sp>
        <p:nvSpPr>
          <p:cNvPr id="4" name="Text 2"/>
          <p:cNvSpPr/>
          <p:nvPr/>
        </p:nvSpPr>
        <p:spPr>
          <a:xfrm>
            <a:off x="457200" y="420624"/>
            <a:ext cx="8229600" cy="47548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 FM Ecosystem in Bedrock</a:t>
            </a:r>
            <a:endParaRPr lang="en-US" sz="2800" dirty="0"/>
          </a:p>
        </p:txBody>
      </p:sp>
      <p:sp>
        <p:nvSpPr>
          <p:cNvPr id="5" name="Shape 3"/>
          <p:cNvSpPr/>
          <p:nvPr/>
        </p:nvSpPr>
        <p:spPr>
          <a:xfrm>
            <a:off x="320040" y="969264"/>
            <a:ext cx="8503920" cy="658368"/>
          </a:xfrm>
          <a:prstGeom prst="rect">
            <a:avLst/>
          </a:prstGeom>
          <a:solidFill>
            <a:srgbClr val="1E3045"/>
          </a:solidFill>
          <a:ln w="12700">
            <a:solidFill>
              <a:srgbClr val="9B59B6">
                <a:alpha val="60000"/>
              </a:srgbClr>
            </a:solidFill>
            <a:prstDash val="solid"/>
          </a:ln>
        </p:spPr>
        <p:txBody>
          <a:bodyPr/>
          <a:lstStyle/>
          <a:p>
            <a:endParaRPr lang="en-US"/>
          </a:p>
        </p:txBody>
      </p:sp>
      <p:sp>
        <p:nvSpPr>
          <p:cNvPr id="6" name="Shape 4"/>
          <p:cNvSpPr/>
          <p:nvPr/>
        </p:nvSpPr>
        <p:spPr>
          <a:xfrm>
            <a:off x="320040" y="969264"/>
            <a:ext cx="64008" cy="658368"/>
          </a:xfrm>
          <a:prstGeom prst="rect">
            <a:avLst/>
          </a:prstGeom>
          <a:solidFill>
            <a:srgbClr val="9B59B6"/>
          </a:solidFill>
          <a:ln w="12700">
            <a:solidFill>
              <a:srgbClr val="9B59B6"/>
            </a:solidFill>
            <a:prstDash val="solid"/>
          </a:ln>
        </p:spPr>
        <p:txBody>
          <a:bodyPr/>
          <a:lstStyle/>
          <a:p>
            <a:endParaRPr lang="en-US"/>
          </a:p>
        </p:txBody>
      </p:sp>
      <p:sp>
        <p:nvSpPr>
          <p:cNvPr id="7" name="Shape 5"/>
          <p:cNvSpPr/>
          <p:nvPr/>
        </p:nvSpPr>
        <p:spPr>
          <a:xfrm>
            <a:off x="502920" y="1078992"/>
            <a:ext cx="594360" cy="347472"/>
          </a:xfrm>
          <a:prstGeom prst="rect">
            <a:avLst/>
          </a:prstGeom>
          <a:solidFill>
            <a:srgbClr val="9B59B6">
              <a:alpha val="75000"/>
            </a:srgbClr>
          </a:solidFill>
          <a:ln w="12700">
            <a:solidFill>
              <a:srgbClr val="9B59B6"/>
            </a:solidFill>
            <a:prstDash val="solid"/>
          </a:ln>
        </p:spPr>
        <p:txBody>
          <a:bodyPr/>
          <a:lstStyle/>
          <a:p>
            <a:endParaRPr lang="en-US"/>
          </a:p>
        </p:txBody>
      </p:sp>
      <p:sp>
        <p:nvSpPr>
          <p:cNvPr id="8" name="Text 6"/>
          <p:cNvSpPr/>
          <p:nvPr/>
        </p:nvSpPr>
        <p:spPr>
          <a:xfrm>
            <a:off x="502920" y="1078992"/>
            <a:ext cx="5943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FM =</a:t>
            </a:r>
            <a:endParaRPr lang="en-US" sz="1100" dirty="0"/>
          </a:p>
        </p:txBody>
      </p:sp>
      <p:sp>
        <p:nvSpPr>
          <p:cNvPr id="9" name="Text 7"/>
          <p:cNvSpPr/>
          <p:nvPr/>
        </p:nvSpPr>
        <p:spPr>
          <a:xfrm>
            <a:off x="1234440" y="1005840"/>
            <a:ext cx="7452360" cy="566928"/>
          </a:xfrm>
          <a:prstGeom prst="rect">
            <a:avLst/>
          </a:prstGeom>
          <a:noFill/>
          <a:ln/>
        </p:spPr>
        <p:txBody>
          <a:bodyPr wrap="square" lIns="0" tIns="0" rIns="0" bIns="0" rtlCol="0" anchor="ctr"/>
          <a:lstStyle/>
          <a:p>
            <a:pPr marL="0" indent="0">
              <a:buNone/>
            </a:pPr>
            <a:r>
              <a:rPr lang="en-US" sz="1050" dirty="0">
                <a:solidFill>
                  <a:srgbClr val="E8EFF6"/>
                </a:solidFill>
                <a:latin typeface="Calibri" pitchFamily="34" charset="0"/>
                <a:ea typeface="Calibri" pitchFamily="34" charset="-122"/>
                <a:cs typeface="Calibri" pitchFamily="34" charset="-120"/>
              </a:rPr>
              <a:t>A Foundation Model is a large AI trained on massive amounts of text/data that can be adapted to many tasks — writing, answering questions, summarizing, coding, and more. Think of it as a very capable, general-purpose AI brain you can plug into your app via an API.</a:t>
            </a:r>
            <a:endParaRPr lang="en-US" sz="1050" dirty="0"/>
          </a:p>
        </p:txBody>
      </p:sp>
      <p:sp>
        <p:nvSpPr>
          <p:cNvPr id="10" name="Shape 8"/>
          <p:cNvSpPr/>
          <p:nvPr/>
        </p:nvSpPr>
        <p:spPr>
          <a:xfrm>
            <a:off x="320040" y="1737360"/>
            <a:ext cx="2743200" cy="1371600"/>
          </a:xfrm>
          <a:prstGeom prst="rect">
            <a:avLst/>
          </a:prstGeom>
          <a:solidFill>
            <a:srgbClr val="6C3483">
              <a:alpha val="22000"/>
            </a:srgbClr>
          </a:solidFill>
          <a:ln w="12700">
            <a:solidFill>
              <a:srgbClr val="6C3483"/>
            </a:solidFill>
            <a:prstDash val="solid"/>
          </a:ln>
        </p:spPr>
        <p:txBody>
          <a:bodyPr/>
          <a:lstStyle/>
          <a:p>
            <a:endParaRPr lang="en-US"/>
          </a:p>
        </p:txBody>
      </p:sp>
      <p:sp>
        <p:nvSpPr>
          <p:cNvPr id="11" name="Shape 9"/>
          <p:cNvSpPr/>
          <p:nvPr/>
        </p:nvSpPr>
        <p:spPr>
          <a:xfrm>
            <a:off x="320040" y="1737360"/>
            <a:ext cx="2743200" cy="50292"/>
          </a:xfrm>
          <a:prstGeom prst="rect">
            <a:avLst/>
          </a:prstGeom>
          <a:solidFill>
            <a:srgbClr val="6C3483"/>
          </a:solidFill>
          <a:ln w="12700">
            <a:solidFill>
              <a:srgbClr val="6C3483"/>
            </a:solidFill>
            <a:prstDash val="solid"/>
          </a:ln>
        </p:spPr>
        <p:txBody>
          <a:bodyPr/>
          <a:lstStyle/>
          <a:p>
            <a:endParaRPr lang="en-US"/>
          </a:p>
        </p:txBody>
      </p:sp>
      <p:sp>
        <p:nvSpPr>
          <p:cNvPr id="12" name="Shape 10"/>
          <p:cNvSpPr/>
          <p:nvPr/>
        </p:nvSpPr>
        <p:spPr>
          <a:xfrm>
            <a:off x="429768" y="1847088"/>
            <a:ext cx="822960" cy="274320"/>
          </a:xfrm>
          <a:prstGeom prst="rect">
            <a:avLst/>
          </a:prstGeom>
          <a:solidFill>
            <a:srgbClr val="6C3483"/>
          </a:solidFill>
          <a:ln w="12700">
            <a:solidFill>
              <a:srgbClr val="6C3483"/>
            </a:solidFill>
            <a:prstDash val="solid"/>
          </a:ln>
        </p:spPr>
        <p:txBody>
          <a:bodyPr/>
          <a:lstStyle/>
          <a:p>
            <a:endParaRPr lang="en-US"/>
          </a:p>
        </p:txBody>
      </p:sp>
      <p:sp>
        <p:nvSpPr>
          <p:cNvPr id="13" name="Text 11"/>
          <p:cNvSpPr/>
          <p:nvPr/>
        </p:nvSpPr>
        <p:spPr>
          <a:xfrm>
            <a:off x="429768" y="1847088"/>
            <a:ext cx="822960"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Safety-First</a:t>
            </a:r>
            <a:endParaRPr lang="en-US" sz="750" dirty="0"/>
          </a:p>
        </p:txBody>
      </p:sp>
      <p:sp>
        <p:nvSpPr>
          <p:cNvPr id="14" name="Text 12"/>
          <p:cNvSpPr/>
          <p:nvPr/>
        </p:nvSpPr>
        <p:spPr>
          <a:xfrm>
            <a:off x="429768" y="2194560"/>
            <a:ext cx="2523744"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Anthropic Claude</a:t>
            </a:r>
            <a:endParaRPr lang="en-US" sz="1250" dirty="0"/>
          </a:p>
        </p:txBody>
      </p:sp>
      <p:sp>
        <p:nvSpPr>
          <p:cNvPr id="15" name="Text 13"/>
          <p:cNvSpPr/>
          <p:nvPr/>
        </p:nvSpPr>
        <p:spPr>
          <a:xfrm>
            <a:off x="429768" y="2542032"/>
            <a:ext cx="2523744" cy="475488"/>
          </a:xfrm>
          <a:prstGeom prst="rect">
            <a:avLst/>
          </a:prstGeom>
          <a:noFill/>
          <a:ln/>
        </p:spPr>
        <p:txBody>
          <a:bodyPr wrap="square" lIns="0" tIns="0" rIns="0" bIns="0" rtlCol="0" anchor="ctr"/>
          <a:lstStyle/>
          <a:p>
            <a:pPr marL="0" indent="0">
              <a:buNone/>
            </a:pPr>
            <a:r>
              <a:rPr lang="en-US" sz="950" dirty="0">
                <a:solidFill>
                  <a:srgbClr val="E8EFF6"/>
                </a:solidFill>
                <a:latin typeface="Calibri" pitchFamily="34" charset="0"/>
                <a:ea typeface="Calibri" pitchFamily="34" charset="-122"/>
                <a:cs typeface="Calibri" pitchFamily="34" charset="-120"/>
              </a:rPr>
              <a:t>Customer service, trust-critical apps, compliance</a:t>
            </a:r>
            <a:endParaRPr lang="en-US" sz="950" dirty="0"/>
          </a:p>
        </p:txBody>
      </p:sp>
      <p:sp>
        <p:nvSpPr>
          <p:cNvPr id="16" name="Shape 14"/>
          <p:cNvSpPr/>
          <p:nvPr/>
        </p:nvSpPr>
        <p:spPr>
          <a:xfrm>
            <a:off x="3154680" y="1737360"/>
            <a:ext cx="2743200" cy="1371600"/>
          </a:xfrm>
          <a:prstGeom prst="rect">
            <a:avLst/>
          </a:prstGeom>
          <a:solidFill>
            <a:srgbClr val="1565C0">
              <a:alpha val="22000"/>
            </a:srgbClr>
          </a:solidFill>
          <a:ln w="12700">
            <a:solidFill>
              <a:srgbClr val="1565C0"/>
            </a:solidFill>
            <a:prstDash val="solid"/>
          </a:ln>
        </p:spPr>
        <p:txBody>
          <a:bodyPr/>
          <a:lstStyle/>
          <a:p>
            <a:endParaRPr lang="en-US"/>
          </a:p>
        </p:txBody>
      </p:sp>
      <p:sp>
        <p:nvSpPr>
          <p:cNvPr id="17" name="Shape 15"/>
          <p:cNvSpPr/>
          <p:nvPr/>
        </p:nvSpPr>
        <p:spPr>
          <a:xfrm>
            <a:off x="3154680" y="1737360"/>
            <a:ext cx="2743200" cy="50292"/>
          </a:xfrm>
          <a:prstGeom prst="rect">
            <a:avLst/>
          </a:prstGeom>
          <a:solidFill>
            <a:srgbClr val="1565C0"/>
          </a:solidFill>
          <a:ln w="12700">
            <a:solidFill>
              <a:srgbClr val="1565C0"/>
            </a:solidFill>
            <a:prstDash val="solid"/>
          </a:ln>
        </p:spPr>
        <p:txBody>
          <a:bodyPr/>
          <a:lstStyle/>
          <a:p>
            <a:endParaRPr lang="en-US"/>
          </a:p>
        </p:txBody>
      </p:sp>
      <p:sp>
        <p:nvSpPr>
          <p:cNvPr id="18" name="Shape 16"/>
          <p:cNvSpPr/>
          <p:nvPr/>
        </p:nvSpPr>
        <p:spPr>
          <a:xfrm>
            <a:off x="3264408" y="1847088"/>
            <a:ext cx="822960" cy="274320"/>
          </a:xfrm>
          <a:prstGeom prst="rect">
            <a:avLst/>
          </a:prstGeom>
          <a:solidFill>
            <a:srgbClr val="1565C0"/>
          </a:solidFill>
          <a:ln w="12700">
            <a:solidFill>
              <a:srgbClr val="1565C0"/>
            </a:solidFill>
            <a:prstDash val="solid"/>
          </a:ln>
        </p:spPr>
        <p:txBody>
          <a:bodyPr/>
          <a:lstStyle/>
          <a:p>
            <a:endParaRPr lang="en-US"/>
          </a:p>
        </p:txBody>
      </p:sp>
      <p:sp>
        <p:nvSpPr>
          <p:cNvPr id="19" name="Text 17"/>
          <p:cNvSpPr/>
          <p:nvPr/>
        </p:nvSpPr>
        <p:spPr>
          <a:xfrm>
            <a:off x="3264408" y="1847088"/>
            <a:ext cx="822960"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Reasoning Power</a:t>
            </a:r>
            <a:endParaRPr lang="en-US" sz="750" dirty="0"/>
          </a:p>
        </p:txBody>
      </p:sp>
      <p:sp>
        <p:nvSpPr>
          <p:cNvPr id="20" name="Text 18"/>
          <p:cNvSpPr/>
          <p:nvPr/>
        </p:nvSpPr>
        <p:spPr>
          <a:xfrm>
            <a:off x="3264408" y="2194560"/>
            <a:ext cx="2523744"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Meta Llama</a:t>
            </a:r>
            <a:endParaRPr lang="en-US" sz="1250" dirty="0"/>
          </a:p>
        </p:txBody>
      </p:sp>
      <p:sp>
        <p:nvSpPr>
          <p:cNvPr id="21" name="Text 19"/>
          <p:cNvSpPr/>
          <p:nvPr/>
        </p:nvSpPr>
        <p:spPr>
          <a:xfrm>
            <a:off x="3264408" y="2542032"/>
            <a:ext cx="2523744" cy="475488"/>
          </a:xfrm>
          <a:prstGeom prst="rect">
            <a:avLst/>
          </a:prstGeom>
          <a:noFill/>
          <a:ln/>
        </p:spPr>
        <p:txBody>
          <a:bodyPr wrap="square" lIns="0" tIns="0" rIns="0" bIns="0" rtlCol="0" anchor="ctr"/>
          <a:lstStyle/>
          <a:p>
            <a:pPr marL="0" indent="0">
              <a:buNone/>
            </a:pPr>
            <a:r>
              <a:rPr lang="en-US" sz="950" dirty="0">
                <a:solidFill>
                  <a:srgbClr val="E8EFF6"/>
                </a:solidFill>
                <a:latin typeface="Calibri" pitchFamily="34" charset="0"/>
                <a:ea typeface="Calibri" pitchFamily="34" charset="-122"/>
                <a:cs typeface="Calibri" pitchFamily="34" charset="-120"/>
              </a:rPr>
              <a:t>Multi-turn reasoning, coding, technical answers</a:t>
            </a:r>
            <a:endParaRPr lang="en-US" sz="950" dirty="0"/>
          </a:p>
        </p:txBody>
      </p:sp>
      <p:sp>
        <p:nvSpPr>
          <p:cNvPr id="22" name="Shape 20"/>
          <p:cNvSpPr/>
          <p:nvPr/>
        </p:nvSpPr>
        <p:spPr>
          <a:xfrm>
            <a:off x="5989320" y="1737360"/>
            <a:ext cx="2743200" cy="1371600"/>
          </a:xfrm>
          <a:prstGeom prst="rect">
            <a:avLst/>
          </a:prstGeom>
          <a:solidFill>
            <a:srgbClr val="6A1B9A">
              <a:alpha val="22000"/>
            </a:srgbClr>
          </a:solidFill>
          <a:ln w="12700">
            <a:solidFill>
              <a:srgbClr val="6A1B9A"/>
            </a:solidFill>
            <a:prstDash val="solid"/>
          </a:ln>
        </p:spPr>
        <p:txBody>
          <a:bodyPr/>
          <a:lstStyle/>
          <a:p>
            <a:endParaRPr lang="en-US"/>
          </a:p>
        </p:txBody>
      </p:sp>
      <p:sp>
        <p:nvSpPr>
          <p:cNvPr id="23" name="Shape 21"/>
          <p:cNvSpPr/>
          <p:nvPr/>
        </p:nvSpPr>
        <p:spPr>
          <a:xfrm>
            <a:off x="5989320" y="1737360"/>
            <a:ext cx="2743200" cy="50292"/>
          </a:xfrm>
          <a:prstGeom prst="rect">
            <a:avLst/>
          </a:prstGeom>
          <a:solidFill>
            <a:srgbClr val="6A1B9A"/>
          </a:solidFill>
          <a:ln w="12700">
            <a:solidFill>
              <a:srgbClr val="6A1B9A"/>
            </a:solidFill>
            <a:prstDash val="solid"/>
          </a:ln>
        </p:spPr>
        <p:txBody>
          <a:bodyPr/>
          <a:lstStyle/>
          <a:p>
            <a:endParaRPr lang="en-US"/>
          </a:p>
        </p:txBody>
      </p:sp>
      <p:sp>
        <p:nvSpPr>
          <p:cNvPr id="24" name="Shape 22"/>
          <p:cNvSpPr/>
          <p:nvPr/>
        </p:nvSpPr>
        <p:spPr>
          <a:xfrm>
            <a:off x="6099048" y="1847088"/>
            <a:ext cx="822960" cy="274320"/>
          </a:xfrm>
          <a:prstGeom prst="rect">
            <a:avLst/>
          </a:prstGeom>
          <a:solidFill>
            <a:srgbClr val="6A1B9A"/>
          </a:solidFill>
          <a:ln w="12700">
            <a:solidFill>
              <a:srgbClr val="6A1B9A"/>
            </a:solidFill>
            <a:prstDash val="solid"/>
          </a:ln>
        </p:spPr>
        <p:txBody>
          <a:bodyPr/>
          <a:lstStyle/>
          <a:p>
            <a:endParaRPr lang="en-US"/>
          </a:p>
        </p:txBody>
      </p:sp>
      <p:sp>
        <p:nvSpPr>
          <p:cNvPr id="25" name="Text 23"/>
          <p:cNvSpPr/>
          <p:nvPr/>
        </p:nvSpPr>
        <p:spPr>
          <a:xfrm>
            <a:off x="6099048" y="1847088"/>
            <a:ext cx="822960"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Multimodal</a:t>
            </a:r>
            <a:endParaRPr lang="en-US" sz="750" dirty="0"/>
          </a:p>
        </p:txBody>
      </p:sp>
      <p:sp>
        <p:nvSpPr>
          <p:cNvPr id="26" name="Text 24"/>
          <p:cNvSpPr/>
          <p:nvPr/>
        </p:nvSpPr>
        <p:spPr>
          <a:xfrm>
            <a:off x="6099048" y="2194560"/>
            <a:ext cx="2523744"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Stability AI</a:t>
            </a:r>
            <a:endParaRPr lang="en-US" sz="1250" dirty="0"/>
          </a:p>
        </p:txBody>
      </p:sp>
      <p:sp>
        <p:nvSpPr>
          <p:cNvPr id="27" name="Text 25"/>
          <p:cNvSpPr/>
          <p:nvPr/>
        </p:nvSpPr>
        <p:spPr>
          <a:xfrm>
            <a:off x="6099048" y="2542032"/>
            <a:ext cx="2523744" cy="475488"/>
          </a:xfrm>
          <a:prstGeom prst="rect">
            <a:avLst/>
          </a:prstGeom>
          <a:noFill/>
          <a:ln/>
        </p:spPr>
        <p:txBody>
          <a:bodyPr wrap="square" lIns="0" tIns="0" rIns="0" bIns="0" rtlCol="0" anchor="ctr"/>
          <a:lstStyle/>
          <a:p>
            <a:pPr marL="0" indent="0">
              <a:buNone/>
            </a:pPr>
            <a:r>
              <a:rPr lang="en-US" sz="950" dirty="0">
                <a:solidFill>
                  <a:srgbClr val="E8EFF6"/>
                </a:solidFill>
                <a:latin typeface="Calibri" pitchFamily="34" charset="0"/>
                <a:ea typeface="Calibri" pitchFamily="34" charset="-122"/>
                <a:cs typeface="Calibri" pitchFamily="34" charset="-120"/>
              </a:rPr>
              <a:t>Text-to-image generation, creative workflows</a:t>
            </a:r>
            <a:endParaRPr lang="en-US" sz="950" dirty="0"/>
          </a:p>
        </p:txBody>
      </p:sp>
      <p:sp>
        <p:nvSpPr>
          <p:cNvPr id="28" name="Shape 26"/>
          <p:cNvSpPr/>
          <p:nvPr/>
        </p:nvSpPr>
        <p:spPr>
          <a:xfrm>
            <a:off x="320040" y="3273552"/>
            <a:ext cx="4114800" cy="1371600"/>
          </a:xfrm>
          <a:prstGeom prst="rect">
            <a:avLst/>
          </a:prstGeom>
          <a:solidFill>
            <a:srgbClr val="00695C">
              <a:alpha val="22000"/>
            </a:srgbClr>
          </a:solidFill>
          <a:ln w="12700">
            <a:solidFill>
              <a:srgbClr val="00695C"/>
            </a:solidFill>
            <a:prstDash val="solid"/>
          </a:ln>
        </p:spPr>
        <p:txBody>
          <a:bodyPr/>
          <a:lstStyle/>
          <a:p>
            <a:endParaRPr lang="en-US"/>
          </a:p>
        </p:txBody>
      </p:sp>
      <p:sp>
        <p:nvSpPr>
          <p:cNvPr id="29" name="Shape 27"/>
          <p:cNvSpPr/>
          <p:nvPr/>
        </p:nvSpPr>
        <p:spPr>
          <a:xfrm>
            <a:off x="320040" y="3273552"/>
            <a:ext cx="4114800" cy="50292"/>
          </a:xfrm>
          <a:prstGeom prst="rect">
            <a:avLst/>
          </a:prstGeom>
          <a:solidFill>
            <a:srgbClr val="00695C"/>
          </a:solidFill>
          <a:ln w="12700">
            <a:solidFill>
              <a:srgbClr val="00695C"/>
            </a:solidFill>
            <a:prstDash val="solid"/>
          </a:ln>
        </p:spPr>
        <p:txBody>
          <a:bodyPr/>
          <a:lstStyle/>
          <a:p>
            <a:endParaRPr lang="en-US"/>
          </a:p>
        </p:txBody>
      </p:sp>
      <p:sp>
        <p:nvSpPr>
          <p:cNvPr id="30" name="Shape 28"/>
          <p:cNvSpPr/>
          <p:nvPr/>
        </p:nvSpPr>
        <p:spPr>
          <a:xfrm>
            <a:off x="429768" y="3383280"/>
            <a:ext cx="822960" cy="274320"/>
          </a:xfrm>
          <a:prstGeom prst="rect">
            <a:avLst/>
          </a:prstGeom>
          <a:solidFill>
            <a:srgbClr val="00695C"/>
          </a:solidFill>
          <a:ln w="12700">
            <a:solidFill>
              <a:srgbClr val="00695C"/>
            </a:solidFill>
            <a:prstDash val="solid"/>
          </a:ln>
        </p:spPr>
        <p:txBody>
          <a:bodyPr/>
          <a:lstStyle/>
          <a:p>
            <a:endParaRPr lang="en-US"/>
          </a:p>
        </p:txBody>
      </p:sp>
      <p:sp>
        <p:nvSpPr>
          <p:cNvPr id="31" name="Text 29"/>
          <p:cNvSpPr/>
          <p:nvPr/>
        </p:nvSpPr>
        <p:spPr>
          <a:xfrm>
            <a:off x="429768" y="3383280"/>
            <a:ext cx="822960"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Semantic Search</a:t>
            </a:r>
            <a:endParaRPr lang="en-US" sz="750" dirty="0"/>
          </a:p>
        </p:txBody>
      </p:sp>
      <p:sp>
        <p:nvSpPr>
          <p:cNvPr id="32" name="Text 30"/>
          <p:cNvSpPr/>
          <p:nvPr/>
        </p:nvSpPr>
        <p:spPr>
          <a:xfrm>
            <a:off x="429768" y="3730752"/>
            <a:ext cx="3895344"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Cohere</a:t>
            </a:r>
            <a:endParaRPr lang="en-US" sz="1250" dirty="0"/>
          </a:p>
        </p:txBody>
      </p:sp>
      <p:sp>
        <p:nvSpPr>
          <p:cNvPr id="33" name="Text 31"/>
          <p:cNvSpPr/>
          <p:nvPr/>
        </p:nvSpPr>
        <p:spPr>
          <a:xfrm>
            <a:off x="429768" y="4078224"/>
            <a:ext cx="3895344" cy="475488"/>
          </a:xfrm>
          <a:prstGeom prst="rect">
            <a:avLst/>
          </a:prstGeom>
          <a:noFill/>
          <a:ln/>
        </p:spPr>
        <p:txBody>
          <a:bodyPr wrap="square" lIns="0" tIns="0" rIns="0" bIns="0" rtlCol="0" anchor="ctr"/>
          <a:lstStyle/>
          <a:p>
            <a:pPr marL="0" indent="0">
              <a:buNone/>
            </a:pPr>
            <a:r>
              <a:rPr lang="en-US" sz="950" dirty="0">
                <a:solidFill>
                  <a:srgbClr val="E8EFF6"/>
                </a:solidFill>
                <a:latin typeface="Calibri" pitchFamily="34" charset="0"/>
                <a:ea typeface="Calibri" pitchFamily="34" charset="-122"/>
                <a:cs typeface="Calibri" pitchFamily="34" charset="-120"/>
              </a:rPr>
              <a:t>Embeddings, knowledge retrieval, RAG pipelines</a:t>
            </a:r>
            <a:endParaRPr lang="en-US" sz="950" dirty="0"/>
          </a:p>
        </p:txBody>
      </p:sp>
      <p:sp>
        <p:nvSpPr>
          <p:cNvPr id="34" name="Shape 32"/>
          <p:cNvSpPr/>
          <p:nvPr/>
        </p:nvSpPr>
        <p:spPr>
          <a:xfrm>
            <a:off x="4663440" y="3273552"/>
            <a:ext cx="4114800" cy="1371600"/>
          </a:xfrm>
          <a:prstGeom prst="rect">
            <a:avLst/>
          </a:prstGeom>
          <a:solidFill>
            <a:srgbClr val="E65100">
              <a:alpha val="22000"/>
            </a:srgbClr>
          </a:solidFill>
          <a:ln w="12700">
            <a:solidFill>
              <a:srgbClr val="E65100"/>
            </a:solidFill>
            <a:prstDash val="solid"/>
          </a:ln>
        </p:spPr>
        <p:txBody>
          <a:bodyPr/>
          <a:lstStyle/>
          <a:p>
            <a:endParaRPr lang="en-US"/>
          </a:p>
        </p:txBody>
      </p:sp>
      <p:sp>
        <p:nvSpPr>
          <p:cNvPr id="35" name="Shape 33"/>
          <p:cNvSpPr/>
          <p:nvPr/>
        </p:nvSpPr>
        <p:spPr>
          <a:xfrm>
            <a:off x="4663440" y="3273552"/>
            <a:ext cx="4114800" cy="50292"/>
          </a:xfrm>
          <a:prstGeom prst="rect">
            <a:avLst/>
          </a:prstGeom>
          <a:solidFill>
            <a:srgbClr val="E65100"/>
          </a:solidFill>
          <a:ln w="12700">
            <a:solidFill>
              <a:srgbClr val="E65100"/>
            </a:solidFill>
            <a:prstDash val="solid"/>
          </a:ln>
        </p:spPr>
        <p:txBody>
          <a:bodyPr/>
          <a:lstStyle/>
          <a:p>
            <a:endParaRPr lang="en-US"/>
          </a:p>
        </p:txBody>
      </p:sp>
      <p:sp>
        <p:nvSpPr>
          <p:cNvPr id="36" name="Shape 34"/>
          <p:cNvSpPr/>
          <p:nvPr/>
        </p:nvSpPr>
        <p:spPr>
          <a:xfrm>
            <a:off x="4773168" y="3383280"/>
            <a:ext cx="822960" cy="274320"/>
          </a:xfrm>
          <a:prstGeom prst="rect">
            <a:avLst/>
          </a:prstGeom>
          <a:solidFill>
            <a:srgbClr val="E65100"/>
          </a:solidFill>
          <a:ln w="12700">
            <a:solidFill>
              <a:srgbClr val="E65100"/>
            </a:solidFill>
            <a:prstDash val="solid"/>
          </a:ln>
        </p:spPr>
        <p:txBody>
          <a:bodyPr/>
          <a:lstStyle/>
          <a:p>
            <a:endParaRPr lang="en-US"/>
          </a:p>
        </p:txBody>
      </p:sp>
      <p:sp>
        <p:nvSpPr>
          <p:cNvPr id="37" name="Text 35"/>
          <p:cNvSpPr/>
          <p:nvPr/>
        </p:nvSpPr>
        <p:spPr>
          <a:xfrm>
            <a:off x="4773168" y="3383280"/>
            <a:ext cx="822960"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AWS Native</a:t>
            </a:r>
            <a:endParaRPr lang="en-US" sz="750" dirty="0"/>
          </a:p>
        </p:txBody>
      </p:sp>
      <p:sp>
        <p:nvSpPr>
          <p:cNvPr id="38" name="Text 36"/>
          <p:cNvSpPr/>
          <p:nvPr/>
        </p:nvSpPr>
        <p:spPr>
          <a:xfrm>
            <a:off x="4773168" y="3730752"/>
            <a:ext cx="3895344"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Amazon Titan</a:t>
            </a:r>
            <a:endParaRPr lang="en-US" sz="1250" dirty="0"/>
          </a:p>
        </p:txBody>
      </p:sp>
      <p:sp>
        <p:nvSpPr>
          <p:cNvPr id="39" name="Text 37"/>
          <p:cNvSpPr/>
          <p:nvPr/>
        </p:nvSpPr>
        <p:spPr>
          <a:xfrm>
            <a:off x="4773168" y="4078224"/>
            <a:ext cx="3895344" cy="475488"/>
          </a:xfrm>
          <a:prstGeom prst="rect">
            <a:avLst/>
          </a:prstGeom>
          <a:noFill/>
          <a:ln/>
        </p:spPr>
        <p:txBody>
          <a:bodyPr wrap="square" lIns="0" tIns="0" rIns="0" bIns="0" rtlCol="0" anchor="ctr"/>
          <a:lstStyle/>
          <a:p>
            <a:pPr marL="0" indent="0">
              <a:buNone/>
            </a:pPr>
            <a:r>
              <a:rPr lang="en-US" sz="950" dirty="0">
                <a:solidFill>
                  <a:srgbClr val="E8EFF6"/>
                </a:solidFill>
                <a:latin typeface="Calibri" pitchFamily="34" charset="0"/>
                <a:ea typeface="Calibri" pitchFamily="34" charset="-122"/>
                <a:cs typeface="Calibri" pitchFamily="34" charset="-120"/>
              </a:rPr>
              <a:t>General text/embeddings, compliance, AWS ecosystem</a:t>
            </a:r>
            <a:endParaRPr lang="en-US" sz="950" dirty="0"/>
          </a:p>
        </p:txBody>
      </p:sp>
      <p:sp>
        <p:nvSpPr>
          <p:cNvPr id="40" name="Shape 38"/>
          <p:cNvSpPr/>
          <p:nvPr/>
        </p:nvSpPr>
        <p:spPr>
          <a:xfrm>
            <a:off x="0" y="4686300"/>
            <a:ext cx="9144000" cy="457200"/>
          </a:xfrm>
          <a:prstGeom prst="rect">
            <a:avLst/>
          </a:prstGeom>
          <a:solidFill>
            <a:srgbClr val="162232"/>
          </a:solidFill>
          <a:ln w="12700">
            <a:solidFill>
              <a:srgbClr val="162232"/>
            </a:solidFill>
            <a:prstDash val="solid"/>
          </a:ln>
        </p:spPr>
        <p:txBody>
          <a:bodyPr/>
          <a:lstStyle/>
          <a:p>
            <a:endParaRPr lang="en-US"/>
          </a:p>
        </p:txBody>
      </p:sp>
      <p:sp>
        <p:nvSpPr>
          <p:cNvPr id="41" name="Text 39"/>
          <p:cNvSpPr/>
          <p:nvPr/>
        </p:nvSpPr>
        <p:spPr>
          <a:xfrm>
            <a:off x="457200" y="4686300"/>
            <a:ext cx="7315200" cy="457200"/>
          </a:xfrm>
          <a:prstGeom prst="rect">
            <a:avLst/>
          </a:prstGeom>
          <a:noFill/>
          <a:ln/>
        </p:spPr>
        <p:txBody>
          <a:bodyPr wrap="square" rtlCol="0" anchor="ctr"/>
          <a:lstStyle/>
          <a:p>
            <a:pPr marL="0" indent="0">
              <a:buNone/>
            </a:pPr>
            <a:r>
              <a:rPr lang="en-US" sz="1000" dirty="0">
                <a:solidFill>
                  <a:srgbClr val="8FA3B8"/>
                </a:solidFill>
                <a:latin typeface="Calibri" pitchFamily="34" charset="0"/>
                <a:ea typeface="Calibri" pitchFamily="34" charset="-122"/>
                <a:cs typeface="Calibri" pitchFamily="34" charset="-120"/>
              </a:rPr>
              <a:t>Amazon Bedrock | Cloud Computing Presentation</a:t>
            </a:r>
            <a:endParaRPr lang="en-US" sz="1000" dirty="0"/>
          </a:p>
        </p:txBody>
      </p:sp>
      <p:sp>
        <p:nvSpPr>
          <p:cNvPr id="42" name="Text 40"/>
          <p:cNvSpPr/>
          <p:nvPr/>
        </p:nvSpPr>
        <p:spPr>
          <a:xfrm>
            <a:off x="8046720" y="4686300"/>
            <a:ext cx="914400" cy="457200"/>
          </a:xfrm>
          <a:prstGeom prst="rect">
            <a:avLst/>
          </a:prstGeom>
          <a:noFill/>
          <a:ln/>
        </p:spPr>
        <p:txBody>
          <a:bodyPr wrap="square" rtlCol="0" anchor="ctr"/>
          <a:lstStyle/>
          <a:p>
            <a:pPr marL="0" indent="0" algn="r">
              <a:buNone/>
            </a:pPr>
            <a:r>
              <a:rPr lang="en-US" sz="1000" dirty="0">
                <a:solidFill>
                  <a:srgbClr val="8FA3B8"/>
                </a:solidFill>
                <a:latin typeface="Calibri" pitchFamily="34" charset="0"/>
                <a:ea typeface="Calibri" pitchFamily="34" charset="-122"/>
                <a:cs typeface="Calibri" pitchFamily="34" charset="-120"/>
              </a:rPr>
              <a:t>5 / 14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73E8"/>
          </a:solidFill>
          <a:ln w="12700">
            <a:solidFill>
              <a:srgbClr val="1A73E8"/>
            </a:solidFill>
            <a:prstDash val="solid"/>
          </a:ln>
        </p:spPr>
        <p:txBody>
          <a:bodyPr/>
          <a:lstStyle/>
          <a:p>
            <a:endParaRPr lang="en-US"/>
          </a:p>
        </p:txBody>
      </p:sp>
      <p:sp>
        <p:nvSpPr>
          <p:cNvPr id="3" name="Text 1"/>
          <p:cNvSpPr/>
          <p:nvPr/>
        </p:nvSpPr>
        <p:spPr>
          <a:xfrm>
            <a:off x="457200" y="228600"/>
            <a:ext cx="8229600" cy="320040"/>
          </a:xfrm>
          <a:prstGeom prst="rect">
            <a:avLst/>
          </a:prstGeom>
          <a:noFill/>
          <a:ln/>
        </p:spPr>
        <p:txBody>
          <a:bodyPr wrap="square" rtlCol="0" anchor="ctr"/>
          <a:lstStyle/>
          <a:p>
            <a:pPr marL="0" indent="0">
              <a:buNone/>
            </a:pPr>
            <a:r>
              <a:rPr lang="en-US" sz="1000" b="1" kern="0" spc="400" dirty="0">
                <a:solidFill>
                  <a:srgbClr val="1A73E8"/>
                </a:solidFill>
                <a:latin typeface="Calibri" pitchFamily="34" charset="0"/>
                <a:ea typeface="Calibri" pitchFamily="34" charset="-122"/>
                <a:cs typeface="Calibri" pitchFamily="34" charset="-120"/>
              </a:rPr>
              <a:t>KEY FEATURES</a:t>
            </a:r>
            <a:endParaRPr lang="en-US" sz="1000" dirty="0"/>
          </a:p>
        </p:txBody>
      </p:sp>
      <p:sp>
        <p:nvSpPr>
          <p:cNvPr id="4" name="Text 2"/>
          <p:cNvSpPr/>
          <p:nvPr/>
        </p:nvSpPr>
        <p:spPr>
          <a:xfrm>
            <a:off x="457200" y="502920"/>
            <a:ext cx="8229600" cy="54864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Bedrock Core Capabilities</a:t>
            </a:r>
            <a:endParaRPr lang="en-US" sz="3000" dirty="0"/>
          </a:p>
        </p:txBody>
      </p:sp>
      <p:sp>
        <p:nvSpPr>
          <p:cNvPr id="5" name="Shape 3"/>
          <p:cNvSpPr/>
          <p:nvPr/>
        </p:nvSpPr>
        <p:spPr>
          <a:xfrm>
            <a:off x="365760" y="1234440"/>
            <a:ext cx="2606040" cy="1508760"/>
          </a:xfrm>
          <a:prstGeom prst="rect">
            <a:avLst/>
          </a:prstGeom>
          <a:solidFill>
            <a:srgbClr val="1E3045"/>
          </a:solidFill>
          <a:ln w="12700">
            <a:solidFill>
              <a:srgbClr val="2A4060"/>
            </a:solidFill>
            <a:prstDash val="solid"/>
          </a:ln>
        </p:spPr>
        <p:txBody>
          <a:bodyPr/>
          <a:lstStyle/>
          <a:p>
            <a:endParaRPr lang="en-US"/>
          </a:p>
        </p:txBody>
      </p:sp>
      <p:sp>
        <p:nvSpPr>
          <p:cNvPr id="6" name="Shape 4"/>
          <p:cNvSpPr/>
          <p:nvPr/>
        </p:nvSpPr>
        <p:spPr>
          <a:xfrm>
            <a:off x="530352" y="1380744"/>
            <a:ext cx="530352" cy="530352"/>
          </a:xfrm>
          <a:prstGeom prst="ellipse">
            <a:avLst/>
          </a:prstGeom>
          <a:solidFill>
            <a:srgbClr val="FF9900">
              <a:alpha val="20000"/>
            </a:srgbClr>
          </a:solidFill>
          <a:ln w="12700">
            <a:solidFill>
              <a:srgbClr val="FF9900">
                <a:alpha val="45000"/>
              </a:srgbClr>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594360" y="1435608"/>
            <a:ext cx="402336" cy="402336"/>
          </a:xfrm>
          <a:prstGeom prst="rect">
            <a:avLst/>
          </a:prstGeom>
        </p:spPr>
      </p:pic>
      <p:sp>
        <p:nvSpPr>
          <p:cNvPr id="8" name="Text 5"/>
          <p:cNvSpPr/>
          <p:nvPr/>
        </p:nvSpPr>
        <p:spPr>
          <a:xfrm>
            <a:off x="1188720" y="1417320"/>
            <a:ext cx="1664208" cy="347472"/>
          </a:xfrm>
          <a:prstGeom prst="rect">
            <a:avLst/>
          </a:prstGeom>
          <a:noFill/>
          <a:ln/>
        </p:spPr>
        <p:txBody>
          <a:bodyPr wrap="square" lIns="0" tIns="0" rIns="0" bIns="0" rtlCol="0" anchor="ctr"/>
          <a:lstStyle/>
          <a:p>
            <a:pPr marL="0" indent="0">
              <a:buNone/>
            </a:pPr>
            <a:r>
              <a:rPr lang="en-US" sz="1300" b="1" dirty="0">
                <a:solidFill>
                  <a:srgbClr val="FF9900"/>
                </a:solidFill>
                <a:latin typeface="Calibri" pitchFamily="34" charset="0"/>
                <a:ea typeface="Calibri" pitchFamily="34" charset="-122"/>
                <a:cs typeface="Calibri" pitchFamily="34" charset="-120"/>
              </a:rPr>
              <a:t>Unified API</a:t>
            </a:r>
            <a:endParaRPr lang="en-US" sz="1300" dirty="0"/>
          </a:p>
        </p:txBody>
      </p:sp>
      <p:sp>
        <p:nvSpPr>
          <p:cNvPr id="9" name="Text 6"/>
          <p:cNvSpPr/>
          <p:nvPr/>
        </p:nvSpPr>
        <p:spPr>
          <a:xfrm>
            <a:off x="1188720" y="1783080"/>
            <a:ext cx="1664208" cy="804672"/>
          </a:xfrm>
          <a:prstGeom prst="rect">
            <a:avLst/>
          </a:prstGeom>
          <a:noFill/>
          <a:ln/>
        </p:spPr>
        <p:txBody>
          <a:bodyPr wrap="square" lIns="0" tIns="0" rIns="0" bIns="0" rtlCol="0" anchor="ctr"/>
          <a:lstStyle/>
          <a:p>
            <a:pPr marL="0" indent="0">
              <a:buNone/>
            </a:pPr>
            <a:r>
              <a:rPr lang="en-US" sz="950" dirty="0">
                <a:solidFill>
                  <a:srgbClr val="E8EFF6"/>
                </a:solidFill>
                <a:latin typeface="Calibri" pitchFamily="34" charset="0"/>
                <a:ea typeface="Calibri" pitchFamily="34" charset="-122"/>
                <a:cs typeface="Calibri" pitchFamily="34" charset="-120"/>
              </a:rPr>
              <a:t>Single API endpoint for all foundation models. Switch models without re-architecting your app.</a:t>
            </a:r>
            <a:endParaRPr lang="en-US" sz="950" dirty="0"/>
          </a:p>
        </p:txBody>
      </p:sp>
      <p:sp>
        <p:nvSpPr>
          <p:cNvPr id="10" name="Shape 7"/>
          <p:cNvSpPr/>
          <p:nvPr/>
        </p:nvSpPr>
        <p:spPr>
          <a:xfrm>
            <a:off x="3200400" y="1234440"/>
            <a:ext cx="2606040" cy="1508760"/>
          </a:xfrm>
          <a:prstGeom prst="rect">
            <a:avLst/>
          </a:prstGeom>
          <a:solidFill>
            <a:srgbClr val="1E3045"/>
          </a:solidFill>
          <a:ln w="12700">
            <a:solidFill>
              <a:srgbClr val="2A4060"/>
            </a:solidFill>
            <a:prstDash val="solid"/>
          </a:ln>
        </p:spPr>
        <p:txBody>
          <a:bodyPr/>
          <a:lstStyle/>
          <a:p>
            <a:endParaRPr lang="en-US"/>
          </a:p>
        </p:txBody>
      </p:sp>
      <p:sp>
        <p:nvSpPr>
          <p:cNvPr id="11" name="Shape 8"/>
          <p:cNvSpPr/>
          <p:nvPr/>
        </p:nvSpPr>
        <p:spPr>
          <a:xfrm>
            <a:off x="3364992" y="1380744"/>
            <a:ext cx="530352" cy="530352"/>
          </a:xfrm>
          <a:prstGeom prst="ellipse">
            <a:avLst/>
          </a:prstGeom>
          <a:solidFill>
            <a:srgbClr val="00B3B3">
              <a:alpha val="20000"/>
            </a:srgbClr>
          </a:solidFill>
          <a:ln w="12700">
            <a:solidFill>
              <a:srgbClr val="00B3B3">
                <a:alpha val="45000"/>
              </a:srgbClr>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429000" y="1435608"/>
            <a:ext cx="402336" cy="402336"/>
          </a:xfrm>
          <a:prstGeom prst="rect">
            <a:avLst/>
          </a:prstGeom>
        </p:spPr>
      </p:pic>
      <p:sp>
        <p:nvSpPr>
          <p:cNvPr id="13" name="Text 9"/>
          <p:cNvSpPr/>
          <p:nvPr/>
        </p:nvSpPr>
        <p:spPr>
          <a:xfrm>
            <a:off x="4023360" y="1417320"/>
            <a:ext cx="1664208" cy="347472"/>
          </a:xfrm>
          <a:prstGeom prst="rect">
            <a:avLst/>
          </a:prstGeom>
          <a:noFill/>
          <a:ln/>
        </p:spPr>
        <p:txBody>
          <a:bodyPr wrap="square" lIns="0" tIns="0" rIns="0" bIns="0" rtlCol="0" anchor="ctr"/>
          <a:lstStyle/>
          <a:p>
            <a:pPr marL="0" indent="0">
              <a:buNone/>
            </a:pPr>
            <a:r>
              <a:rPr lang="en-US" sz="1300" b="1" dirty="0">
                <a:solidFill>
                  <a:srgbClr val="00B3B3"/>
                </a:solidFill>
                <a:latin typeface="Calibri" pitchFamily="34" charset="0"/>
                <a:ea typeface="Calibri" pitchFamily="34" charset="-122"/>
                <a:cs typeface="Calibri" pitchFamily="34" charset="-120"/>
              </a:rPr>
              <a:t>Serverless</a:t>
            </a:r>
            <a:endParaRPr lang="en-US" sz="1300" dirty="0"/>
          </a:p>
        </p:txBody>
      </p:sp>
      <p:sp>
        <p:nvSpPr>
          <p:cNvPr id="14" name="Text 10"/>
          <p:cNvSpPr/>
          <p:nvPr/>
        </p:nvSpPr>
        <p:spPr>
          <a:xfrm>
            <a:off x="4023360" y="1783080"/>
            <a:ext cx="1664208" cy="804672"/>
          </a:xfrm>
          <a:prstGeom prst="rect">
            <a:avLst/>
          </a:prstGeom>
          <a:noFill/>
          <a:ln/>
        </p:spPr>
        <p:txBody>
          <a:bodyPr wrap="square" lIns="0" tIns="0" rIns="0" bIns="0" rtlCol="0" anchor="ctr"/>
          <a:lstStyle/>
          <a:p>
            <a:pPr marL="0" indent="0">
              <a:buNone/>
            </a:pPr>
            <a:r>
              <a:rPr lang="en-US" sz="950" dirty="0">
                <a:solidFill>
                  <a:srgbClr val="E8EFF6"/>
                </a:solidFill>
                <a:latin typeface="Calibri" pitchFamily="34" charset="0"/>
                <a:ea typeface="Calibri" pitchFamily="34" charset="-122"/>
                <a:cs typeface="Calibri" pitchFamily="34" charset="-120"/>
              </a:rPr>
              <a:t>No infrastructure to manage. Auto-scales with demand. Pay only for tokens consumed.</a:t>
            </a:r>
            <a:endParaRPr lang="en-US" sz="950" dirty="0"/>
          </a:p>
        </p:txBody>
      </p:sp>
      <p:sp>
        <p:nvSpPr>
          <p:cNvPr id="15" name="Shape 11"/>
          <p:cNvSpPr/>
          <p:nvPr/>
        </p:nvSpPr>
        <p:spPr>
          <a:xfrm>
            <a:off x="6035040" y="1234440"/>
            <a:ext cx="2606040" cy="1508760"/>
          </a:xfrm>
          <a:prstGeom prst="rect">
            <a:avLst/>
          </a:prstGeom>
          <a:solidFill>
            <a:srgbClr val="1E3045"/>
          </a:solidFill>
          <a:ln w="12700">
            <a:solidFill>
              <a:srgbClr val="2A4060"/>
            </a:solidFill>
            <a:prstDash val="solid"/>
          </a:ln>
        </p:spPr>
        <p:txBody>
          <a:bodyPr/>
          <a:lstStyle/>
          <a:p>
            <a:endParaRPr lang="en-US"/>
          </a:p>
        </p:txBody>
      </p:sp>
      <p:sp>
        <p:nvSpPr>
          <p:cNvPr id="16" name="Shape 12"/>
          <p:cNvSpPr/>
          <p:nvPr/>
        </p:nvSpPr>
        <p:spPr>
          <a:xfrm>
            <a:off x="6199632" y="1380744"/>
            <a:ext cx="530352" cy="530352"/>
          </a:xfrm>
          <a:prstGeom prst="ellipse">
            <a:avLst/>
          </a:prstGeom>
          <a:solidFill>
            <a:srgbClr val="2ECC71">
              <a:alpha val="20000"/>
            </a:srgbClr>
          </a:solidFill>
          <a:ln w="12700">
            <a:solidFill>
              <a:srgbClr val="2ECC71">
                <a:alpha val="45000"/>
              </a:srgbClr>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6263640" y="1435608"/>
            <a:ext cx="402336" cy="402336"/>
          </a:xfrm>
          <a:prstGeom prst="rect">
            <a:avLst/>
          </a:prstGeom>
        </p:spPr>
      </p:pic>
      <p:sp>
        <p:nvSpPr>
          <p:cNvPr id="18" name="Text 13"/>
          <p:cNvSpPr/>
          <p:nvPr/>
        </p:nvSpPr>
        <p:spPr>
          <a:xfrm>
            <a:off x="6858000" y="1417320"/>
            <a:ext cx="1664208" cy="347472"/>
          </a:xfrm>
          <a:prstGeom prst="rect">
            <a:avLst/>
          </a:prstGeom>
          <a:noFill/>
          <a:ln/>
        </p:spPr>
        <p:txBody>
          <a:bodyPr wrap="square" lIns="0" tIns="0" rIns="0" bIns="0" rtlCol="0" anchor="ctr"/>
          <a:lstStyle/>
          <a:p>
            <a:pPr marL="0" indent="0">
              <a:buNone/>
            </a:pPr>
            <a:r>
              <a:rPr lang="en-US" sz="1300" b="1" dirty="0">
                <a:solidFill>
                  <a:srgbClr val="2ECC71"/>
                </a:solidFill>
                <a:latin typeface="Calibri" pitchFamily="34" charset="0"/>
                <a:ea typeface="Calibri" pitchFamily="34" charset="-122"/>
                <a:cs typeface="Calibri" pitchFamily="34" charset="-120"/>
              </a:rPr>
              <a:t>Private &amp; Secure</a:t>
            </a:r>
            <a:endParaRPr lang="en-US" sz="1300" dirty="0"/>
          </a:p>
        </p:txBody>
      </p:sp>
      <p:sp>
        <p:nvSpPr>
          <p:cNvPr id="19" name="Text 14"/>
          <p:cNvSpPr/>
          <p:nvPr/>
        </p:nvSpPr>
        <p:spPr>
          <a:xfrm>
            <a:off x="6858000" y="1783080"/>
            <a:ext cx="1664208" cy="804672"/>
          </a:xfrm>
          <a:prstGeom prst="rect">
            <a:avLst/>
          </a:prstGeom>
          <a:noFill/>
          <a:ln/>
        </p:spPr>
        <p:txBody>
          <a:bodyPr wrap="square" lIns="0" tIns="0" rIns="0" bIns="0" rtlCol="0" anchor="ctr"/>
          <a:lstStyle/>
          <a:p>
            <a:pPr marL="0" indent="0">
              <a:buNone/>
            </a:pPr>
            <a:r>
              <a:rPr lang="en-US" sz="950" dirty="0">
                <a:solidFill>
                  <a:srgbClr val="E8EFF6"/>
                </a:solidFill>
                <a:latin typeface="Calibri" pitchFamily="34" charset="0"/>
                <a:ea typeface="Calibri" pitchFamily="34" charset="-122"/>
                <a:cs typeface="Calibri" pitchFamily="34" charset="-120"/>
              </a:rPr>
              <a:t>VPC endpoints, IAM roles, encryption at rest/transit. Your data never leaves your AWS account.</a:t>
            </a:r>
            <a:endParaRPr lang="en-US" sz="950" dirty="0"/>
          </a:p>
        </p:txBody>
      </p:sp>
      <p:sp>
        <p:nvSpPr>
          <p:cNvPr id="20" name="Shape 15"/>
          <p:cNvSpPr/>
          <p:nvPr/>
        </p:nvSpPr>
        <p:spPr>
          <a:xfrm>
            <a:off x="365760" y="2926080"/>
            <a:ext cx="2606040" cy="1508760"/>
          </a:xfrm>
          <a:prstGeom prst="rect">
            <a:avLst/>
          </a:prstGeom>
          <a:solidFill>
            <a:srgbClr val="1E3045"/>
          </a:solidFill>
          <a:ln w="12700">
            <a:solidFill>
              <a:srgbClr val="2A4060"/>
            </a:solidFill>
            <a:prstDash val="solid"/>
          </a:ln>
        </p:spPr>
        <p:txBody>
          <a:bodyPr/>
          <a:lstStyle/>
          <a:p>
            <a:endParaRPr lang="en-US"/>
          </a:p>
        </p:txBody>
      </p:sp>
      <p:sp>
        <p:nvSpPr>
          <p:cNvPr id="21" name="Shape 16"/>
          <p:cNvSpPr/>
          <p:nvPr/>
        </p:nvSpPr>
        <p:spPr>
          <a:xfrm>
            <a:off x="530352" y="3072384"/>
            <a:ext cx="530352" cy="530352"/>
          </a:xfrm>
          <a:prstGeom prst="ellipse">
            <a:avLst/>
          </a:prstGeom>
          <a:solidFill>
            <a:srgbClr val="9B59B6">
              <a:alpha val="20000"/>
            </a:srgbClr>
          </a:solidFill>
          <a:ln w="12700">
            <a:solidFill>
              <a:srgbClr val="9B59B6">
                <a:alpha val="45000"/>
              </a:srgbClr>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594360" y="3127248"/>
            <a:ext cx="402336" cy="402336"/>
          </a:xfrm>
          <a:prstGeom prst="rect">
            <a:avLst/>
          </a:prstGeom>
        </p:spPr>
      </p:pic>
      <p:sp>
        <p:nvSpPr>
          <p:cNvPr id="23" name="Text 17"/>
          <p:cNvSpPr/>
          <p:nvPr/>
        </p:nvSpPr>
        <p:spPr>
          <a:xfrm>
            <a:off x="1188720" y="3108960"/>
            <a:ext cx="1664208" cy="347472"/>
          </a:xfrm>
          <a:prstGeom prst="rect">
            <a:avLst/>
          </a:prstGeom>
          <a:noFill/>
          <a:ln/>
        </p:spPr>
        <p:txBody>
          <a:bodyPr wrap="square" lIns="0" tIns="0" rIns="0" bIns="0" rtlCol="0" anchor="ctr"/>
          <a:lstStyle/>
          <a:p>
            <a:pPr marL="0" indent="0">
              <a:buNone/>
            </a:pPr>
            <a:r>
              <a:rPr lang="en-US" sz="1300" b="1" dirty="0">
                <a:solidFill>
                  <a:srgbClr val="9B59B6"/>
                </a:solidFill>
                <a:latin typeface="Calibri" pitchFamily="34" charset="0"/>
                <a:ea typeface="Calibri" pitchFamily="34" charset="-122"/>
                <a:cs typeface="Calibri" pitchFamily="34" charset="-120"/>
              </a:rPr>
              <a:t>Fine-Tuning</a:t>
            </a:r>
            <a:endParaRPr lang="en-US" sz="1300" dirty="0"/>
          </a:p>
        </p:txBody>
      </p:sp>
      <p:sp>
        <p:nvSpPr>
          <p:cNvPr id="24" name="Text 18"/>
          <p:cNvSpPr/>
          <p:nvPr/>
        </p:nvSpPr>
        <p:spPr>
          <a:xfrm>
            <a:off x="1188720" y="3474720"/>
            <a:ext cx="1664208" cy="804672"/>
          </a:xfrm>
          <a:prstGeom prst="rect">
            <a:avLst/>
          </a:prstGeom>
          <a:noFill/>
          <a:ln/>
        </p:spPr>
        <p:txBody>
          <a:bodyPr wrap="square" lIns="0" tIns="0" rIns="0" bIns="0" rtlCol="0" anchor="ctr"/>
          <a:lstStyle/>
          <a:p>
            <a:pPr marL="0" indent="0">
              <a:buNone/>
            </a:pPr>
            <a:r>
              <a:rPr lang="en-US" sz="950" dirty="0">
                <a:solidFill>
                  <a:srgbClr val="E8EFF6"/>
                </a:solidFill>
                <a:latin typeface="Calibri" pitchFamily="34" charset="0"/>
                <a:ea typeface="Calibri" pitchFamily="34" charset="-122"/>
                <a:cs typeface="Calibri" pitchFamily="34" charset="-120"/>
              </a:rPr>
              <a:t>Customize models with your own data using continued pre-training and fine-tuning on Bedrock.</a:t>
            </a:r>
            <a:endParaRPr lang="en-US" sz="950" dirty="0"/>
          </a:p>
        </p:txBody>
      </p:sp>
      <p:sp>
        <p:nvSpPr>
          <p:cNvPr id="25" name="Shape 19"/>
          <p:cNvSpPr/>
          <p:nvPr/>
        </p:nvSpPr>
        <p:spPr>
          <a:xfrm>
            <a:off x="3200400" y="2926080"/>
            <a:ext cx="2606040" cy="1508760"/>
          </a:xfrm>
          <a:prstGeom prst="rect">
            <a:avLst/>
          </a:prstGeom>
          <a:solidFill>
            <a:srgbClr val="1E3045"/>
          </a:solidFill>
          <a:ln w="12700">
            <a:solidFill>
              <a:srgbClr val="2A4060"/>
            </a:solidFill>
            <a:prstDash val="solid"/>
          </a:ln>
        </p:spPr>
        <p:txBody>
          <a:bodyPr/>
          <a:lstStyle/>
          <a:p>
            <a:endParaRPr lang="en-US"/>
          </a:p>
        </p:txBody>
      </p:sp>
      <p:sp>
        <p:nvSpPr>
          <p:cNvPr id="26" name="Shape 20"/>
          <p:cNvSpPr/>
          <p:nvPr/>
        </p:nvSpPr>
        <p:spPr>
          <a:xfrm>
            <a:off x="3364992" y="3072384"/>
            <a:ext cx="530352" cy="530352"/>
          </a:xfrm>
          <a:prstGeom prst="ellipse">
            <a:avLst/>
          </a:prstGeom>
          <a:solidFill>
            <a:srgbClr val="1A73E8">
              <a:alpha val="20000"/>
            </a:srgbClr>
          </a:solidFill>
          <a:ln w="12700">
            <a:solidFill>
              <a:srgbClr val="1A73E8">
                <a:alpha val="45000"/>
              </a:srgbClr>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3429000" y="3127248"/>
            <a:ext cx="402336" cy="402336"/>
          </a:xfrm>
          <a:prstGeom prst="rect">
            <a:avLst/>
          </a:prstGeom>
        </p:spPr>
      </p:pic>
      <p:sp>
        <p:nvSpPr>
          <p:cNvPr id="28" name="Text 21"/>
          <p:cNvSpPr/>
          <p:nvPr/>
        </p:nvSpPr>
        <p:spPr>
          <a:xfrm>
            <a:off x="4023360" y="3108960"/>
            <a:ext cx="1664208" cy="347472"/>
          </a:xfrm>
          <a:prstGeom prst="rect">
            <a:avLst/>
          </a:prstGeom>
          <a:noFill/>
          <a:ln/>
        </p:spPr>
        <p:txBody>
          <a:bodyPr wrap="square" lIns="0" tIns="0" rIns="0" bIns="0" rtlCol="0" anchor="ctr"/>
          <a:lstStyle/>
          <a:p>
            <a:pPr marL="0" indent="0">
              <a:buNone/>
            </a:pPr>
            <a:r>
              <a:rPr lang="en-US" sz="1300" b="1" dirty="0">
                <a:solidFill>
                  <a:srgbClr val="1A73E8"/>
                </a:solidFill>
                <a:latin typeface="Calibri" pitchFamily="34" charset="0"/>
                <a:ea typeface="Calibri" pitchFamily="34" charset="-122"/>
                <a:cs typeface="Calibri" pitchFamily="34" charset="-120"/>
              </a:rPr>
              <a:t>Knowledge Bases</a:t>
            </a:r>
            <a:endParaRPr lang="en-US" sz="1300" dirty="0"/>
          </a:p>
        </p:txBody>
      </p:sp>
      <p:sp>
        <p:nvSpPr>
          <p:cNvPr id="29" name="Text 22"/>
          <p:cNvSpPr/>
          <p:nvPr/>
        </p:nvSpPr>
        <p:spPr>
          <a:xfrm>
            <a:off x="4023360" y="3474720"/>
            <a:ext cx="1664208" cy="804672"/>
          </a:xfrm>
          <a:prstGeom prst="rect">
            <a:avLst/>
          </a:prstGeom>
          <a:noFill/>
          <a:ln/>
        </p:spPr>
        <p:txBody>
          <a:bodyPr wrap="square" lIns="0" tIns="0" rIns="0" bIns="0" rtlCol="0" anchor="ctr"/>
          <a:lstStyle/>
          <a:p>
            <a:pPr marL="0" indent="0">
              <a:buNone/>
            </a:pPr>
            <a:r>
              <a:rPr lang="en-US" sz="950" dirty="0">
                <a:solidFill>
                  <a:srgbClr val="E8EFF6"/>
                </a:solidFill>
                <a:latin typeface="Calibri" pitchFamily="34" charset="0"/>
                <a:ea typeface="Calibri" pitchFamily="34" charset="-122"/>
                <a:cs typeface="Calibri" pitchFamily="34" charset="-120"/>
              </a:rPr>
              <a:t>Built-in RAG support. Connect S3, web crawlers, and databases to ground responses in your data.</a:t>
            </a:r>
            <a:endParaRPr lang="en-US" sz="950" dirty="0"/>
          </a:p>
        </p:txBody>
      </p:sp>
      <p:sp>
        <p:nvSpPr>
          <p:cNvPr id="30" name="Shape 23"/>
          <p:cNvSpPr/>
          <p:nvPr/>
        </p:nvSpPr>
        <p:spPr>
          <a:xfrm>
            <a:off x="6035040" y="2926080"/>
            <a:ext cx="2606040" cy="1508760"/>
          </a:xfrm>
          <a:prstGeom prst="rect">
            <a:avLst/>
          </a:prstGeom>
          <a:solidFill>
            <a:srgbClr val="1E3045"/>
          </a:solidFill>
          <a:ln w="12700">
            <a:solidFill>
              <a:srgbClr val="2A4060"/>
            </a:solidFill>
            <a:prstDash val="solid"/>
          </a:ln>
        </p:spPr>
        <p:txBody>
          <a:bodyPr/>
          <a:lstStyle/>
          <a:p>
            <a:endParaRPr lang="en-US"/>
          </a:p>
        </p:txBody>
      </p:sp>
      <p:sp>
        <p:nvSpPr>
          <p:cNvPr id="31" name="Shape 24"/>
          <p:cNvSpPr/>
          <p:nvPr/>
        </p:nvSpPr>
        <p:spPr>
          <a:xfrm>
            <a:off x="6199632" y="3072384"/>
            <a:ext cx="530352" cy="530352"/>
          </a:xfrm>
          <a:prstGeom prst="ellipse">
            <a:avLst/>
          </a:prstGeom>
          <a:solidFill>
            <a:srgbClr val="E74C3C">
              <a:alpha val="20000"/>
            </a:srgbClr>
          </a:solidFill>
          <a:ln w="12700">
            <a:solidFill>
              <a:srgbClr val="E74C3C">
                <a:alpha val="45000"/>
              </a:srgbClr>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6263640" y="3127248"/>
            <a:ext cx="402336" cy="402336"/>
          </a:xfrm>
          <a:prstGeom prst="rect">
            <a:avLst/>
          </a:prstGeom>
        </p:spPr>
      </p:pic>
      <p:sp>
        <p:nvSpPr>
          <p:cNvPr id="33" name="Text 25"/>
          <p:cNvSpPr/>
          <p:nvPr/>
        </p:nvSpPr>
        <p:spPr>
          <a:xfrm>
            <a:off x="6858000" y="3108960"/>
            <a:ext cx="1664208" cy="347472"/>
          </a:xfrm>
          <a:prstGeom prst="rect">
            <a:avLst/>
          </a:prstGeom>
          <a:noFill/>
          <a:ln/>
        </p:spPr>
        <p:txBody>
          <a:bodyPr wrap="square" lIns="0" tIns="0" rIns="0" bIns="0" rtlCol="0" anchor="ctr"/>
          <a:lstStyle/>
          <a:p>
            <a:pPr marL="0" indent="0">
              <a:buNone/>
            </a:pPr>
            <a:r>
              <a:rPr lang="en-US" sz="1300" b="1" dirty="0">
                <a:solidFill>
                  <a:srgbClr val="E74C3C"/>
                </a:solidFill>
                <a:latin typeface="Calibri" pitchFamily="34" charset="0"/>
                <a:ea typeface="Calibri" pitchFamily="34" charset="-122"/>
                <a:cs typeface="Calibri" pitchFamily="34" charset="-120"/>
              </a:rPr>
              <a:t>Guardrails</a:t>
            </a:r>
            <a:endParaRPr lang="en-US" sz="1300" dirty="0"/>
          </a:p>
        </p:txBody>
      </p:sp>
      <p:sp>
        <p:nvSpPr>
          <p:cNvPr id="34" name="Text 26"/>
          <p:cNvSpPr/>
          <p:nvPr/>
        </p:nvSpPr>
        <p:spPr>
          <a:xfrm>
            <a:off x="6858000" y="3474720"/>
            <a:ext cx="1664208" cy="804672"/>
          </a:xfrm>
          <a:prstGeom prst="rect">
            <a:avLst/>
          </a:prstGeom>
          <a:noFill/>
          <a:ln/>
        </p:spPr>
        <p:txBody>
          <a:bodyPr wrap="square" lIns="0" tIns="0" rIns="0" bIns="0" rtlCol="0" anchor="ctr"/>
          <a:lstStyle/>
          <a:p>
            <a:pPr marL="0" indent="0">
              <a:buNone/>
            </a:pPr>
            <a:r>
              <a:rPr lang="en-US" sz="950" dirty="0">
                <a:solidFill>
                  <a:srgbClr val="E8EFF6"/>
                </a:solidFill>
                <a:latin typeface="Calibri" pitchFamily="34" charset="0"/>
                <a:ea typeface="Calibri" pitchFamily="34" charset="-122"/>
                <a:cs typeface="Calibri" pitchFamily="34" charset="-120"/>
              </a:rPr>
              <a:t>Content filtering, PII detection, topic blocking and grounding checks for responsible AI.</a:t>
            </a:r>
            <a:endParaRPr lang="en-US" sz="950" dirty="0"/>
          </a:p>
        </p:txBody>
      </p:sp>
      <p:sp>
        <p:nvSpPr>
          <p:cNvPr id="35" name="Shape 27"/>
          <p:cNvSpPr/>
          <p:nvPr/>
        </p:nvSpPr>
        <p:spPr>
          <a:xfrm>
            <a:off x="0" y="4686300"/>
            <a:ext cx="9144000" cy="457200"/>
          </a:xfrm>
          <a:prstGeom prst="rect">
            <a:avLst/>
          </a:prstGeom>
          <a:solidFill>
            <a:srgbClr val="162232"/>
          </a:solidFill>
          <a:ln w="12700">
            <a:solidFill>
              <a:srgbClr val="162232"/>
            </a:solidFill>
            <a:prstDash val="solid"/>
          </a:ln>
        </p:spPr>
        <p:txBody>
          <a:bodyPr/>
          <a:lstStyle/>
          <a:p>
            <a:endParaRPr lang="en-US"/>
          </a:p>
        </p:txBody>
      </p:sp>
      <p:sp>
        <p:nvSpPr>
          <p:cNvPr id="36" name="Text 28"/>
          <p:cNvSpPr/>
          <p:nvPr/>
        </p:nvSpPr>
        <p:spPr>
          <a:xfrm>
            <a:off x="457200" y="4686300"/>
            <a:ext cx="7315200" cy="457200"/>
          </a:xfrm>
          <a:prstGeom prst="rect">
            <a:avLst/>
          </a:prstGeom>
          <a:noFill/>
          <a:ln/>
        </p:spPr>
        <p:txBody>
          <a:bodyPr wrap="square" rtlCol="0" anchor="ctr"/>
          <a:lstStyle/>
          <a:p>
            <a:pPr marL="0" indent="0">
              <a:buNone/>
            </a:pPr>
            <a:r>
              <a:rPr lang="en-US" sz="1000" dirty="0">
                <a:solidFill>
                  <a:srgbClr val="8FA3B8"/>
                </a:solidFill>
                <a:latin typeface="Calibri" pitchFamily="34" charset="0"/>
                <a:ea typeface="Calibri" pitchFamily="34" charset="-122"/>
                <a:cs typeface="Calibri" pitchFamily="34" charset="-120"/>
              </a:rPr>
              <a:t>Amazon Bedrock | Cloud Computing Presentation</a:t>
            </a:r>
            <a:endParaRPr lang="en-US" sz="1000" dirty="0"/>
          </a:p>
        </p:txBody>
      </p:sp>
      <p:sp>
        <p:nvSpPr>
          <p:cNvPr id="37" name="Text 29"/>
          <p:cNvSpPr/>
          <p:nvPr/>
        </p:nvSpPr>
        <p:spPr>
          <a:xfrm>
            <a:off x="8046720" y="4686300"/>
            <a:ext cx="914400" cy="457200"/>
          </a:xfrm>
          <a:prstGeom prst="rect">
            <a:avLst/>
          </a:prstGeom>
          <a:noFill/>
          <a:ln/>
        </p:spPr>
        <p:txBody>
          <a:bodyPr wrap="square" rtlCol="0" anchor="ctr"/>
          <a:lstStyle/>
          <a:p>
            <a:pPr marL="0" indent="0" algn="r">
              <a:buNone/>
            </a:pPr>
            <a:r>
              <a:rPr lang="en-US" sz="1000" dirty="0">
                <a:solidFill>
                  <a:srgbClr val="8FA3B8"/>
                </a:solidFill>
                <a:latin typeface="Calibri" pitchFamily="34" charset="0"/>
                <a:ea typeface="Calibri" pitchFamily="34" charset="-122"/>
                <a:cs typeface="Calibri" pitchFamily="34" charset="-120"/>
              </a:rPr>
              <a:t>6 / 14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CC71"/>
          </a:solidFill>
          <a:ln w="12700">
            <a:solidFill>
              <a:srgbClr val="2ECC71"/>
            </a:solidFill>
            <a:prstDash val="solid"/>
          </a:ln>
        </p:spPr>
        <p:txBody>
          <a:bodyPr/>
          <a:lstStyle/>
          <a:p>
            <a:endParaRPr/>
          </a:p>
        </p:txBody>
      </p:sp>
      <p:sp>
        <p:nvSpPr>
          <p:cNvPr id="3" name="Text 1"/>
          <p:cNvSpPr/>
          <p:nvPr/>
        </p:nvSpPr>
        <p:spPr>
          <a:xfrm>
            <a:off x="457200" y="228600"/>
            <a:ext cx="8229600" cy="320040"/>
          </a:xfrm>
          <a:prstGeom prst="rect">
            <a:avLst/>
          </a:prstGeom>
          <a:noFill/>
          <a:ln/>
        </p:spPr>
        <p:txBody>
          <a:bodyPr wrap="square" rtlCol="0" anchor="ctr"/>
          <a:lstStyle/>
          <a:p>
            <a:pPr marL="0" indent="0">
              <a:buNone/>
            </a:pPr>
            <a:r>
              <a:rPr lang="en-US" sz="1000" b="1" kern="0" spc="400" dirty="0">
                <a:solidFill>
                  <a:srgbClr val="2ECC71"/>
                </a:solidFill>
                <a:latin typeface="Calibri" pitchFamily="34" charset="0"/>
                <a:ea typeface="Calibri" pitchFamily="34" charset="-122"/>
                <a:cs typeface="Calibri" pitchFamily="34" charset="-120"/>
              </a:rPr>
              <a:t>INTEGRATION</a:t>
            </a:r>
            <a:endParaRPr lang="en-US" sz="1000" dirty="0"/>
          </a:p>
        </p:txBody>
      </p:sp>
      <p:sp>
        <p:nvSpPr>
          <p:cNvPr id="4" name="Text 2"/>
          <p:cNvSpPr/>
          <p:nvPr/>
        </p:nvSpPr>
        <p:spPr>
          <a:xfrm>
            <a:off x="457200" y="502920"/>
            <a:ext cx="82296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Amazon Bedrock + Amazon Lex</a:t>
            </a:r>
            <a:endParaRPr lang="en-US" sz="2800" dirty="0"/>
          </a:p>
        </p:txBody>
      </p:sp>
      <p:sp>
        <p:nvSpPr>
          <p:cNvPr id="5" name="Shape 3"/>
          <p:cNvSpPr/>
          <p:nvPr/>
        </p:nvSpPr>
        <p:spPr>
          <a:xfrm>
            <a:off x="320040" y="1188720"/>
            <a:ext cx="3474720" cy="3200400"/>
          </a:xfrm>
          <a:prstGeom prst="rect">
            <a:avLst/>
          </a:prstGeom>
          <a:solidFill>
            <a:srgbClr val="1E3045"/>
          </a:solidFill>
          <a:ln w="12700">
            <a:solidFill>
              <a:srgbClr val="1A73E8"/>
            </a:solidFill>
            <a:prstDash val="solid"/>
          </a:ln>
        </p:spPr>
        <p:txBody>
          <a:bodyPr/>
          <a:lstStyle/>
          <a:p>
            <a:endParaRPr/>
          </a:p>
        </p:txBody>
      </p:sp>
      <p:sp>
        <p:nvSpPr>
          <p:cNvPr id="6" name="Shape 4"/>
          <p:cNvSpPr/>
          <p:nvPr/>
        </p:nvSpPr>
        <p:spPr>
          <a:xfrm>
            <a:off x="320040" y="1188720"/>
            <a:ext cx="3474720" cy="438912"/>
          </a:xfrm>
          <a:prstGeom prst="rect">
            <a:avLst/>
          </a:prstGeom>
          <a:solidFill>
            <a:srgbClr val="1A73E8"/>
          </a:solidFill>
          <a:ln w="12700">
            <a:solidFill>
              <a:srgbClr val="1A73E8"/>
            </a:solidFill>
            <a:prstDash val="solid"/>
          </a:ln>
        </p:spPr>
        <p:txBody>
          <a:bodyPr/>
          <a:lstStyle/>
          <a:p>
            <a:endParaRPr/>
          </a:p>
        </p:txBody>
      </p:sp>
      <p:sp>
        <p:nvSpPr>
          <p:cNvPr id="7" name="Text 5"/>
          <p:cNvSpPr/>
          <p:nvPr/>
        </p:nvSpPr>
        <p:spPr>
          <a:xfrm>
            <a:off x="320040" y="1188720"/>
            <a:ext cx="347472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Amazon Lex</a:t>
            </a:r>
            <a:endParaRPr lang="en-US" sz="1400" dirty="0"/>
          </a:p>
        </p:txBody>
      </p:sp>
      <p:sp>
        <p:nvSpPr>
          <p:cNvPr id="8" name="Text 6"/>
          <p:cNvSpPr/>
          <p:nvPr/>
        </p:nvSpPr>
        <p:spPr>
          <a:xfrm>
            <a:off x="502920" y="1737360"/>
            <a:ext cx="3108960" cy="2468880"/>
          </a:xfrm>
          <a:prstGeom prst="rect">
            <a:avLst/>
          </a:prstGeom>
          <a:noFill/>
          <a:ln/>
        </p:spPr>
        <p:txBody>
          <a:bodyPr wrap="square" lIns="0" tIns="0" rIns="0" bIns="0" rtlCol="0" anchor="ctr"/>
          <a:lstStyle/>
          <a:p>
            <a:pPr marL="342900" indent="-342900">
              <a:buSzPct val="100000"/>
              <a:buChar char="•"/>
            </a:pPr>
            <a:r>
              <a:rPr lang="en-US" sz="1100" dirty="0">
                <a:solidFill>
                  <a:srgbClr val="E8EFF6"/>
                </a:solidFill>
                <a:latin typeface="Calibri" pitchFamily="34" charset="0"/>
                <a:ea typeface="Calibri" pitchFamily="34" charset="-122"/>
                <a:cs typeface="Calibri" pitchFamily="34" charset="-120"/>
              </a:rPr>
              <a:t>Speech-to-text (ASR)</a:t>
            </a:r>
            <a:endParaRPr lang="en-US" sz="1100" dirty="0"/>
          </a:p>
          <a:p>
            <a:pPr marL="342900" indent="-342900">
              <a:buSzPct val="100000"/>
              <a:buChar char="•"/>
            </a:pPr>
            <a:r>
              <a:rPr lang="en-US" sz="1100" dirty="0">
                <a:solidFill>
                  <a:srgbClr val="E8EFF6"/>
                </a:solidFill>
                <a:latin typeface="Calibri" pitchFamily="34" charset="0"/>
                <a:ea typeface="Calibri" pitchFamily="34" charset="-122"/>
                <a:cs typeface="Calibri" pitchFamily="34" charset="-120"/>
              </a:rPr>
              <a:t>Intent recognition (NLU)</a:t>
            </a:r>
            <a:endParaRPr lang="en-US" sz="1100" dirty="0"/>
          </a:p>
          <a:p>
            <a:pPr marL="342900" indent="-342900">
              <a:buSzPct val="100000"/>
              <a:buChar char="•"/>
            </a:pPr>
            <a:r>
              <a:rPr lang="en-US" sz="1100" dirty="0">
                <a:solidFill>
                  <a:srgbClr val="E8EFF6"/>
                </a:solidFill>
                <a:latin typeface="Calibri" pitchFamily="34" charset="0"/>
                <a:ea typeface="Calibri" pitchFamily="34" charset="-122"/>
                <a:cs typeface="Calibri" pitchFamily="34" charset="-120"/>
              </a:rPr>
              <a:t>Slot filling &amp; validation</a:t>
            </a:r>
            <a:endParaRPr lang="en-US" sz="1100" dirty="0"/>
          </a:p>
          <a:p>
            <a:pPr marL="342900" indent="-342900">
              <a:buSzPct val="100000"/>
              <a:buChar char="•"/>
            </a:pPr>
            <a:r>
              <a:rPr lang="en-US" sz="1100" dirty="0">
                <a:solidFill>
                  <a:srgbClr val="E8EFF6"/>
                </a:solidFill>
                <a:latin typeface="Calibri" pitchFamily="34" charset="0"/>
                <a:ea typeface="Calibri" pitchFamily="34" charset="-122"/>
                <a:cs typeface="Calibri" pitchFamily="34" charset="-120"/>
              </a:rPr>
              <a:t>Dialogue state management</a:t>
            </a:r>
            <a:endParaRPr lang="en-US" sz="1100" dirty="0"/>
          </a:p>
          <a:p>
            <a:pPr marL="342900" indent="-342900">
              <a:buSzPct val="100000"/>
              <a:buChar char="•"/>
            </a:pPr>
            <a:r>
              <a:rPr lang="en-US" sz="1100" dirty="0">
                <a:solidFill>
                  <a:srgbClr val="E8EFF6"/>
                </a:solidFill>
                <a:latin typeface="Calibri" pitchFamily="34" charset="0"/>
                <a:ea typeface="Calibri" pitchFamily="34" charset="-122"/>
                <a:cs typeface="Calibri" pitchFamily="34" charset="-120"/>
              </a:rPr>
              <a:t>Structured workflow control</a:t>
            </a:r>
            <a:endParaRPr lang="en-US" sz="1100" dirty="0"/>
          </a:p>
        </p:txBody>
      </p:sp>
      <p:sp>
        <p:nvSpPr>
          <p:cNvPr id="9" name="Shape 7"/>
          <p:cNvSpPr/>
          <p:nvPr/>
        </p:nvSpPr>
        <p:spPr>
          <a:xfrm>
            <a:off x="3931920" y="2670048"/>
            <a:ext cx="1188720" cy="73152"/>
          </a:xfrm>
          <a:prstGeom prst="rect">
            <a:avLst/>
          </a:prstGeom>
          <a:solidFill>
            <a:srgbClr val="FF9900"/>
          </a:solidFill>
          <a:ln w="12700">
            <a:solidFill>
              <a:srgbClr val="FF9900"/>
            </a:solidFill>
            <a:prstDash val="solid"/>
          </a:ln>
        </p:spPr>
        <p:txBody>
          <a:bodyPr/>
          <a:lstStyle/>
          <a:p>
            <a:endParaRPr/>
          </a:p>
        </p:txBody>
      </p:sp>
      <p:sp>
        <p:nvSpPr>
          <p:cNvPr id="10" name="Text 8"/>
          <p:cNvSpPr/>
          <p:nvPr/>
        </p:nvSpPr>
        <p:spPr>
          <a:xfrm>
            <a:off x="3931920" y="2286000"/>
            <a:ext cx="1188720" cy="457200"/>
          </a:xfrm>
          <a:prstGeom prst="rect">
            <a:avLst/>
          </a:prstGeom>
          <a:noFill/>
          <a:ln/>
        </p:spPr>
        <p:txBody>
          <a:bodyPr wrap="square" lIns="0" tIns="0" rIns="0" bIns="0" rtlCol="0" anchor="ctr"/>
          <a:lstStyle/>
          <a:p>
            <a:pPr marL="0" indent="0" algn="ctr">
              <a:buNone/>
            </a:pPr>
            <a:r>
              <a:rPr lang="en-US" sz="2400" dirty="0">
                <a:solidFill>
                  <a:srgbClr val="FF9900"/>
                </a:solidFill>
              </a:rPr>
              <a:t>↔</a:t>
            </a:r>
            <a:endParaRPr lang="en-US" sz="2400" dirty="0"/>
          </a:p>
        </p:txBody>
      </p:sp>
      <p:sp>
        <p:nvSpPr>
          <p:cNvPr id="11" name="Text 9"/>
          <p:cNvSpPr/>
          <p:nvPr/>
        </p:nvSpPr>
        <p:spPr>
          <a:xfrm>
            <a:off x="3931920" y="2788920"/>
            <a:ext cx="1188720" cy="502920"/>
          </a:xfrm>
          <a:prstGeom prst="rect">
            <a:avLst/>
          </a:prstGeom>
          <a:noFill/>
          <a:ln/>
        </p:spPr>
        <p:txBody>
          <a:bodyPr wrap="square" lIns="0" tIns="0" rIns="0" bIns="0" rtlCol="0" anchor="ctr"/>
          <a:lstStyle/>
          <a:p>
            <a:pPr marL="0" indent="0" algn="ctr">
              <a:buNone/>
            </a:pPr>
            <a:r>
              <a:rPr lang="en-US" sz="900" dirty="0">
                <a:solidFill>
                  <a:srgbClr val="8FA3B8"/>
                </a:solidFill>
                <a:latin typeface="Calibri" pitchFamily="34" charset="0"/>
                <a:ea typeface="Calibri" pitchFamily="34" charset="-122"/>
                <a:cs typeface="Calibri" pitchFamily="34" charset="-120"/>
              </a:rPr>
              <a:t>Secure</a:t>
            </a:r>
            <a:endParaRPr lang="en-US" sz="900" dirty="0"/>
          </a:p>
          <a:p>
            <a:pPr marL="0" indent="0" algn="ctr">
              <a:buNone/>
            </a:pPr>
            <a:r>
              <a:rPr lang="en-US" sz="900" dirty="0">
                <a:solidFill>
                  <a:srgbClr val="8FA3B8"/>
                </a:solidFill>
                <a:latin typeface="Calibri" pitchFamily="34" charset="0"/>
                <a:ea typeface="Calibri" pitchFamily="34" charset="-122"/>
                <a:cs typeface="Calibri" pitchFamily="34" charset="-120"/>
              </a:rPr>
              <a:t>API Call</a:t>
            </a:r>
            <a:endParaRPr lang="en-US" sz="900" dirty="0"/>
          </a:p>
        </p:txBody>
      </p:sp>
      <p:sp>
        <p:nvSpPr>
          <p:cNvPr id="12" name="Shape 10"/>
          <p:cNvSpPr/>
          <p:nvPr/>
        </p:nvSpPr>
        <p:spPr>
          <a:xfrm>
            <a:off x="5303520" y="1188720"/>
            <a:ext cx="3520440" cy="3200400"/>
          </a:xfrm>
          <a:prstGeom prst="rect">
            <a:avLst/>
          </a:prstGeom>
          <a:solidFill>
            <a:srgbClr val="1E3045"/>
          </a:solidFill>
          <a:ln w="12700">
            <a:solidFill>
              <a:srgbClr val="FF9900"/>
            </a:solidFill>
            <a:prstDash val="solid"/>
          </a:ln>
        </p:spPr>
        <p:txBody>
          <a:bodyPr/>
          <a:lstStyle/>
          <a:p>
            <a:endParaRPr/>
          </a:p>
        </p:txBody>
      </p:sp>
      <p:sp>
        <p:nvSpPr>
          <p:cNvPr id="13" name="Shape 11"/>
          <p:cNvSpPr/>
          <p:nvPr/>
        </p:nvSpPr>
        <p:spPr>
          <a:xfrm>
            <a:off x="5303520" y="1188720"/>
            <a:ext cx="3520440" cy="438912"/>
          </a:xfrm>
          <a:prstGeom prst="rect">
            <a:avLst/>
          </a:prstGeom>
          <a:solidFill>
            <a:srgbClr val="FF9900"/>
          </a:solidFill>
          <a:ln w="12700">
            <a:solidFill>
              <a:srgbClr val="FF9900"/>
            </a:solidFill>
            <a:prstDash val="solid"/>
          </a:ln>
        </p:spPr>
        <p:txBody>
          <a:bodyPr/>
          <a:lstStyle/>
          <a:p>
            <a:endParaRPr/>
          </a:p>
        </p:txBody>
      </p:sp>
      <p:sp>
        <p:nvSpPr>
          <p:cNvPr id="14" name="Text 12"/>
          <p:cNvSpPr/>
          <p:nvPr/>
        </p:nvSpPr>
        <p:spPr>
          <a:xfrm>
            <a:off x="5303520" y="1188720"/>
            <a:ext cx="3520440" cy="438912"/>
          </a:xfrm>
          <a:prstGeom prst="rect">
            <a:avLst/>
          </a:prstGeom>
          <a:noFill/>
          <a:ln/>
        </p:spPr>
        <p:txBody>
          <a:bodyPr wrap="square" lIns="0" tIns="0" rIns="0" bIns="0"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Amazon Bedrock</a:t>
            </a:r>
            <a:endParaRPr lang="en-US" sz="1400" dirty="0"/>
          </a:p>
        </p:txBody>
      </p:sp>
      <p:sp>
        <p:nvSpPr>
          <p:cNvPr id="15" name="Text 13"/>
          <p:cNvSpPr/>
          <p:nvPr/>
        </p:nvSpPr>
        <p:spPr>
          <a:xfrm>
            <a:off x="5486400" y="1737360"/>
            <a:ext cx="3154680" cy="2468880"/>
          </a:xfrm>
          <a:prstGeom prst="rect">
            <a:avLst/>
          </a:prstGeom>
          <a:noFill/>
          <a:ln/>
        </p:spPr>
        <p:txBody>
          <a:bodyPr wrap="square" lIns="0" tIns="0" rIns="0" bIns="0" rtlCol="0" anchor="ctr"/>
          <a:lstStyle/>
          <a:p>
            <a:pPr marL="342900" indent="-342900">
              <a:buSzPct val="100000"/>
              <a:buChar char="•"/>
            </a:pPr>
            <a:r>
              <a:rPr lang="en-US" sz="1100" dirty="0">
                <a:solidFill>
                  <a:srgbClr val="E8EFF6"/>
                </a:solidFill>
                <a:latin typeface="Calibri" pitchFamily="34" charset="0"/>
                <a:ea typeface="Calibri" pitchFamily="34" charset="-122"/>
                <a:cs typeface="Calibri" pitchFamily="34" charset="-120"/>
              </a:rPr>
              <a:t>Open-ended question answering</a:t>
            </a:r>
            <a:endParaRPr lang="en-US" sz="1100" dirty="0"/>
          </a:p>
          <a:p>
            <a:pPr marL="342900" indent="-342900">
              <a:buSzPct val="100000"/>
              <a:buChar char="•"/>
            </a:pPr>
            <a:r>
              <a:rPr lang="en-US" sz="1100" dirty="0">
                <a:solidFill>
                  <a:srgbClr val="E8EFF6"/>
                </a:solidFill>
                <a:latin typeface="Calibri" pitchFamily="34" charset="0"/>
                <a:ea typeface="Calibri" pitchFamily="34" charset="-122"/>
                <a:cs typeface="Calibri" pitchFamily="34" charset="-120"/>
              </a:rPr>
              <a:t>Generative &amp; creative responses</a:t>
            </a:r>
            <a:endParaRPr lang="en-US" sz="1100" dirty="0"/>
          </a:p>
          <a:p>
            <a:pPr marL="342900" indent="-342900">
              <a:buSzPct val="100000"/>
              <a:buChar char="•"/>
            </a:pPr>
            <a:r>
              <a:rPr lang="en-US" sz="1100" dirty="0">
                <a:solidFill>
                  <a:srgbClr val="E8EFF6"/>
                </a:solidFill>
                <a:latin typeface="Calibri" pitchFamily="34" charset="0"/>
                <a:ea typeface="Calibri" pitchFamily="34" charset="-122"/>
                <a:cs typeface="Calibri" pitchFamily="34" charset="-120"/>
              </a:rPr>
              <a:t>Document summarization</a:t>
            </a:r>
            <a:endParaRPr lang="en-US" sz="1100" dirty="0"/>
          </a:p>
          <a:p>
            <a:pPr marL="342900" indent="-342900">
              <a:buSzPct val="100000"/>
              <a:buChar char="•"/>
            </a:pPr>
            <a:r>
              <a:rPr lang="en-US" sz="1100" dirty="0">
                <a:solidFill>
                  <a:srgbClr val="E8EFF6"/>
                </a:solidFill>
                <a:latin typeface="Calibri" pitchFamily="34" charset="0"/>
                <a:ea typeface="Calibri" pitchFamily="34" charset="-122"/>
                <a:cs typeface="Calibri" pitchFamily="34" charset="-120"/>
              </a:rPr>
              <a:t>Personalized recommendations</a:t>
            </a:r>
            <a:endParaRPr lang="en-US" sz="1100" dirty="0"/>
          </a:p>
          <a:p>
            <a:pPr marL="342900" indent="-342900">
              <a:buSzPct val="100000"/>
              <a:buChar char="•"/>
            </a:pPr>
            <a:r>
              <a:rPr lang="en-US" sz="1100" dirty="0">
                <a:solidFill>
                  <a:srgbClr val="E8EFF6"/>
                </a:solidFill>
                <a:latin typeface="Calibri" pitchFamily="34" charset="0"/>
                <a:ea typeface="Calibri" pitchFamily="34" charset="-122"/>
                <a:cs typeface="Calibri" pitchFamily="34" charset="-120"/>
              </a:rPr>
              <a:t>Claude / Titan / Llama models</a:t>
            </a:r>
            <a:endParaRPr lang="en-US" sz="1100" dirty="0"/>
          </a:p>
        </p:txBody>
      </p:sp>
      <p:sp>
        <p:nvSpPr>
          <p:cNvPr id="16" name="Shape 14"/>
          <p:cNvSpPr/>
          <p:nvPr/>
        </p:nvSpPr>
        <p:spPr>
          <a:xfrm>
            <a:off x="0" y="4686300"/>
            <a:ext cx="9144000" cy="457200"/>
          </a:xfrm>
          <a:prstGeom prst="rect">
            <a:avLst/>
          </a:prstGeom>
          <a:solidFill>
            <a:srgbClr val="162232"/>
          </a:solidFill>
          <a:ln w="12700">
            <a:solidFill>
              <a:srgbClr val="162232"/>
            </a:solidFill>
            <a:prstDash val="solid"/>
          </a:ln>
        </p:spPr>
        <p:txBody>
          <a:bodyPr/>
          <a:lstStyle/>
          <a:p>
            <a:endParaRPr/>
          </a:p>
        </p:txBody>
      </p:sp>
      <p:sp>
        <p:nvSpPr>
          <p:cNvPr id="17" name="Text 15"/>
          <p:cNvSpPr/>
          <p:nvPr/>
        </p:nvSpPr>
        <p:spPr>
          <a:xfrm>
            <a:off x="457200" y="4686300"/>
            <a:ext cx="7315200" cy="457200"/>
          </a:xfrm>
          <a:prstGeom prst="rect">
            <a:avLst/>
          </a:prstGeom>
          <a:noFill/>
          <a:ln/>
        </p:spPr>
        <p:txBody>
          <a:bodyPr wrap="square" rtlCol="0" anchor="ctr"/>
          <a:lstStyle/>
          <a:p>
            <a:pPr marL="0" indent="0">
              <a:buNone/>
            </a:pPr>
            <a:r>
              <a:rPr lang="en-US" sz="1000" dirty="0">
                <a:solidFill>
                  <a:srgbClr val="8FA3B8"/>
                </a:solidFill>
                <a:latin typeface="Calibri" pitchFamily="34" charset="0"/>
                <a:ea typeface="Calibri" pitchFamily="34" charset="-122"/>
                <a:cs typeface="Calibri" pitchFamily="34" charset="-120"/>
              </a:rPr>
              <a:t>Amazon Bedrock | Cloud Computing Presentation</a:t>
            </a:r>
            <a:endParaRPr lang="en-US" sz="1000" dirty="0"/>
          </a:p>
        </p:txBody>
      </p:sp>
      <p:sp>
        <p:nvSpPr>
          <p:cNvPr id="18" name="Text 16"/>
          <p:cNvSpPr/>
          <p:nvPr/>
        </p:nvSpPr>
        <p:spPr>
          <a:xfrm>
            <a:off x="8046720" y="4686300"/>
            <a:ext cx="914400" cy="457200"/>
          </a:xfrm>
          <a:prstGeom prst="rect">
            <a:avLst/>
          </a:prstGeom>
          <a:noFill/>
          <a:ln/>
        </p:spPr>
        <p:txBody>
          <a:bodyPr wrap="square" rtlCol="0" anchor="ctr"/>
          <a:lstStyle/>
          <a:p>
            <a:pPr marL="0" indent="0" algn="r">
              <a:buNone/>
            </a:pPr>
            <a:r>
              <a:rPr lang="en-US" sz="1000" dirty="0">
                <a:solidFill>
                  <a:srgbClr val="8FA3B8"/>
                </a:solidFill>
                <a:latin typeface="Calibri" pitchFamily="34" charset="0"/>
                <a:ea typeface="Calibri" pitchFamily="34" charset="-122"/>
                <a:cs typeface="Calibri" pitchFamily="34" charset="-120"/>
              </a:rPr>
              <a:t>7 / 14</a:t>
            </a:r>
            <a:endParaRPr lang="en-US" sz="1000" dirty="0"/>
          </a:p>
        </p:txBody>
      </p:sp>
      <p:pic>
        <p:nvPicPr>
          <p:cNvPr id="19" name="Picture 18" descr="image.png"/>
          <p:cNvPicPr>
            <a:picLocks noChangeAspect="1"/>
          </p:cNvPicPr>
          <p:nvPr/>
        </p:nvPicPr>
        <p:blipFill>
          <a:blip r:embed="rId3"/>
          <a:stretch>
            <a:fillRect/>
          </a:stretch>
        </p:blipFill>
        <p:spPr>
          <a:xfrm>
            <a:off x="475488" y="1261872"/>
            <a:ext cx="292608" cy="292608"/>
          </a:xfrm>
          <a:prstGeom prst="rect">
            <a:avLst/>
          </a:prstGeom>
        </p:spPr>
      </p:pic>
      <p:pic>
        <p:nvPicPr>
          <p:cNvPr id="20" name="Picture 19" descr="image.png"/>
          <p:cNvPicPr>
            <a:picLocks noChangeAspect="1"/>
          </p:cNvPicPr>
          <p:nvPr/>
        </p:nvPicPr>
        <p:blipFill>
          <a:blip r:embed="rId4"/>
          <a:stretch>
            <a:fillRect/>
          </a:stretch>
        </p:blipFill>
        <p:spPr>
          <a:xfrm>
            <a:off x="5458968" y="1261872"/>
            <a:ext cx="292608" cy="2926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9900"/>
          </a:solidFill>
          <a:ln w="12700">
            <a:solidFill>
              <a:srgbClr val="FF9900"/>
            </a:solidFill>
            <a:prstDash val="solid"/>
          </a:ln>
        </p:spPr>
        <p:txBody>
          <a:bodyPr/>
          <a:lstStyle/>
          <a:p>
            <a:endParaRPr lang="en-US"/>
          </a:p>
        </p:txBody>
      </p:sp>
      <p:sp>
        <p:nvSpPr>
          <p:cNvPr id="3" name="Text 1"/>
          <p:cNvSpPr/>
          <p:nvPr/>
        </p:nvSpPr>
        <p:spPr>
          <a:xfrm>
            <a:off x="457200" y="228600"/>
            <a:ext cx="8229600" cy="320040"/>
          </a:xfrm>
          <a:prstGeom prst="rect">
            <a:avLst/>
          </a:prstGeom>
          <a:noFill/>
          <a:ln/>
        </p:spPr>
        <p:txBody>
          <a:bodyPr wrap="square" rtlCol="0" anchor="ctr"/>
          <a:lstStyle/>
          <a:p>
            <a:pPr marL="0" indent="0">
              <a:buNone/>
            </a:pPr>
            <a:r>
              <a:rPr lang="en-US" sz="1000" b="1" kern="0" spc="400" dirty="0">
                <a:solidFill>
                  <a:srgbClr val="FF9900"/>
                </a:solidFill>
                <a:latin typeface="Calibri" pitchFamily="34" charset="0"/>
                <a:ea typeface="Calibri" pitchFamily="34" charset="-122"/>
                <a:cs typeface="Calibri" pitchFamily="34" charset="-120"/>
              </a:rPr>
              <a:t>KEY CONCEPT</a:t>
            </a:r>
            <a:endParaRPr lang="en-US" sz="1000" dirty="0"/>
          </a:p>
        </p:txBody>
      </p:sp>
      <p:sp>
        <p:nvSpPr>
          <p:cNvPr id="4" name="Text 2"/>
          <p:cNvSpPr/>
          <p:nvPr/>
        </p:nvSpPr>
        <p:spPr>
          <a:xfrm>
            <a:off x="457200" y="502920"/>
            <a:ext cx="82296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Generative AI vs Conversational AI</a:t>
            </a:r>
            <a:endParaRPr lang="en-US" sz="2800" dirty="0"/>
          </a:p>
        </p:txBody>
      </p:sp>
      <p:sp>
        <p:nvSpPr>
          <p:cNvPr id="5" name="Shape 3"/>
          <p:cNvSpPr/>
          <p:nvPr/>
        </p:nvSpPr>
        <p:spPr>
          <a:xfrm>
            <a:off x="1371600" y="1188720"/>
            <a:ext cx="6400800" cy="3200400"/>
          </a:xfrm>
          <a:prstGeom prst="ellipse">
            <a:avLst/>
          </a:prstGeom>
          <a:solidFill>
            <a:srgbClr val="FF9900">
              <a:alpha val="12000"/>
            </a:srgbClr>
          </a:solidFill>
          <a:ln w="12700">
            <a:solidFill>
              <a:srgbClr val="FF9900"/>
            </a:solidFill>
            <a:prstDash val="solid"/>
          </a:ln>
        </p:spPr>
        <p:txBody>
          <a:bodyPr/>
          <a:lstStyle/>
          <a:p>
            <a:endParaRPr lang="en-US"/>
          </a:p>
        </p:txBody>
      </p:sp>
      <p:sp>
        <p:nvSpPr>
          <p:cNvPr id="6" name="Text 4"/>
          <p:cNvSpPr/>
          <p:nvPr/>
        </p:nvSpPr>
        <p:spPr>
          <a:xfrm>
            <a:off x="1371600" y="1188720"/>
            <a:ext cx="2286000" cy="457200"/>
          </a:xfrm>
          <a:prstGeom prst="rect">
            <a:avLst/>
          </a:prstGeom>
          <a:noFill/>
          <a:ln/>
        </p:spPr>
        <p:txBody>
          <a:bodyPr wrap="square" lIns="0" tIns="0" rIns="0" bIns="0" rtlCol="0" anchor="ctr"/>
          <a:lstStyle/>
          <a:p>
            <a:pPr marL="0" indent="0">
              <a:buNone/>
            </a:pPr>
            <a:r>
              <a:rPr lang="en-US" sz="1400" b="1" dirty="0">
                <a:solidFill>
                  <a:srgbClr val="FF9900"/>
                </a:solidFill>
                <a:latin typeface="Calibri" pitchFamily="34" charset="0"/>
                <a:ea typeface="Calibri" pitchFamily="34" charset="-122"/>
                <a:cs typeface="Calibri" pitchFamily="34" charset="-120"/>
              </a:rPr>
              <a:t>Generative AI</a:t>
            </a:r>
            <a:endParaRPr lang="en-US" sz="1400" dirty="0"/>
          </a:p>
        </p:txBody>
      </p:sp>
      <p:sp>
        <p:nvSpPr>
          <p:cNvPr id="7" name="Text 5"/>
          <p:cNvSpPr/>
          <p:nvPr/>
        </p:nvSpPr>
        <p:spPr>
          <a:xfrm>
            <a:off x="1463040" y="1691640"/>
            <a:ext cx="2103120" cy="685800"/>
          </a:xfrm>
          <a:prstGeom prst="rect">
            <a:avLst/>
          </a:prstGeom>
          <a:noFill/>
          <a:ln/>
        </p:spPr>
        <p:txBody>
          <a:bodyPr wrap="square" lIns="0" tIns="0" rIns="0" bIns="0" rtlCol="0" anchor="ctr"/>
          <a:lstStyle/>
          <a:p>
            <a:pPr marL="0" indent="0">
              <a:buNone/>
            </a:pPr>
            <a:r>
              <a:rPr lang="en-US" sz="1000" dirty="0">
                <a:solidFill>
                  <a:srgbClr val="E8EFF6"/>
                </a:solidFill>
                <a:latin typeface="Calibri" pitchFamily="34" charset="0"/>
                <a:ea typeface="Calibri" pitchFamily="34" charset="-122"/>
                <a:cs typeface="Calibri" pitchFamily="34" charset="-120"/>
              </a:rPr>
              <a:t>Text, Images, Embeddings,</a:t>
            </a:r>
            <a:endParaRPr lang="en-US" sz="1000" dirty="0"/>
          </a:p>
          <a:p>
            <a:pPr marL="0" indent="0">
              <a:buNone/>
            </a:pPr>
            <a:r>
              <a:rPr lang="en-US" sz="1000" dirty="0">
                <a:solidFill>
                  <a:srgbClr val="E8EFF6"/>
                </a:solidFill>
                <a:latin typeface="Calibri" pitchFamily="34" charset="0"/>
                <a:ea typeface="Calibri" pitchFamily="34" charset="-122"/>
                <a:cs typeface="Calibri" pitchFamily="34" charset="-120"/>
              </a:rPr>
              <a:t>Summarization, Code</a:t>
            </a:r>
            <a:endParaRPr lang="en-US" sz="1000" dirty="0"/>
          </a:p>
        </p:txBody>
      </p:sp>
      <p:sp>
        <p:nvSpPr>
          <p:cNvPr id="8" name="Shape 6"/>
          <p:cNvSpPr/>
          <p:nvPr/>
        </p:nvSpPr>
        <p:spPr>
          <a:xfrm>
            <a:off x="2834640" y="1600200"/>
            <a:ext cx="3474720" cy="2377440"/>
          </a:xfrm>
          <a:prstGeom prst="ellipse">
            <a:avLst/>
          </a:prstGeom>
          <a:solidFill>
            <a:srgbClr val="00B3B3">
              <a:alpha val="20000"/>
            </a:srgbClr>
          </a:solidFill>
          <a:ln w="12700">
            <a:solidFill>
              <a:srgbClr val="00B3B3"/>
            </a:solidFill>
            <a:prstDash val="solid"/>
          </a:ln>
        </p:spPr>
        <p:txBody>
          <a:bodyPr/>
          <a:lstStyle/>
          <a:p>
            <a:endParaRPr lang="en-US"/>
          </a:p>
        </p:txBody>
      </p:sp>
      <p:sp>
        <p:nvSpPr>
          <p:cNvPr id="9" name="Text 7"/>
          <p:cNvSpPr/>
          <p:nvPr/>
        </p:nvSpPr>
        <p:spPr>
          <a:xfrm>
            <a:off x="2926080" y="1737360"/>
            <a:ext cx="3291840" cy="384048"/>
          </a:xfrm>
          <a:prstGeom prst="rect">
            <a:avLst/>
          </a:prstGeom>
          <a:noFill/>
          <a:ln/>
        </p:spPr>
        <p:txBody>
          <a:bodyPr wrap="square" lIns="0" tIns="0" rIns="0" bIns="0" rtlCol="0" anchor="ctr"/>
          <a:lstStyle/>
          <a:p>
            <a:pPr marL="0" indent="0" algn="ctr">
              <a:buNone/>
            </a:pPr>
            <a:r>
              <a:rPr lang="en-US" sz="1300" b="1" dirty="0">
                <a:solidFill>
                  <a:srgbClr val="00B3B3"/>
                </a:solidFill>
                <a:latin typeface="Calibri" pitchFamily="34" charset="0"/>
                <a:ea typeface="Calibri" pitchFamily="34" charset="-122"/>
                <a:cs typeface="Calibri" pitchFamily="34" charset="-120"/>
              </a:rPr>
              <a:t>Conversational AI</a:t>
            </a:r>
            <a:endParaRPr lang="en-US" sz="1300" dirty="0"/>
          </a:p>
        </p:txBody>
      </p:sp>
      <p:sp>
        <p:nvSpPr>
          <p:cNvPr id="10" name="Text 8"/>
          <p:cNvSpPr/>
          <p:nvPr/>
        </p:nvSpPr>
        <p:spPr>
          <a:xfrm>
            <a:off x="3017520" y="2176272"/>
            <a:ext cx="310896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Chatbots, Digital Assistants,</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Dialogue Management,</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Intent Recognition</a:t>
            </a:r>
            <a:endParaRPr lang="en-US" sz="1000" dirty="0"/>
          </a:p>
        </p:txBody>
      </p:sp>
      <p:sp>
        <p:nvSpPr>
          <p:cNvPr id="11" name="Shape 9"/>
          <p:cNvSpPr/>
          <p:nvPr/>
        </p:nvSpPr>
        <p:spPr>
          <a:xfrm>
            <a:off x="0" y="4686300"/>
            <a:ext cx="9144000" cy="457200"/>
          </a:xfrm>
          <a:prstGeom prst="rect">
            <a:avLst/>
          </a:prstGeom>
          <a:solidFill>
            <a:srgbClr val="162232"/>
          </a:solidFill>
          <a:ln w="12700">
            <a:solidFill>
              <a:srgbClr val="162232"/>
            </a:solidFill>
            <a:prstDash val="solid"/>
          </a:ln>
        </p:spPr>
        <p:txBody>
          <a:bodyPr/>
          <a:lstStyle/>
          <a:p>
            <a:endParaRPr lang="en-US"/>
          </a:p>
        </p:txBody>
      </p:sp>
      <p:sp>
        <p:nvSpPr>
          <p:cNvPr id="12" name="Text 10"/>
          <p:cNvSpPr/>
          <p:nvPr/>
        </p:nvSpPr>
        <p:spPr>
          <a:xfrm>
            <a:off x="457200" y="4686300"/>
            <a:ext cx="7315200" cy="457200"/>
          </a:xfrm>
          <a:prstGeom prst="rect">
            <a:avLst/>
          </a:prstGeom>
          <a:noFill/>
          <a:ln/>
        </p:spPr>
        <p:txBody>
          <a:bodyPr wrap="square" rtlCol="0" anchor="ctr"/>
          <a:lstStyle/>
          <a:p>
            <a:pPr marL="0" indent="0">
              <a:buNone/>
            </a:pPr>
            <a:r>
              <a:rPr lang="en-US" sz="1000" dirty="0">
                <a:solidFill>
                  <a:srgbClr val="8FA3B8"/>
                </a:solidFill>
                <a:latin typeface="Calibri" pitchFamily="34" charset="0"/>
                <a:ea typeface="Calibri" pitchFamily="34" charset="-122"/>
                <a:cs typeface="Calibri" pitchFamily="34" charset="-120"/>
              </a:rPr>
              <a:t>Amazon Bedrock | Cloud Computing Presentation</a:t>
            </a:r>
            <a:endParaRPr lang="en-US" sz="1000" dirty="0"/>
          </a:p>
        </p:txBody>
      </p:sp>
      <p:sp>
        <p:nvSpPr>
          <p:cNvPr id="13" name="Text 11"/>
          <p:cNvSpPr/>
          <p:nvPr/>
        </p:nvSpPr>
        <p:spPr>
          <a:xfrm>
            <a:off x="8046720" y="4686300"/>
            <a:ext cx="914400" cy="457200"/>
          </a:xfrm>
          <a:prstGeom prst="rect">
            <a:avLst/>
          </a:prstGeom>
          <a:noFill/>
          <a:ln/>
        </p:spPr>
        <p:txBody>
          <a:bodyPr wrap="square" rtlCol="0" anchor="ctr"/>
          <a:lstStyle/>
          <a:p>
            <a:pPr marL="0" indent="0" algn="r">
              <a:buNone/>
            </a:pPr>
            <a:r>
              <a:rPr lang="en-US" sz="1000" dirty="0">
                <a:solidFill>
                  <a:srgbClr val="8FA3B8"/>
                </a:solidFill>
                <a:latin typeface="Calibri" pitchFamily="34" charset="0"/>
                <a:ea typeface="Calibri" pitchFamily="34" charset="-122"/>
                <a:cs typeface="Calibri" pitchFamily="34" charset="-120"/>
              </a:rPr>
              <a:t>8 / 14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74C3C"/>
          </a:solidFill>
          <a:ln w="12700">
            <a:solidFill>
              <a:srgbClr val="E74C3C"/>
            </a:solidFill>
            <a:prstDash val="solid"/>
          </a:ln>
        </p:spPr>
        <p:txBody>
          <a:bodyPr/>
          <a:lstStyle/>
          <a:p>
            <a:endParaRPr lang="en-US"/>
          </a:p>
        </p:txBody>
      </p:sp>
      <p:sp>
        <p:nvSpPr>
          <p:cNvPr id="3" name="Text 1"/>
          <p:cNvSpPr/>
          <p:nvPr/>
        </p:nvSpPr>
        <p:spPr>
          <a:xfrm>
            <a:off x="457200" y="228600"/>
            <a:ext cx="8229600" cy="320040"/>
          </a:xfrm>
          <a:prstGeom prst="rect">
            <a:avLst/>
          </a:prstGeom>
          <a:noFill/>
          <a:ln/>
        </p:spPr>
        <p:txBody>
          <a:bodyPr wrap="square" rtlCol="0" anchor="ctr"/>
          <a:lstStyle/>
          <a:p>
            <a:pPr marL="0" indent="0">
              <a:buNone/>
            </a:pPr>
            <a:r>
              <a:rPr lang="en-US" sz="1000" b="1" kern="0" spc="400" dirty="0">
                <a:solidFill>
                  <a:srgbClr val="E74C3C"/>
                </a:solidFill>
                <a:latin typeface="Calibri" pitchFamily="34" charset="0"/>
                <a:ea typeface="Calibri" pitchFamily="34" charset="-122"/>
                <a:cs typeface="Calibri" pitchFamily="34" charset="-120"/>
              </a:rPr>
              <a:t>SECURITY</a:t>
            </a:r>
            <a:endParaRPr lang="en-US" sz="1000" dirty="0"/>
          </a:p>
        </p:txBody>
      </p:sp>
      <p:sp>
        <p:nvSpPr>
          <p:cNvPr id="4" name="Text 2"/>
          <p:cNvSpPr/>
          <p:nvPr/>
        </p:nvSpPr>
        <p:spPr>
          <a:xfrm>
            <a:off x="457200" y="502920"/>
            <a:ext cx="82296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Enterprise Security &amp; Compliance</a:t>
            </a:r>
            <a:endParaRPr lang="en-US" sz="2800" dirty="0"/>
          </a:p>
        </p:txBody>
      </p:sp>
      <p:sp>
        <p:nvSpPr>
          <p:cNvPr id="5" name="Shape 3"/>
          <p:cNvSpPr/>
          <p:nvPr/>
        </p:nvSpPr>
        <p:spPr>
          <a:xfrm>
            <a:off x="320040" y="1188720"/>
            <a:ext cx="4937760" cy="960120"/>
          </a:xfrm>
          <a:prstGeom prst="rect">
            <a:avLst/>
          </a:prstGeom>
          <a:solidFill>
            <a:srgbClr val="1E3045"/>
          </a:solidFill>
          <a:ln w="12700">
            <a:solidFill>
              <a:srgbClr val="2A4060"/>
            </a:solidFill>
            <a:prstDash val="solid"/>
          </a:ln>
        </p:spPr>
        <p:txBody>
          <a:bodyPr/>
          <a:lstStyle/>
          <a:p>
            <a:endParaRPr lang="en-US"/>
          </a:p>
        </p:txBody>
      </p:sp>
      <p:sp>
        <p:nvSpPr>
          <p:cNvPr id="6" name="Shape 4"/>
          <p:cNvSpPr/>
          <p:nvPr/>
        </p:nvSpPr>
        <p:spPr>
          <a:xfrm>
            <a:off x="320040" y="1188720"/>
            <a:ext cx="64008" cy="960120"/>
          </a:xfrm>
          <a:prstGeom prst="rect">
            <a:avLst/>
          </a:prstGeom>
          <a:solidFill>
            <a:srgbClr val="E74C3C"/>
          </a:solidFill>
          <a:ln w="12700">
            <a:solidFill>
              <a:srgbClr val="E74C3C"/>
            </a:solidFill>
            <a:prstDash val="solid"/>
          </a:ln>
        </p:spPr>
        <p:txBody>
          <a:bodyPr/>
          <a:lstStyle/>
          <a:p>
            <a:endParaRPr lang="en-US"/>
          </a:p>
        </p:txBody>
      </p:sp>
      <p:sp>
        <p:nvSpPr>
          <p:cNvPr id="7" name="Shape 5"/>
          <p:cNvSpPr/>
          <p:nvPr/>
        </p:nvSpPr>
        <p:spPr>
          <a:xfrm>
            <a:off x="502920" y="1325880"/>
            <a:ext cx="530352" cy="530352"/>
          </a:xfrm>
          <a:prstGeom prst="ellipse">
            <a:avLst/>
          </a:prstGeom>
          <a:solidFill>
            <a:srgbClr val="E74C3C">
              <a:alpha val="20000"/>
            </a:srgbClr>
          </a:solidFill>
          <a:ln w="12700">
            <a:solidFill>
              <a:srgbClr val="E74C3C">
                <a:alpha val="45000"/>
              </a:srgbClr>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566928" y="1380744"/>
            <a:ext cx="402336" cy="402336"/>
          </a:xfrm>
          <a:prstGeom prst="rect">
            <a:avLst/>
          </a:prstGeom>
        </p:spPr>
      </p:pic>
      <p:sp>
        <p:nvSpPr>
          <p:cNvPr id="9" name="Text 6"/>
          <p:cNvSpPr/>
          <p:nvPr/>
        </p:nvSpPr>
        <p:spPr>
          <a:xfrm>
            <a:off x="1170432" y="1261872"/>
            <a:ext cx="388620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AWS IAM</a:t>
            </a:r>
            <a:endParaRPr lang="en-US" sz="1300" dirty="0"/>
          </a:p>
        </p:txBody>
      </p:sp>
      <p:sp>
        <p:nvSpPr>
          <p:cNvPr id="10" name="Text 7"/>
          <p:cNvSpPr/>
          <p:nvPr/>
        </p:nvSpPr>
        <p:spPr>
          <a:xfrm>
            <a:off x="1170432" y="1645920"/>
            <a:ext cx="3886200" cy="438912"/>
          </a:xfrm>
          <a:prstGeom prst="rect">
            <a:avLst/>
          </a:prstGeom>
          <a:noFill/>
          <a:ln/>
        </p:spPr>
        <p:txBody>
          <a:bodyPr wrap="square" lIns="0" tIns="0" rIns="0" bIns="0" rtlCol="0" anchor="ctr"/>
          <a:lstStyle/>
          <a:p>
            <a:pPr marL="0" indent="0">
              <a:buNone/>
            </a:pPr>
            <a:r>
              <a:rPr lang="en-US" sz="1050" dirty="0">
                <a:solidFill>
                  <a:srgbClr val="E8EFF6"/>
                </a:solidFill>
                <a:latin typeface="Calibri" pitchFamily="34" charset="0"/>
                <a:ea typeface="Calibri" pitchFamily="34" charset="-122"/>
                <a:cs typeface="Calibri" pitchFamily="34" charset="-120"/>
              </a:rPr>
              <a:t>Role-based access ensures only authorized services can invoke Bedrock. IRSA for Kubernetes workloads.</a:t>
            </a:r>
            <a:endParaRPr lang="en-US" sz="1050" dirty="0"/>
          </a:p>
        </p:txBody>
      </p:sp>
      <p:sp>
        <p:nvSpPr>
          <p:cNvPr id="11" name="Shape 8"/>
          <p:cNvSpPr/>
          <p:nvPr/>
        </p:nvSpPr>
        <p:spPr>
          <a:xfrm>
            <a:off x="320040" y="2286000"/>
            <a:ext cx="4937760" cy="960120"/>
          </a:xfrm>
          <a:prstGeom prst="rect">
            <a:avLst/>
          </a:prstGeom>
          <a:solidFill>
            <a:srgbClr val="1E3045"/>
          </a:solidFill>
          <a:ln w="12700">
            <a:solidFill>
              <a:srgbClr val="2A4060"/>
            </a:solidFill>
            <a:prstDash val="solid"/>
          </a:ln>
        </p:spPr>
        <p:txBody>
          <a:bodyPr/>
          <a:lstStyle/>
          <a:p>
            <a:endParaRPr lang="en-US"/>
          </a:p>
        </p:txBody>
      </p:sp>
      <p:sp>
        <p:nvSpPr>
          <p:cNvPr id="12" name="Shape 9"/>
          <p:cNvSpPr/>
          <p:nvPr/>
        </p:nvSpPr>
        <p:spPr>
          <a:xfrm>
            <a:off x="320040" y="2286000"/>
            <a:ext cx="64008" cy="960120"/>
          </a:xfrm>
          <a:prstGeom prst="rect">
            <a:avLst/>
          </a:prstGeom>
          <a:solidFill>
            <a:srgbClr val="E67E22"/>
          </a:solidFill>
          <a:ln w="12700">
            <a:solidFill>
              <a:srgbClr val="E67E22"/>
            </a:solidFill>
            <a:prstDash val="solid"/>
          </a:ln>
        </p:spPr>
        <p:txBody>
          <a:bodyPr/>
          <a:lstStyle/>
          <a:p>
            <a:endParaRPr lang="en-US"/>
          </a:p>
        </p:txBody>
      </p:sp>
      <p:sp>
        <p:nvSpPr>
          <p:cNvPr id="13" name="Shape 10"/>
          <p:cNvSpPr/>
          <p:nvPr/>
        </p:nvSpPr>
        <p:spPr>
          <a:xfrm>
            <a:off x="502920" y="2423160"/>
            <a:ext cx="530352" cy="530352"/>
          </a:xfrm>
          <a:prstGeom prst="ellipse">
            <a:avLst/>
          </a:prstGeom>
          <a:solidFill>
            <a:srgbClr val="E67E22">
              <a:alpha val="20000"/>
            </a:srgbClr>
          </a:solidFill>
          <a:ln w="12700">
            <a:solidFill>
              <a:srgbClr val="E67E22">
                <a:alpha val="45000"/>
              </a:srgbClr>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566928" y="2478024"/>
            <a:ext cx="402336" cy="402336"/>
          </a:xfrm>
          <a:prstGeom prst="rect">
            <a:avLst/>
          </a:prstGeom>
        </p:spPr>
      </p:pic>
      <p:sp>
        <p:nvSpPr>
          <p:cNvPr id="15" name="Text 11"/>
          <p:cNvSpPr/>
          <p:nvPr/>
        </p:nvSpPr>
        <p:spPr>
          <a:xfrm>
            <a:off x="1170432" y="2359152"/>
            <a:ext cx="388620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VPC Endpoints</a:t>
            </a:r>
            <a:endParaRPr lang="en-US" sz="1300" dirty="0"/>
          </a:p>
        </p:txBody>
      </p:sp>
      <p:sp>
        <p:nvSpPr>
          <p:cNvPr id="16" name="Text 12"/>
          <p:cNvSpPr/>
          <p:nvPr/>
        </p:nvSpPr>
        <p:spPr>
          <a:xfrm>
            <a:off x="1170432" y="2743200"/>
            <a:ext cx="3886200" cy="438912"/>
          </a:xfrm>
          <a:prstGeom prst="rect">
            <a:avLst/>
          </a:prstGeom>
          <a:noFill/>
          <a:ln/>
        </p:spPr>
        <p:txBody>
          <a:bodyPr wrap="square" lIns="0" tIns="0" rIns="0" bIns="0" rtlCol="0" anchor="ctr"/>
          <a:lstStyle/>
          <a:p>
            <a:pPr marL="0" indent="0">
              <a:buNone/>
            </a:pPr>
            <a:r>
              <a:rPr lang="en-US" sz="1050" dirty="0">
                <a:solidFill>
                  <a:srgbClr val="E8EFF6"/>
                </a:solidFill>
                <a:latin typeface="Calibri" pitchFamily="34" charset="0"/>
                <a:ea typeface="Calibri" pitchFamily="34" charset="-122"/>
                <a:cs typeface="Calibri" pitchFamily="34" charset="-120"/>
              </a:rPr>
              <a:t>Traffic never traverses the public internet. Full private networking with service-to-service encryption.</a:t>
            </a:r>
            <a:endParaRPr lang="en-US" sz="1050" dirty="0"/>
          </a:p>
        </p:txBody>
      </p:sp>
      <p:sp>
        <p:nvSpPr>
          <p:cNvPr id="17" name="Shape 13"/>
          <p:cNvSpPr/>
          <p:nvPr/>
        </p:nvSpPr>
        <p:spPr>
          <a:xfrm>
            <a:off x="320040" y="3383280"/>
            <a:ext cx="4937760" cy="960120"/>
          </a:xfrm>
          <a:prstGeom prst="rect">
            <a:avLst/>
          </a:prstGeom>
          <a:solidFill>
            <a:srgbClr val="1E3045"/>
          </a:solidFill>
          <a:ln w="12700">
            <a:solidFill>
              <a:srgbClr val="2A4060"/>
            </a:solidFill>
            <a:prstDash val="solid"/>
          </a:ln>
        </p:spPr>
        <p:txBody>
          <a:bodyPr/>
          <a:lstStyle/>
          <a:p>
            <a:endParaRPr lang="en-US"/>
          </a:p>
        </p:txBody>
      </p:sp>
      <p:sp>
        <p:nvSpPr>
          <p:cNvPr id="18" name="Shape 14"/>
          <p:cNvSpPr/>
          <p:nvPr/>
        </p:nvSpPr>
        <p:spPr>
          <a:xfrm>
            <a:off x="320040" y="3383280"/>
            <a:ext cx="64008" cy="960120"/>
          </a:xfrm>
          <a:prstGeom prst="rect">
            <a:avLst/>
          </a:prstGeom>
          <a:solidFill>
            <a:srgbClr val="00B3B3"/>
          </a:solidFill>
          <a:ln w="12700">
            <a:solidFill>
              <a:srgbClr val="00B3B3"/>
            </a:solidFill>
            <a:prstDash val="solid"/>
          </a:ln>
        </p:spPr>
        <p:txBody>
          <a:bodyPr/>
          <a:lstStyle/>
          <a:p>
            <a:endParaRPr lang="en-US"/>
          </a:p>
        </p:txBody>
      </p:sp>
      <p:sp>
        <p:nvSpPr>
          <p:cNvPr id="19" name="Shape 15"/>
          <p:cNvSpPr/>
          <p:nvPr/>
        </p:nvSpPr>
        <p:spPr>
          <a:xfrm>
            <a:off x="502920" y="3520440"/>
            <a:ext cx="530352" cy="530352"/>
          </a:xfrm>
          <a:prstGeom prst="ellipse">
            <a:avLst/>
          </a:prstGeom>
          <a:solidFill>
            <a:srgbClr val="00B3B3">
              <a:alpha val="20000"/>
            </a:srgbClr>
          </a:solidFill>
          <a:ln w="12700">
            <a:solidFill>
              <a:srgbClr val="00B3B3">
                <a:alpha val="45000"/>
              </a:srgbClr>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566928" y="3575304"/>
            <a:ext cx="402336" cy="402336"/>
          </a:xfrm>
          <a:prstGeom prst="rect">
            <a:avLst/>
          </a:prstGeom>
        </p:spPr>
      </p:pic>
      <p:sp>
        <p:nvSpPr>
          <p:cNvPr id="21" name="Text 16"/>
          <p:cNvSpPr/>
          <p:nvPr/>
        </p:nvSpPr>
        <p:spPr>
          <a:xfrm>
            <a:off x="1170432" y="3456432"/>
            <a:ext cx="388620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Privacy</a:t>
            </a:r>
            <a:endParaRPr lang="en-US" sz="1300" dirty="0"/>
          </a:p>
        </p:txBody>
      </p:sp>
      <p:sp>
        <p:nvSpPr>
          <p:cNvPr id="22" name="Text 17"/>
          <p:cNvSpPr/>
          <p:nvPr/>
        </p:nvSpPr>
        <p:spPr>
          <a:xfrm>
            <a:off x="1170432" y="3840480"/>
            <a:ext cx="3886200" cy="438912"/>
          </a:xfrm>
          <a:prstGeom prst="rect">
            <a:avLst/>
          </a:prstGeom>
          <a:noFill/>
          <a:ln/>
        </p:spPr>
        <p:txBody>
          <a:bodyPr wrap="square" lIns="0" tIns="0" rIns="0" bIns="0" rtlCol="0" anchor="ctr"/>
          <a:lstStyle/>
          <a:p>
            <a:pPr marL="0" indent="0">
              <a:buNone/>
            </a:pPr>
            <a:r>
              <a:rPr lang="en-US" sz="1050" dirty="0">
                <a:solidFill>
                  <a:srgbClr val="E8EFF6"/>
                </a:solidFill>
                <a:latin typeface="Calibri" pitchFamily="34" charset="0"/>
                <a:ea typeface="Calibri" pitchFamily="34" charset="-122"/>
                <a:cs typeface="Calibri" pitchFamily="34" charset="-120"/>
              </a:rPr>
              <a:t>Your prompts and data are NOT used to train third-party models. Isolated per-account processing.</a:t>
            </a:r>
            <a:endParaRPr lang="en-US" sz="1050" dirty="0"/>
          </a:p>
        </p:txBody>
      </p:sp>
      <p:sp>
        <p:nvSpPr>
          <p:cNvPr id="23" name="Shape 18"/>
          <p:cNvSpPr/>
          <p:nvPr/>
        </p:nvSpPr>
        <p:spPr>
          <a:xfrm>
            <a:off x="5486400" y="1188720"/>
            <a:ext cx="3337560" cy="3200400"/>
          </a:xfrm>
          <a:prstGeom prst="rect">
            <a:avLst/>
          </a:prstGeom>
          <a:solidFill>
            <a:srgbClr val="1E3045"/>
          </a:solidFill>
          <a:ln w="12700">
            <a:solidFill>
              <a:srgbClr val="E74C3C"/>
            </a:solidFill>
            <a:prstDash val="solid"/>
          </a:ln>
        </p:spPr>
        <p:txBody>
          <a:bodyPr/>
          <a:lstStyle/>
          <a:p>
            <a:endParaRPr lang="en-US"/>
          </a:p>
        </p:txBody>
      </p:sp>
      <p:sp>
        <p:nvSpPr>
          <p:cNvPr id="24" name="Shape 19"/>
          <p:cNvSpPr/>
          <p:nvPr/>
        </p:nvSpPr>
        <p:spPr>
          <a:xfrm>
            <a:off x="5486400" y="1188720"/>
            <a:ext cx="3337560" cy="411480"/>
          </a:xfrm>
          <a:prstGeom prst="rect">
            <a:avLst/>
          </a:prstGeom>
          <a:solidFill>
            <a:srgbClr val="E74C3C">
              <a:alpha val="70000"/>
            </a:srgbClr>
          </a:solidFill>
          <a:ln w="12700">
            <a:solidFill>
              <a:srgbClr val="E74C3C"/>
            </a:solidFill>
            <a:prstDash val="solid"/>
          </a:ln>
        </p:spPr>
        <p:txBody>
          <a:bodyPr/>
          <a:lstStyle/>
          <a:p>
            <a:endParaRPr lang="en-US"/>
          </a:p>
        </p:txBody>
      </p:sp>
      <p:sp>
        <p:nvSpPr>
          <p:cNvPr id="25" name="Text 20"/>
          <p:cNvSpPr/>
          <p:nvPr/>
        </p:nvSpPr>
        <p:spPr>
          <a:xfrm>
            <a:off x="5577840" y="1188720"/>
            <a:ext cx="315468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Compliance Support</a:t>
            </a:r>
            <a:endParaRPr lang="en-US" sz="1300" dirty="0"/>
          </a:p>
        </p:txBody>
      </p:sp>
      <p:sp>
        <p:nvSpPr>
          <p:cNvPr id="26" name="Text 21"/>
          <p:cNvSpPr/>
          <p:nvPr/>
        </p:nvSpPr>
        <p:spPr>
          <a:xfrm>
            <a:off x="5623560" y="1691640"/>
            <a:ext cx="3063240" cy="2560320"/>
          </a:xfrm>
          <a:prstGeom prst="rect">
            <a:avLst/>
          </a:prstGeom>
          <a:noFill/>
          <a:ln/>
        </p:spPr>
        <p:txBody>
          <a:bodyPr wrap="square" lIns="0" tIns="0" rIns="0" bIns="0" rtlCol="0" anchor="ctr"/>
          <a:lstStyle/>
          <a:p>
            <a:pPr marL="0" indent="0">
              <a:buNone/>
            </a:pPr>
            <a:r>
              <a:rPr lang="en-US" sz="1200" dirty="0">
                <a:solidFill>
                  <a:srgbClr val="E8EFF6"/>
                </a:solidFill>
                <a:latin typeface="Calibri" pitchFamily="34" charset="0"/>
                <a:ea typeface="Calibri" pitchFamily="34" charset="-122"/>
                <a:cs typeface="Calibri" pitchFamily="34" charset="-120"/>
              </a:rPr>
              <a:t>✔  HIPAA (Healthcare)</a:t>
            </a:r>
            <a:endParaRPr lang="en-US" sz="1200" dirty="0"/>
          </a:p>
          <a:p>
            <a:pPr marL="0" indent="0">
              <a:buNone/>
            </a:pPr>
            <a:r>
              <a:rPr lang="en-US" sz="1200" dirty="0">
                <a:solidFill>
                  <a:srgbClr val="E8EFF6"/>
                </a:solidFill>
                <a:latin typeface="Calibri" pitchFamily="34" charset="0"/>
                <a:ea typeface="Calibri" pitchFamily="34" charset="-122"/>
                <a:cs typeface="Calibri" pitchFamily="34" charset="-120"/>
              </a:rPr>
              <a:t>✔  SOC 1, 2, 3</a:t>
            </a:r>
            <a:endParaRPr lang="en-US" sz="1200" dirty="0"/>
          </a:p>
          <a:p>
            <a:pPr marL="0" indent="0">
              <a:buNone/>
            </a:pPr>
            <a:r>
              <a:rPr lang="en-US" sz="1200" dirty="0">
                <a:solidFill>
                  <a:srgbClr val="E8EFF6"/>
                </a:solidFill>
                <a:latin typeface="Calibri" pitchFamily="34" charset="0"/>
                <a:ea typeface="Calibri" pitchFamily="34" charset="-122"/>
                <a:cs typeface="Calibri" pitchFamily="34" charset="-120"/>
              </a:rPr>
              <a:t>✔  ISO 27001</a:t>
            </a:r>
            <a:endParaRPr lang="en-US" sz="1200" dirty="0"/>
          </a:p>
          <a:p>
            <a:pPr marL="0" indent="0">
              <a:buNone/>
            </a:pPr>
            <a:r>
              <a:rPr lang="en-US" sz="1200" dirty="0">
                <a:solidFill>
                  <a:srgbClr val="E8EFF6"/>
                </a:solidFill>
                <a:latin typeface="Calibri" pitchFamily="34" charset="0"/>
                <a:ea typeface="Calibri" pitchFamily="34" charset="-122"/>
                <a:cs typeface="Calibri" pitchFamily="34" charset="-120"/>
              </a:rPr>
              <a:t>✔  PCI DSS</a:t>
            </a:r>
            <a:endParaRPr lang="en-US" sz="1200" dirty="0"/>
          </a:p>
          <a:p>
            <a:pPr marL="0" indent="0">
              <a:buNone/>
            </a:pPr>
            <a:r>
              <a:rPr lang="en-US" sz="1200" dirty="0">
                <a:solidFill>
                  <a:srgbClr val="E8EFF6"/>
                </a:solidFill>
                <a:latin typeface="Calibri" pitchFamily="34" charset="0"/>
                <a:ea typeface="Calibri" pitchFamily="34" charset="-122"/>
                <a:cs typeface="Calibri" pitchFamily="34" charset="-120"/>
              </a:rPr>
              <a:t>✔  FedRAMP</a:t>
            </a:r>
            <a:endParaRPr lang="en-US" sz="1200" dirty="0"/>
          </a:p>
          <a:p>
            <a:pPr marL="0" indent="0">
              <a:buNone/>
            </a:pPr>
            <a:r>
              <a:rPr lang="en-US" sz="1200" dirty="0">
                <a:solidFill>
                  <a:srgbClr val="E8EFF6"/>
                </a:solidFill>
                <a:latin typeface="Calibri" pitchFamily="34" charset="0"/>
                <a:ea typeface="Calibri" pitchFamily="34" charset="-122"/>
                <a:cs typeface="Calibri" pitchFamily="34" charset="-120"/>
              </a:rPr>
              <a:t>✔  GDPR Ready</a:t>
            </a:r>
            <a:endParaRPr lang="en-US" sz="1200" dirty="0"/>
          </a:p>
        </p:txBody>
      </p:sp>
      <p:sp>
        <p:nvSpPr>
          <p:cNvPr id="27" name="Shape 22"/>
          <p:cNvSpPr/>
          <p:nvPr/>
        </p:nvSpPr>
        <p:spPr>
          <a:xfrm>
            <a:off x="0" y="4686300"/>
            <a:ext cx="9144000" cy="457200"/>
          </a:xfrm>
          <a:prstGeom prst="rect">
            <a:avLst/>
          </a:prstGeom>
          <a:solidFill>
            <a:srgbClr val="162232"/>
          </a:solidFill>
          <a:ln w="12700">
            <a:solidFill>
              <a:srgbClr val="162232"/>
            </a:solidFill>
            <a:prstDash val="solid"/>
          </a:ln>
        </p:spPr>
        <p:txBody>
          <a:bodyPr/>
          <a:lstStyle/>
          <a:p>
            <a:endParaRPr lang="en-US"/>
          </a:p>
        </p:txBody>
      </p:sp>
      <p:sp>
        <p:nvSpPr>
          <p:cNvPr id="28" name="Text 23"/>
          <p:cNvSpPr/>
          <p:nvPr/>
        </p:nvSpPr>
        <p:spPr>
          <a:xfrm>
            <a:off x="457200" y="4686300"/>
            <a:ext cx="7315200" cy="457200"/>
          </a:xfrm>
          <a:prstGeom prst="rect">
            <a:avLst/>
          </a:prstGeom>
          <a:noFill/>
          <a:ln/>
        </p:spPr>
        <p:txBody>
          <a:bodyPr wrap="square" rtlCol="0" anchor="ctr"/>
          <a:lstStyle/>
          <a:p>
            <a:pPr marL="0" indent="0">
              <a:buNone/>
            </a:pPr>
            <a:r>
              <a:rPr lang="en-US" sz="1000" dirty="0">
                <a:solidFill>
                  <a:srgbClr val="8FA3B8"/>
                </a:solidFill>
                <a:latin typeface="Calibri" pitchFamily="34" charset="0"/>
                <a:ea typeface="Calibri" pitchFamily="34" charset="-122"/>
                <a:cs typeface="Calibri" pitchFamily="34" charset="-120"/>
              </a:rPr>
              <a:t>Amazon Bedrock | Cloud Computing Presentation</a:t>
            </a:r>
            <a:endParaRPr lang="en-US" sz="1000" dirty="0"/>
          </a:p>
        </p:txBody>
      </p:sp>
      <p:sp>
        <p:nvSpPr>
          <p:cNvPr id="29" name="Text 24"/>
          <p:cNvSpPr/>
          <p:nvPr/>
        </p:nvSpPr>
        <p:spPr>
          <a:xfrm>
            <a:off x="8046720" y="4686300"/>
            <a:ext cx="914400" cy="457200"/>
          </a:xfrm>
          <a:prstGeom prst="rect">
            <a:avLst/>
          </a:prstGeom>
          <a:noFill/>
          <a:ln/>
        </p:spPr>
        <p:txBody>
          <a:bodyPr wrap="square" rtlCol="0" anchor="ctr"/>
          <a:lstStyle/>
          <a:p>
            <a:pPr marL="0" indent="0" algn="r">
              <a:buNone/>
            </a:pPr>
            <a:r>
              <a:rPr lang="en-US" sz="1000" dirty="0">
                <a:solidFill>
                  <a:srgbClr val="8FA3B8"/>
                </a:solidFill>
                <a:latin typeface="Calibri" pitchFamily="34" charset="0"/>
                <a:ea typeface="Calibri" pitchFamily="34" charset="-122"/>
                <a:cs typeface="Calibri" pitchFamily="34" charset="-120"/>
              </a:rPr>
              <a:t>9 / 14</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CC71"/>
          </a:solidFill>
          <a:ln w="12700">
            <a:solidFill>
              <a:srgbClr val="2ECC71"/>
            </a:solidFill>
            <a:prstDash val="solid"/>
          </a:ln>
        </p:spPr>
        <p:txBody>
          <a:bodyPr/>
          <a:lstStyle/>
          <a:p>
            <a:endParaRPr lang="en-US"/>
          </a:p>
        </p:txBody>
      </p:sp>
      <p:sp>
        <p:nvSpPr>
          <p:cNvPr id="3" name="Text 1"/>
          <p:cNvSpPr/>
          <p:nvPr/>
        </p:nvSpPr>
        <p:spPr>
          <a:xfrm>
            <a:off x="457200" y="228600"/>
            <a:ext cx="8229600" cy="320040"/>
          </a:xfrm>
          <a:prstGeom prst="rect">
            <a:avLst/>
          </a:prstGeom>
          <a:noFill/>
          <a:ln/>
        </p:spPr>
        <p:txBody>
          <a:bodyPr wrap="square" rtlCol="0" anchor="ctr"/>
          <a:lstStyle/>
          <a:p>
            <a:pPr marL="0" indent="0">
              <a:buNone/>
            </a:pPr>
            <a:r>
              <a:rPr lang="en-US" sz="1000" b="1" kern="0" spc="400" dirty="0">
                <a:solidFill>
                  <a:srgbClr val="2ECC71"/>
                </a:solidFill>
                <a:latin typeface="Calibri" pitchFamily="34" charset="0"/>
                <a:ea typeface="Calibri" pitchFamily="34" charset="-122"/>
                <a:cs typeface="Calibri" pitchFamily="34" charset="-120"/>
              </a:rPr>
              <a:t>BENEFITS</a:t>
            </a:r>
            <a:endParaRPr lang="en-US" sz="1000" dirty="0"/>
          </a:p>
        </p:txBody>
      </p:sp>
      <p:sp>
        <p:nvSpPr>
          <p:cNvPr id="4" name="Text 2"/>
          <p:cNvSpPr/>
          <p:nvPr/>
        </p:nvSpPr>
        <p:spPr>
          <a:xfrm>
            <a:off x="457200" y="502920"/>
            <a:ext cx="8229600" cy="54864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Why Choose AWS Bedrock?</a:t>
            </a:r>
            <a:endParaRPr lang="en-US" sz="3000" dirty="0"/>
          </a:p>
        </p:txBody>
      </p:sp>
      <p:sp>
        <p:nvSpPr>
          <p:cNvPr id="5" name="Shape 3"/>
          <p:cNvSpPr/>
          <p:nvPr/>
        </p:nvSpPr>
        <p:spPr>
          <a:xfrm>
            <a:off x="320040" y="1188720"/>
            <a:ext cx="1965960" cy="3200400"/>
          </a:xfrm>
          <a:prstGeom prst="rect">
            <a:avLst/>
          </a:prstGeom>
          <a:solidFill>
            <a:srgbClr val="1E3045"/>
          </a:solidFill>
          <a:ln w="12700">
            <a:solidFill>
              <a:srgbClr val="FF9900"/>
            </a:solidFill>
            <a:prstDash val="solid"/>
          </a:ln>
        </p:spPr>
        <p:txBody>
          <a:bodyPr/>
          <a:lstStyle/>
          <a:p>
            <a:endParaRPr lang="en-US"/>
          </a:p>
        </p:txBody>
      </p:sp>
      <p:sp>
        <p:nvSpPr>
          <p:cNvPr id="6" name="Shape 4"/>
          <p:cNvSpPr/>
          <p:nvPr/>
        </p:nvSpPr>
        <p:spPr>
          <a:xfrm>
            <a:off x="320040" y="1188720"/>
            <a:ext cx="1965960" cy="54864"/>
          </a:xfrm>
          <a:prstGeom prst="rect">
            <a:avLst/>
          </a:prstGeom>
          <a:solidFill>
            <a:srgbClr val="FF9900"/>
          </a:solidFill>
          <a:ln w="12700">
            <a:solidFill>
              <a:srgbClr val="FF9900"/>
            </a:solidFill>
            <a:prstDash val="solid"/>
          </a:ln>
        </p:spPr>
        <p:txBody>
          <a:bodyPr/>
          <a:lstStyle/>
          <a:p>
            <a:endParaRPr lang="en-US"/>
          </a:p>
        </p:txBody>
      </p:sp>
      <p:sp>
        <p:nvSpPr>
          <p:cNvPr id="7" name="Text 5"/>
          <p:cNvSpPr/>
          <p:nvPr/>
        </p:nvSpPr>
        <p:spPr>
          <a:xfrm>
            <a:off x="320040" y="1371600"/>
            <a:ext cx="1965960" cy="777240"/>
          </a:xfrm>
          <a:prstGeom prst="rect">
            <a:avLst/>
          </a:prstGeom>
          <a:noFill/>
          <a:ln/>
        </p:spPr>
        <p:txBody>
          <a:bodyPr wrap="square" lIns="0" tIns="0" rIns="0" bIns="0" rtlCol="0" anchor="ctr"/>
          <a:lstStyle/>
          <a:p>
            <a:pPr marL="0" indent="0" algn="ctr">
              <a:buNone/>
            </a:pPr>
            <a:r>
              <a:rPr lang="en-US" sz="4200" b="1" dirty="0">
                <a:solidFill>
                  <a:srgbClr val="FF9900"/>
                </a:solidFill>
                <a:latin typeface="Calibri" pitchFamily="34" charset="0"/>
                <a:ea typeface="Calibri" pitchFamily="34" charset="-122"/>
                <a:cs typeface="Calibri" pitchFamily="34" charset="-120"/>
              </a:rPr>
              <a:t>Zero</a:t>
            </a:r>
            <a:endParaRPr lang="en-US" sz="4200" dirty="0"/>
          </a:p>
        </p:txBody>
      </p:sp>
      <p:sp>
        <p:nvSpPr>
          <p:cNvPr id="8" name="Text 6"/>
          <p:cNvSpPr/>
          <p:nvPr/>
        </p:nvSpPr>
        <p:spPr>
          <a:xfrm>
            <a:off x="320040" y="2176272"/>
            <a:ext cx="1965960" cy="320040"/>
          </a:xfrm>
          <a:prstGeom prst="rect">
            <a:avLst/>
          </a:prstGeom>
          <a:noFill/>
          <a:ln/>
        </p:spPr>
        <p:txBody>
          <a:bodyPr wrap="square" lIns="0" tIns="0" rIns="0" bIns="0" rtlCol="0" anchor="ctr"/>
          <a:lstStyle/>
          <a:p>
            <a:pPr marL="0" indent="0" algn="ctr">
              <a:buNone/>
            </a:pPr>
            <a:r>
              <a:rPr lang="en-US" sz="1000" dirty="0">
                <a:solidFill>
                  <a:srgbClr val="8FA3B8"/>
                </a:solidFill>
                <a:latin typeface="Calibri" pitchFamily="34" charset="0"/>
                <a:ea typeface="Calibri" pitchFamily="34" charset="-122"/>
                <a:cs typeface="Calibri" pitchFamily="34" charset="-120"/>
              </a:rPr>
              <a:t>GPU clusters</a:t>
            </a:r>
            <a:endParaRPr lang="en-US" sz="1000" dirty="0"/>
          </a:p>
        </p:txBody>
      </p:sp>
      <p:sp>
        <p:nvSpPr>
          <p:cNvPr id="9" name="Shape 7"/>
          <p:cNvSpPr/>
          <p:nvPr/>
        </p:nvSpPr>
        <p:spPr>
          <a:xfrm>
            <a:off x="502920" y="2542032"/>
            <a:ext cx="1600200" cy="27432"/>
          </a:xfrm>
          <a:prstGeom prst="rect">
            <a:avLst/>
          </a:prstGeom>
          <a:solidFill>
            <a:srgbClr val="FF9900">
              <a:alpha val="40000"/>
            </a:srgbClr>
          </a:solidFill>
          <a:ln w="12700">
            <a:solidFill>
              <a:srgbClr val="FF9900">
                <a:alpha val="40000"/>
              </a:srgbClr>
            </a:solidFill>
            <a:prstDash val="solid"/>
          </a:ln>
        </p:spPr>
        <p:txBody>
          <a:bodyPr/>
          <a:lstStyle/>
          <a:p>
            <a:endParaRPr lang="en-US"/>
          </a:p>
        </p:txBody>
      </p:sp>
      <p:sp>
        <p:nvSpPr>
          <p:cNvPr id="10" name="Text 8"/>
          <p:cNvSpPr/>
          <p:nvPr/>
        </p:nvSpPr>
        <p:spPr>
          <a:xfrm>
            <a:off x="320040" y="2651760"/>
            <a:ext cx="196596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No Infrastructure</a:t>
            </a:r>
            <a:endParaRPr lang="en-US" sz="1300" dirty="0"/>
          </a:p>
        </p:txBody>
      </p:sp>
      <p:sp>
        <p:nvSpPr>
          <p:cNvPr id="11" name="Text 9"/>
          <p:cNvSpPr/>
          <p:nvPr/>
        </p:nvSpPr>
        <p:spPr>
          <a:xfrm>
            <a:off x="411480" y="3063240"/>
            <a:ext cx="1783080" cy="1188720"/>
          </a:xfrm>
          <a:prstGeom prst="rect">
            <a:avLst/>
          </a:prstGeom>
          <a:noFill/>
          <a:ln/>
        </p:spPr>
        <p:txBody>
          <a:bodyPr wrap="square" lIns="0" tIns="0" rIns="0" bIns="0" rtlCol="0" anchor="ctr"/>
          <a:lstStyle/>
          <a:p>
            <a:pPr marL="0" indent="0" algn="ctr">
              <a:buNone/>
            </a:pPr>
            <a:r>
              <a:rPr lang="en-US" sz="950" dirty="0">
                <a:solidFill>
                  <a:srgbClr val="E8EFF6"/>
                </a:solidFill>
                <a:latin typeface="Calibri" pitchFamily="34" charset="0"/>
                <a:ea typeface="Calibri" pitchFamily="34" charset="-122"/>
                <a:cs typeface="Calibri" pitchFamily="34" charset="-120"/>
              </a:rPr>
              <a:t>Bedrock handles all provisioning, scaling, and model updates</a:t>
            </a:r>
            <a:endParaRPr lang="en-US" sz="950" dirty="0"/>
          </a:p>
        </p:txBody>
      </p:sp>
      <p:sp>
        <p:nvSpPr>
          <p:cNvPr id="12" name="Shape 10"/>
          <p:cNvSpPr/>
          <p:nvPr/>
        </p:nvSpPr>
        <p:spPr>
          <a:xfrm>
            <a:off x="2468880" y="1188720"/>
            <a:ext cx="1965960" cy="3200400"/>
          </a:xfrm>
          <a:prstGeom prst="rect">
            <a:avLst/>
          </a:prstGeom>
          <a:solidFill>
            <a:srgbClr val="1E3045"/>
          </a:solidFill>
          <a:ln w="12700">
            <a:solidFill>
              <a:srgbClr val="00B3B3"/>
            </a:solidFill>
            <a:prstDash val="solid"/>
          </a:ln>
        </p:spPr>
        <p:txBody>
          <a:bodyPr/>
          <a:lstStyle/>
          <a:p>
            <a:endParaRPr lang="en-US"/>
          </a:p>
        </p:txBody>
      </p:sp>
      <p:sp>
        <p:nvSpPr>
          <p:cNvPr id="13" name="Shape 11"/>
          <p:cNvSpPr/>
          <p:nvPr/>
        </p:nvSpPr>
        <p:spPr>
          <a:xfrm>
            <a:off x="2468880" y="1188720"/>
            <a:ext cx="1965960" cy="54864"/>
          </a:xfrm>
          <a:prstGeom prst="rect">
            <a:avLst/>
          </a:prstGeom>
          <a:solidFill>
            <a:srgbClr val="00B3B3"/>
          </a:solidFill>
          <a:ln w="12700">
            <a:solidFill>
              <a:srgbClr val="00B3B3"/>
            </a:solidFill>
            <a:prstDash val="solid"/>
          </a:ln>
        </p:spPr>
        <p:txBody>
          <a:bodyPr/>
          <a:lstStyle/>
          <a:p>
            <a:endParaRPr lang="en-US"/>
          </a:p>
        </p:txBody>
      </p:sp>
      <p:sp>
        <p:nvSpPr>
          <p:cNvPr id="14" name="Text 12"/>
          <p:cNvSpPr/>
          <p:nvPr/>
        </p:nvSpPr>
        <p:spPr>
          <a:xfrm>
            <a:off x="2468880" y="1371600"/>
            <a:ext cx="1965960" cy="777240"/>
          </a:xfrm>
          <a:prstGeom prst="rect">
            <a:avLst/>
          </a:prstGeom>
          <a:noFill/>
          <a:ln/>
        </p:spPr>
        <p:txBody>
          <a:bodyPr wrap="square" lIns="0" tIns="0" rIns="0" bIns="0" rtlCol="0" anchor="ctr"/>
          <a:lstStyle/>
          <a:p>
            <a:pPr marL="0" indent="0" algn="ctr">
              <a:buNone/>
            </a:pPr>
            <a:r>
              <a:rPr lang="en-US" sz="4200" b="1" dirty="0">
                <a:solidFill>
                  <a:srgbClr val="00B3B3"/>
                </a:solidFill>
                <a:latin typeface="Calibri" pitchFamily="34" charset="0"/>
                <a:ea typeface="Calibri" pitchFamily="34" charset="-122"/>
                <a:cs typeface="Calibri" pitchFamily="34" charset="-120"/>
              </a:rPr>
              <a:t>5+</a:t>
            </a:r>
            <a:endParaRPr lang="en-US" sz="4200" dirty="0"/>
          </a:p>
        </p:txBody>
      </p:sp>
      <p:sp>
        <p:nvSpPr>
          <p:cNvPr id="15" name="Text 13"/>
          <p:cNvSpPr/>
          <p:nvPr/>
        </p:nvSpPr>
        <p:spPr>
          <a:xfrm>
            <a:off x="2468880" y="2176272"/>
            <a:ext cx="1965960" cy="320040"/>
          </a:xfrm>
          <a:prstGeom prst="rect">
            <a:avLst/>
          </a:prstGeom>
          <a:noFill/>
          <a:ln/>
        </p:spPr>
        <p:txBody>
          <a:bodyPr wrap="square" lIns="0" tIns="0" rIns="0" bIns="0" rtlCol="0" anchor="ctr"/>
          <a:lstStyle/>
          <a:p>
            <a:pPr marL="0" indent="0" algn="ctr">
              <a:buNone/>
            </a:pPr>
            <a:r>
              <a:rPr lang="en-US" sz="1000" dirty="0">
                <a:solidFill>
                  <a:srgbClr val="8FA3B8"/>
                </a:solidFill>
                <a:latin typeface="Calibri" pitchFamily="34" charset="0"/>
                <a:ea typeface="Calibri" pitchFamily="34" charset="-122"/>
                <a:cs typeface="Calibri" pitchFamily="34" charset="-120"/>
              </a:rPr>
              <a:t>AI providers</a:t>
            </a:r>
            <a:endParaRPr lang="en-US" sz="1000" dirty="0"/>
          </a:p>
        </p:txBody>
      </p:sp>
      <p:sp>
        <p:nvSpPr>
          <p:cNvPr id="16" name="Shape 14"/>
          <p:cNvSpPr/>
          <p:nvPr/>
        </p:nvSpPr>
        <p:spPr>
          <a:xfrm>
            <a:off x="2651760" y="2542032"/>
            <a:ext cx="1600200" cy="27432"/>
          </a:xfrm>
          <a:prstGeom prst="rect">
            <a:avLst/>
          </a:prstGeom>
          <a:solidFill>
            <a:srgbClr val="00B3B3">
              <a:alpha val="40000"/>
            </a:srgbClr>
          </a:solidFill>
          <a:ln w="12700">
            <a:solidFill>
              <a:srgbClr val="00B3B3">
                <a:alpha val="40000"/>
              </a:srgbClr>
            </a:solidFill>
            <a:prstDash val="solid"/>
          </a:ln>
        </p:spPr>
        <p:txBody>
          <a:bodyPr/>
          <a:lstStyle/>
          <a:p>
            <a:endParaRPr lang="en-US"/>
          </a:p>
        </p:txBody>
      </p:sp>
      <p:sp>
        <p:nvSpPr>
          <p:cNvPr id="17" name="Text 15"/>
          <p:cNvSpPr/>
          <p:nvPr/>
        </p:nvSpPr>
        <p:spPr>
          <a:xfrm>
            <a:off x="2468880" y="2651760"/>
            <a:ext cx="196596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Model Flexibility</a:t>
            </a:r>
            <a:endParaRPr lang="en-US" sz="1300" dirty="0"/>
          </a:p>
        </p:txBody>
      </p:sp>
      <p:sp>
        <p:nvSpPr>
          <p:cNvPr id="18" name="Text 16"/>
          <p:cNvSpPr/>
          <p:nvPr/>
        </p:nvSpPr>
        <p:spPr>
          <a:xfrm>
            <a:off x="2560320" y="3063240"/>
            <a:ext cx="1783080" cy="1188720"/>
          </a:xfrm>
          <a:prstGeom prst="rect">
            <a:avLst/>
          </a:prstGeom>
          <a:noFill/>
          <a:ln/>
        </p:spPr>
        <p:txBody>
          <a:bodyPr wrap="square" lIns="0" tIns="0" rIns="0" bIns="0" rtlCol="0" anchor="ctr"/>
          <a:lstStyle/>
          <a:p>
            <a:pPr marL="0" indent="0" algn="ctr">
              <a:buNone/>
            </a:pPr>
            <a:r>
              <a:rPr lang="en-US" sz="950" dirty="0">
                <a:solidFill>
                  <a:srgbClr val="E8EFF6"/>
                </a:solidFill>
                <a:latin typeface="Calibri" pitchFamily="34" charset="0"/>
                <a:ea typeface="Calibri" pitchFamily="34" charset="-122"/>
                <a:cs typeface="Calibri" pitchFamily="34" charset="-120"/>
              </a:rPr>
              <a:t>Switch between Claude, Llama, Titan and more via one API</a:t>
            </a:r>
            <a:endParaRPr lang="en-US" sz="950" dirty="0"/>
          </a:p>
        </p:txBody>
      </p:sp>
      <p:sp>
        <p:nvSpPr>
          <p:cNvPr id="19" name="Shape 17"/>
          <p:cNvSpPr/>
          <p:nvPr/>
        </p:nvSpPr>
        <p:spPr>
          <a:xfrm>
            <a:off x="4617720" y="1188720"/>
            <a:ext cx="1965960" cy="3200400"/>
          </a:xfrm>
          <a:prstGeom prst="rect">
            <a:avLst/>
          </a:prstGeom>
          <a:solidFill>
            <a:srgbClr val="1E3045"/>
          </a:solidFill>
          <a:ln w="12700">
            <a:solidFill>
              <a:srgbClr val="1A73E8"/>
            </a:solidFill>
            <a:prstDash val="solid"/>
          </a:ln>
        </p:spPr>
        <p:txBody>
          <a:bodyPr/>
          <a:lstStyle/>
          <a:p>
            <a:endParaRPr lang="en-US"/>
          </a:p>
        </p:txBody>
      </p:sp>
      <p:sp>
        <p:nvSpPr>
          <p:cNvPr id="20" name="Shape 18"/>
          <p:cNvSpPr/>
          <p:nvPr/>
        </p:nvSpPr>
        <p:spPr>
          <a:xfrm>
            <a:off x="4617720" y="1188720"/>
            <a:ext cx="1965960" cy="54864"/>
          </a:xfrm>
          <a:prstGeom prst="rect">
            <a:avLst/>
          </a:prstGeom>
          <a:solidFill>
            <a:srgbClr val="1A73E8"/>
          </a:solidFill>
          <a:ln w="12700">
            <a:solidFill>
              <a:srgbClr val="1A73E8"/>
            </a:solidFill>
            <a:prstDash val="solid"/>
          </a:ln>
        </p:spPr>
        <p:txBody>
          <a:bodyPr/>
          <a:lstStyle/>
          <a:p>
            <a:endParaRPr lang="en-US"/>
          </a:p>
        </p:txBody>
      </p:sp>
      <p:sp>
        <p:nvSpPr>
          <p:cNvPr id="21" name="Text 19"/>
          <p:cNvSpPr/>
          <p:nvPr/>
        </p:nvSpPr>
        <p:spPr>
          <a:xfrm>
            <a:off x="4617720" y="1371600"/>
            <a:ext cx="1965960" cy="777240"/>
          </a:xfrm>
          <a:prstGeom prst="rect">
            <a:avLst/>
          </a:prstGeom>
          <a:noFill/>
          <a:ln/>
        </p:spPr>
        <p:txBody>
          <a:bodyPr wrap="square" lIns="0" tIns="0" rIns="0" bIns="0" rtlCol="0" anchor="ctr"/>
          <a:lstStyle/>
          <a:p>
            <a:pPr marL="0" indent="0" algn="ctr">
              <a:buNone/>
            </a:pPr>
            <a:r>
              <a:rPr lang="en-US" sz="4200" b="1" dirty="0">
                <a:solidFill>
                  <a:srgbClr val="1A73E8"/>
                </a:solidFill>
                <a:latin typeface="Calibri" pitchFamily="34" charset="0"/>
                <a:ea typeface="Calibri" pitchFamily="34" charset="-122"/>
                <a:cs typeface="Calibri" pitchFamily="34" charset="-120"/>
              </a:rPr>
              <a:t>10x</a:t>
            </a:r>
            <a:endParaRPr lang="en-US" sz="4200" dirty="0"/>
          </a:p>
        </p:txBody>
      </p:sp>
      <p:sp>
        <p:nvSpPr>
          <p:cNvPr id="22" name="Text 20"/>
          <p:cNvSpPr/>
          <p:nvPr/>
        </p:nvSpPr>
        <p:spPr>
          <a:xfrm>
            <a:off x="4617720" y="2176272"/>
            <a:ext cx="1965960" cy="320040"/>
          </a:xfrm>
          <a:prstGeom prst="rect">
            <a:avLst/>
          </a:prstGeom>
          <a:noFill/>
          <a:ln/>
        </p:spPr>
        <p:txBody>
          <a:bodyPr wrap="square" lIns="0" tIns="0" rIns="0" bIns="0" rtlCol="0" anchor="ctr"/>
          <a:lstStyle/>
          <a:p>
            <a:pPr marL="0" indent="0" algn="ctr">
              <a:buNone/>
            </a:pPr>
            <a:r>
              <a:rPr lang="en-US" sz="1000" dirty="0">
                <a:solidFill>
                  <a:srgbClr val="8FA3B8"/>
                </a:solidFill>
                <a:latin typeface="Calibri" pitchFamily="34" charset="0"/>
                <a:ea typeface="Calibri" pitchFamily="34" charset="-122"/>
                <a:cs typeface="Calibri" pitchFamily="34" charset="-120"/>
              </a:rPr>
              <a:t>faster iteration</a:t>
            </a:r>
            <a:endParaRPr lang="en-US" sz="1000" dirty="0"/>
          </a:p>
        </p:txBody>
      </p:sp>
      <p:sp>
        <p:nvSpPr>
          <p:cNvPr id="23" name="Shape 21"/>
          <p:cNvSpPr/>
          <p:nvPr/>
        </p:nvSpPr>
        <p:spPr>
          <a:xfrm>
            <a:off x="4800600" y="2542032"/>
            <a:ext cx="1600200" cy="27432"/>
          </a:xfrm>
          <a:prstGeom prst="rect">
            <a:avLst/>
          </a:prstGeom>
          <a:solidFill>
            <a:srgbClr val="1A73E8">
              <a:alpha val="40000"/>
            </a:srgbClr>
          </a:solidFill>
          <a:ln w="12700">
            <a:solidFill>
              <a:srgbClr val="1A73E8">
                <a:alpha val="40000"/>
              </a:srgbClr>
            </a:solidFill>
            <a:prstDash val="solid"/>
          </a:ln>
        </p:spPr>
        <p:txBody>
          <a:bodyPr/>
          <a:lstStyle/>
          <a:p>
            <a:endParaRPr lang="en-US"/>
          </a:p>
        </p:txBody>
      </p:sp>
      <p:sp>
        <p:nvSpPr>
          <p:cNvPr id="24" name="Text 22"/>
          <p:cNvSpPr/>
          <p:nvPr/>
        </p:nvSpPr>
        <p:spPr>
          <a:xfrm>
            <a:off x="4617720" y="2651760"/>
            <a:ext cx="196596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Faster Innovation</a:t>
            </a:r>
            <a:endParaRPr lang="en-US" sz="1300" dirty="0"/>
          </a:p>
        </p:txBody>
      </p:sp>
      <p:sp>
        <p:nvSpPr>
          <p:cNvPr id="25" name="Text 23"/>
          <p:cNvSpPr/>
          <p:nvPr/>
        </p:nvSpPr>
        <p:spPr>
          <a:xfrm>
            <a:off x="4709160" y="3063240"/>
            <a:ext cx="1783080" cy="1188720"/>
          </a:xfrm>
          <a:prstGeom prst="rect">
            <a:avLst/>
          </a:prstGeom>
          <a:noFill/>
          <a:ln/>
        </p:spPr>
        <p:txBody>
          <a:bodyPr wrap="square" lIns="0" tIns="0" rIns="0" bIns="0" rtlCol="0" anchor="ctr"/>
          <a:lstStyle/>
          <a:p>
            <a:pPr marL="0" indent="0" algn="ctr">
              <a:buNone/>
            </a:pPr>
            <a:r>
              <a:rPr lang="en-US" sz="950" dirty="0">
                <a:solidFill>
                  <a:srgbClr val="E8EFF6"/>
                </a:solidFill>
                <a:latin typeface="Calibri" pitchFamily="34" charset="0"/>
                <a:ea typeface="Calibri" pitchFamily="34" charset="-122"/>
                <a:cs typeface="Calibri" pitchFamily="34" charset="-120"/>
              </a:rPr>
              <a:t>Experiment with prompts and models without backend complexity</a:t>
            </a:r>
            <a:endParaRPr lang="en-US" sz="950" dirty="0"/>
          </a:p>
        </p:txBody>
      </p:sp>
      <p:sp>
        <p:nvSpPr>
          <p:cNvPr id="26" name="Shape 24"/>
          <p:cNvSpPr/>
          <p:nvPr/>
        </p:nvSpPr>
        <p:spPr>
          <a:xfrm>
            <a:off x="6766560" y="1188720"/>
            <a:ext cx="1965960" cy="3200400"/>
          </a:xfrm>
          <a:prstGeom prst="rect">
            <a:avLst/>
          </a:prstGeom>
          <a:solidFill>
            <a:srgbClr val="1E3045"/>
          </a:solidFill>
          <a:ln w="12700">
            <a:solidFill>
              <a:srgbClr val="E74C3C"/>
            </a:solidFill>
            <a:prstDash val="solid"/>
          </a:ln>
        </p:spPr>
        <p:txBody>
          <a:bodyPr/>
          <a:lstStyle/>
          <a:p>
            <a:endParaRPr lang="en-US"/>
          </a:p>
        </p:txBody>
      </p:sp>
      <p:sp>
        <p:nvSpPr>
          <p:cNvPr id="27" name="Shape 25"/>
          <p:cNvSpPr/>
          <p:nvPr/>
        </p:nvSpPr>
        <p:spPr>
          <a:xfrm>
            <a:off x="6766560" y="1188720"/>
            <a:ext cx="1965960" cy="54864"/>
          </a:xfrm>
          <a:prstGeom prst="rect">
            <a:avLst/>
          </a:prstGeom>
          <a:solidFill>
            <a:srgbClr val="E74C3C"/>
          </a:solidFill>
          <a:ln w="12700">
            <a:solidFill>
              <a:srgbClr val="E74C3C"/>
            </a:solidFill>
            <a:prstDash val="solid"/>
          </a:ln>
        </p:spPr>
        <p:txBody>
          <a:bodyPr/>
          <a:lstStyle/>
          <a:p>
            <a:endParaRPr lang="en-US"/>
          </a:p>
        </p:txBody>
      </p:sp>
      <p:sp>
        <p:nvSpPr>
          <p:cNvPr id="28" name="Text 26"/>
          <p:cNvSpPr/>
          <p:nvPr/>
        </p:nvSpPr>
        <p:spPr>
          <a:xfrm>
            <a:off x="6766560" y="1371600"/>
            <a:ext cx="1965960" cy="777240"/>
          </a:xfrm>
          <a:prstGeom prst="rect">
            <a:avLst/>
          </a:prstGeom>
          <a:noFill/>
          <a:ln/>
        </p:spPr>
        <p:txBody>
          <a:bodyPr wrap="square" lIns="0" tIns="0" rIns="0" bIns="0" rtlCol="0" anchor="ctr"/>
          <a:lstStyle/>
          <a:p>
            <a:pPr marL="0" indent="0" algn="ctr">
              <a:buNone/>
            </a:pPr>
            <a:r>
              <a:rPr lang="en-US" sz="4200" b="1" dirty="0">
                <a:solidFill>
                  <a:srgbClr val="E74C3C"/>
                </a:solidFill>
                <a:latin typeface="Calibri" pitchFamily="34" charset="0"/>
                <a:ea typeface="Calibri" pitchFamily="34" charset="-122"/>
                <a:cs typeface="Calibri" pitchFamily="34" charset="-120"/>
              </a:rPr>
              <a:t>SOC2</a:t>
            </a:r>
            <a:endParaRPr lang="en-US" sz="4200" dirty="0"/>
          </a:p>
        </p:txBody>
      </p:sp>
      <p:sp>
        <p:nvSpPr>
          <p:cNvPr id="29" name="Text 27"/>
          <p:cNvSpPr/>
          <p:nvPr/>
        </p:nvSpPr>
        <p:spPr>
          <a:xfrm>
            <a:off x="6766560" y="2176272"/>
            <a:ext cx="1965960" cy="320040"/>
          </a:xfrm>
          <a:prstGeom prst="rect">
            <a:avLst/>
          </a:prstGeom>
          <a:noFill/>
          <a:ln/>
        </p:spPr>
        <p:txBody>
          <a:bodyPr wrap="square" lIns="0" tIns="0" rIns="0" bIns="0" rtlCol="0" anchor="ctr"/>
          <a:lstStyle/>
          <a:p>
            <a:pPr marL="0" indent="0" algn="ctr">
              <a:buNone/>
            </a:pPr>
            <a:r>
              <a:rPr lang="en-US" sz="1000" dirty="0">
                <a:solidFill>
                  <a:srgbClr val="8FA3B8"/>
                </a:solidFill>
                <a:latin typeface="Calibri" pitchFamily="34" charset="0"/>
                <a:ea typeface="Calibri" pitchFamily="34" charset="-122"/>
                <a:cs typeface="Calibri" pitchFamily="34" charset="-120"/>
              </a:rPr>
              <a:t>&amp; HIPAA compliant</a:t>
            </a:r>
            <a:endParaRPr lang="en-US" sz="1000" dirty="0"/>
          </a:p>
        </p:txBody>
      </p:sp>
      <p:sp>
        <p:nvSpPr>
          <p:cNvPr id="30" name="Shape 28"/>
          <p:cNvSpPr/>
          <p:nvPr/>
        </p:nvSpPr>
        <p:spPr>
          <a:xfrm>
            <a:off x="6949440" y="2542032"/>
            <a:ext cx="1600200" cy="27432"/>
          </a:xfrm>
          <a:prstGeom prst="rect">
            <a:avLst/>
          </a:prstGeom>
          <a:solidFill>
            <a:srgbClr val="E74C3C">
              <a:alpha val="40000"/>
            </a:srgbClr>
          </a:solidFill>
          <a:ln w="12700">
            <a:solidFill>
              <a:srgbClr val="E74C3C">
                <a:alpha val="40000"/>
              </a:srgbClr>
            </a:solidFill>
            <a:prstDash val="solid"/>
          </a:ln>
        </p:spPr>
        <p:txBody>
          <a:bodyPr/>
          <a:lstStyle/>
          <a:p>
            <a:endParaRPr lang="en-US"/>
          </a:p>
        </p:txBody>
      </p:sp>
      <p:sp>
        <p:nvSpPr>
          <p:cNvPr id="31" name="Text 29"/>
          <p:cNvSpPr/>
          <p:nvPr/>
        </p:nvSpPr>
        <p:spPr>
          <a:xfrm>
            <a:off x="6766560" y="2651760"/>
            <a:ext cx="196596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Enterprise Ready</a:t>
            </a:r>
            <a:endParaRPr lang="en-US" sz="1300" dirty="0"/>
          </a:p>
        </p:txBody>
      </p:sp>
      <p:sp>
        <p:nvSpPr>
          <p:cNvPr id="32" name="Text 30"/>
          <p:cNvSpPr/>
          <p:nvPr/>
        </p:nvSpPr>
        <p:spPr>
          <a:xfrm>
            <a:off x="6858000" y="3063240"/>
            <a:ext cx="1783080" cy="1188720"/>
          </a:xfrm>
          <a:prstGeom prst="rect">
            <a:avLst/>
          </a:prstGeom>
          <a:noFill/>
          <a:ln/>
        </p:spPr>
        <p:txBody>
          <a:bodyPr wrap="square" lIns="0" tIns="0" rIns="0" bIns="0" rtlCol="0" anchor="ctr"/>
          <a:lstStyle/>
          <a:p>
            <a:pPr marL="0" indent="0" algn="ctr">
              <a:buNone/>
            </a:pPr>
            <a:r>
              <a:rPr lang="en-US" sz="950" dirty="0">
                <a:solidFill>
                  <a:srgbClr val="E8EFF6"/>
                </a:solidFill>
                <a:latin typeface="Calibri" pitchFamily="34" charset="0"/>
                <a:ea typeface="Calibri" pitchFamily="34" charset="-122"/>
                <a:cs typeface="Calibri" pitchFamily="34" charset="-120"/>
              </a:rPr>
              <a:t>Production-grade security, monitoring and auditability built-in</a:t>
            </a:r>
            <a:endParaRPr lang="en-US" sz="950" dirty="0"/>
          </a:p>
        </p:txBody>
      </p:sp>
      <p:sp>
        <p:nvSpPr>
          <p:cNvPr id="33" name="Shape 31"/>
          <p:cNvSpPr/>
          <p:nvPr/>
        </p:nvSpPr>
        <p:spPr>
          <a:xfrm>
            <a:off x="0" y="4686300"/>
            <a:ext cx="9144000" cy="457200"/>
          </a:xfrm>
          <a:prstGeom prst="rect">
            <a:avLst/>
          </a:prstGeom>
          <a:solidFill>
            <a:srgbClr val="162232"/>
          </a:solidFill>
          <a:ln w="12700">
            <a:solidFill>
              <a:srgbClr val="162232"/>
            </a:solidFill>
            <a:prstDash val="solid"/>
          </a:ln>
        </p:spPr>
        <p:txBody>
          <a:bodyPr/>
          <a:lstStyle/>
          <a:p>
            <a:endParaRPr lang="en-US"/>
          </a:p>
        </p:txBody>
      </p:sp>
      <p:sp>
        <p:nvSpPr>
          <p:cNvPr id="34" name="Text 32"/>
          <p:cNvSpPr/>
          <p:nvPr/>
        </p:nvSpPr>
        <p:spPr>
          <a:xfrm>
            <a:off x="457200" y="4686300"/>
            <a:ext cx="7315200" cy="457200"/>
          </a:xfrm>
          <a:prstGeom prst="rect">
            <a:avLst/>
          </a:prstGeom>
          <a:noFill/>
          <a:ln/>
        </p:spPr>
        <p:txBody>
          <a:bodyPr wrap="square" rtlCol="0" anchor="ctr"/>
          <a:lstStyle/>
          <a:p>
            <a:pPr marL="0" indent="0">
              <a:buNone/>
            </a:pPr>
            <a:r>
              <a:rPr lang="en-US" sz="1000" dirty="0">
                <a:solidFill>
                  <a:srgbClr val="8FA3B8"/>
                </a:solidFill>
                <a:latin typeface="Calibri" pitchFamily="34" charset="0"/>
                <a:ea typeface="Calibri" pitchFamily="34" charset="-122"/>
                <a:cs typeface="Calibri" pitchFamily="34" charset="-120"/>
              </a:rPr>
              <a:t>Amazon Bedrock | Cloud Computing Presentation</a:t>
            </a:r>
            <a:endParaRPr lang="en-US" sz="1000" dirty="0"/>
          </a:p>
        </p:txBody>
      </p:sp>
      <p:sp>
        <p:nvSpPr>
          <p:cNvPr id="35" name="Text 33"/>
          <p:cNvSpPr/>
          <p:nvPr/>
        </p:nvSpPr>
        <p:spPr>
          <a:xfrm>
            <a:off x="8046720" y="4686300"/>
            <a:ext cx="914400" cy="457200"/>
          </a:xfrm>
          <a:prstGeom prst="rect">
            <a:avLst/>
          </a:prstGeom>
          <a:noFill/>
          <a:ln/>
        </p:spPr>
        <p:txBody>
          <a:bodyPr wrap="square" rtlCol="0" anchor="ctr"/>
          <a:lstStyle/>
          <a:p>
            <a:pPr marL="0" indent="0" algn="r">
              <a:buNone/>
            </a:pPr>
            <a:r>
              <a:rPr lang="en-US" sz="1000" dirty="0">
                <a:solidFill>
                  <a:srgbClr val="8FA3B8"/>
                </a:solidFill>
                <a:latin typeface="Calibri" pitchFamily="34" charset="0"/>
                <a:ea typeface="Calibri" pitchFamily="34" charset="-122"/>
                <a:cs typeface="Calibri" pitchFamily="34" charset="-120"/>
              </a:rPr>
              <a:t>10 / 14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7E22"/>
          </a:solidFill>
          <a:ln w="12700">
            <a:solidFill>
              <a:srgbClr val="E67E22"/>
            </a:solidFill>
            <a:prstDash val="solid"/>
          </a:ln>
        </p:spPr>
        <p:txBody>
          <a:bodyPr/>
          <a:lstStyle/>
          <a:p>
            <a:endParaRPr/>
          </a:p>
        </p:txBody>
      </p:sp>
      <p:sp>
        <p:nvSpPr>
          <p:cNvPr id="3" name="Text 1"/>
          <p:cNvSpPr/>
          <p:nvPr/>
        </p:nvSpPr>
        <p:spPr>
          <a:xfrm>
            <a:off x="457200" y="228600"/>
            <a:ext cx="8229600" cy="320040"/>
          </a:xfrm>
          <a:prstGeom prst="rect">
            <a:avLst/>
          </a:prstGeom>
          <a:noFill/>
          <a:ln/>
        </p:spPr>
        <p:txBody>
          <a:bodyPr wrap="square" rtlCol="0" anchor="ctr"/>
          <a:lstStyle/>
          <a:p>
            <a:pPr marL="0" indent="0">
              <a:buNone/>
            </a:pPr>
            <a:r>
              <a:rPr lang="en-US" sz="1000" b="1" kern="0" spc="400" dirty="0">
                <a:solidFill>
                  <a:srgbClr val="E67E22"/>
                </a:solidFill>
                <a:latin typeface="Calibri" pitchFamily="34" charset="0"/>
                <a:ea typeface="Calibri" pitchFamily="34" charset="-122"/>
                <a:cs typeface="Calibri" pitchFamily="34" charset="-120"/>
              </a:rPr>
              <a:t>CHALLENGES</a:t>
            </a:r>
            <a:endParaRPr lang="en-US" sz="1000" dirty="0"/>
          </a:p>
        </p:txBody>
      </p:sp>
      <p:sp>
        <p:nvSpPr>
          <p:cNvPr id="4" name="Text 2"/>
          <p:cNvSpPr/>
          <p:nvPr/>
        </p:nvSpPr>
        <p:spPr>
          <a:xfrm>
            <a:off x="457200" y="502920"/>
            <a:ext cx="82296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Considerations &amp; Best Practices</a:t>
            </a:r>
            <a:endParaRPr lang="en-US" sz="2800" dirty="0"/>
          </a:p>
        </p:txBody>
      </p:sp>
      <p:sp>
        <p:nvSpPr>
          <p:cNvPr id="5" name="Shape 3"/>
          <p:cNvSpPr/>
          <p:nvPr/>
        </p:nvSpPr>
        <p:spPr>
          <a:xfrm>
            <a:off x="320040" y="1188720"/>
            <a:ext cx="4160520" cy="1508760"/>
          </a:xfrm>
          <a:prstGeom prst="rect">
            <a:avLst/>
          </a:prstGeom>
          <a:solidFill>
            <a:srgbClr val="1E3045"/>
          </a:solidFill>
          <a:ln w="12700">
            <a:solidFill>
              <a:srgbClr val="2A4060"/>
            </a:solidFill>
            <a:prstDash val="solid"/>
          </a:ln>
        </p:spPr>
        <p:txBody>
          <a:bodyPr/>
          <a:lstStyle/>
          <a:p>
            <a:endParaRPr/>
          </a:p>
        </p:txBody>
      </p:sp>
      <p:sp>
        <p:nvSpPr>
          <p:cNvPr id="6" name="Text 4"/>
          <p:cNvSpPr/>
          <p:nvPr/>
        </p:nvSpPr>
        <p:spPr>
          <a:xfrm>
            <a:off x="457200" y="1280160"/>
            <a:ext cx="384048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Cost Management</a:t>
            </a:r>
            <a:endParaRPr lang="en-US" sz="1400" dirty="0"/>
          </a:p>
        </p:txBody>
      </p:sp>
      <p:sp>
        <p:nvSpPr>
          <p:cNvPr id="7" name="Shape 5"/>
          <p:cNvSpPr/>
          <p:nvPr/>
        </p:nvSpPr>
        <p:spPr>
          <a:xfrm>
            <a:off x="457200" y="1700784"/>
            <a:ext cx="640080" cy="201168"/>
          </a:xfrm>
          <a:prstGeom prst="rect">
            <a:avLst/>
          </a:prstGeom>
          <a:solidFill>
            <a:srgbClr val="E74C3C">
              <a:alpha val="80000"/>
            </a:srgbClr>
          </a:solidFill>
          <a:ln w="12700">
            <a:solidFill>
              <a:srgbClr val="E74C3C"/>
            </a:solidFill>
            <a:prstDash val="solid"/>
          </a:ln>
        </p:spPr>
        <p:txBody>
          <a:bodyPr/>
          <a:lstStyle/>
          <a:p>
            <a:endParaRPr/>
          </a:p>
        </p:txBody>
      </p:sp>
      <p:sp>
        <p:nvSpPr>
          <p:cNvPr id="8" name="Text 6"/>
          <p:cNvSpPr/>
          <p:nvPr/>
        </p:nvSpPr>
        <p:spPr>
          <a:xfrm>
            <a:off x="457200" y="1700784"/>
            <a:ext cx="64008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Issue</a:t>
            </a:r>
            <a:endParaRPr lang="en-US" sz="800" dirty="0"/>
          </a:p>
        </p:txBody>
      </p:sp>
      <p:sp>
        <p:nvSpPr>
          <p:cNvPr id="9" name="Text 7"/>
          <p:cNvSpPr/>
          <p:nvPr/>
        </p:nvSpPr>
        <p:spPr>
          <a:xfrm>
            <a:off x="1188720" y="1691640"/>
            <a:ext cx="3154680" cy="274320"/>
          </a:xfrm>
          <a:prstGeom prst="rect">
            <a:avLst/>
          </a:prstGeom>
          <a:noFill/>
          <a:ln/>
        </p:spPr>
        <p:txBody>
          <a:bodyPr wrap="square" lIns="0" tIns="0" rIns="0" bIns="0" rtlCol="0" anchor="ctr"/>
          <a:lstStyle/>
          <a:p>
            <a:pPr marL="0" indent="0">
              <a:buNone/>
            </a:pPr>
            <a:r>
              <a:rPr lang="en-US" sz="900" dirty="0">
                <a:solidFill>
                  <a:srgbClr val="E8EFF6"/>
                </a:solidFill>
                <a:latin typeface="Calibri" pitchFamily="34" charset="0"/>
                <a:ea typeface="Calibri" pitchFamily="34" charset="-122"/>
                <a:cs typeface="Calibri" pitchFamily="34" charset="-120"/>
              </a:rPr>
              <a:t>GenAI API calls can be expensive compared to traditional NLU requests</a:t>
            </a:r>
            <a:endParaRPr lang="en-US" sz="900" dirty="0"/>
          </a:p>
        </p:txBody>
      </p:sp>
      <p:sp>
        <p:nvSpPr>
          <p:cNvPr id="10" name="Shape 8"/>
          <p:cNvSpPr/>
          <p:nvPr/>
        </p:nvSpPr>
        <p:spPr>
          <a:xfrm>
            <a:off x="457200" y="2029968"/>
            <a:ext cx="640080" cy="201168"/>
          </a:xfrm>
          <a:prstGeom prst="rect">
            <a:avLst/>
          </a:prstGeom>
          <a:solidFill>
            <a:srgbClr val="2ECC71">
              <a:alpha val="80000"/>
            </a:srgbClr>
          </a:solidFill>
          <a:ln w="12700">
            <a:solidFill>
              <a:srgbClr val="2ECC71"/>
            </a:solidFill>
            <a:prstDash val="solid"/>
          </a:ln>
        </p:spPr>
        <p:txBody>
          <a:bodyPr/>
          <a:lstStyle/>
          <a:p>
            <a:endParaRPr/>
          </a:p>
        </p:txBody>
      </p:sp>
      <p:sp>
        <p:nvSpPr>
          <p:cNvPr id="11" name="Text 9"/>
          <p:cNvSpPr/>
          <p:nvPr/>
        </p:nvSpPr>
        <p:spPr>
          <a:xfrm>
            <a:off x="457200" y="2029968"/>
            <a:ext cx="64008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Fix</a:t>
            </a:r>
            <a:endParaRPr lang="en-US" sz="800" dirty="0"/>
          </a:p>
        </p:txBody>
      </p:sp>
      <p:sp>
        <p:nvSpPr>
          <p:cNvPr id="12" name="Text 10"/>
          <p:cNvSpPr/>
          <p:nvPr/>
        </p:nvSpPr>
        <p:spPr>
          <a:xfrm>
            <a:off x="1188720" y="2029968"/>
            <a:ext cx="3154680" cy="548640"/>
          </a:xfrm>
          <a:prstGeom prst="rect">
            <a:avLst/>
          </a:prstGeom>
          <a:noFill/>
          <a:ln/>
        </p:spPr>
        <p:txBody>
          <a:bodyPr wrap="square" lIns="0" tIns="0" rIns="0" bIns="0" rtlCol="0" anchor="ctr"/>
          <a:lstStyle/>
          <a:p>
            <a:pPr marL="0" indent="0">
              <a:buNone/>
            </a:pPr>
            <a:r>
              <a:rPr lang="en-US" sz="900" dirty="0">
                <a:solidFill>
                  <a:srgbClr val="E8EFF6"/>
                </a:solidFill>
                <a:latin typeface="Calibri" pitchFamily="34" charset="0"/>
                <a:ea typeface="Calibri" pitchFamily="34" charset="-122"/>
                <a:cs typeface="Calibri" pitchFamily="34" charset="-120"/>
              </a:rPr>
              <a:t>Implement caching (Redis), batch requests, use Haiku for simpler tasks</a:t>
            </a:r>
            <a:endParaRPr lang="en-US" sz="900" dirty="0"/>
          </a:p>
        </p:txBody>
      </p:sp>
      <p:sp>
        <p:nvSpPr>
          <p:cNvPr id="13" name="Shape 11"/>
          <p:cNvSpPr/>
          <p:nvPr/>
        </p:nvSpPr>
        <p:spPr>
          <a:xfrm>
            <a:off x="4709160" y="1188720"/>
            <a:ext cx="4160520" cy="1508760"/>
          </a:xfrm>
          <a:prstGeom prst="rect">
            <a:avLst/>
          </a:prstGeom>
          <a:solidFill>
            <a:srgbClr val="1E3045"/>
          </a:solidFill>
          <a:ln w="12700">
            <a:solidFill>
              <a:srgbClr val="2A4060"/>
            </a:solidFill>
            <a:prstDash val="solid"/>
          </a:ln>
        </p:spPr>
        <p:txBody>
          <a:bodyPr/>
          <a:lstStyle/>
          <a:p>
            <a:endParaRPr/>
          </a:p>
        </p:txBody>
      </p:sp>
      <p:sp>
        <p:nvSpPr>
          <p:cNvPr id="14" name="Text 12"/>
          <p:cNvSpPr/>
          <p:nvPr/>
        </p:nvSpPr>
        <p:spPr>
          <a:xfrm>
            <a:off x="4846320" y="1280160"/>
            <a:ext cx="384048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Prompt Engineering</a:t>
            </a:r>
            <a:endParaRPr lang="en-US" sz="1400" dirty="0"/>
          </a:p>
        </p:txBody>
      </p:sp>
      <p:sp>
        <p:nvSpPr>
          <p:cNvPr id="15" name="Shape 13"/>
          <p:cNvSpPr/>
          <p:nvPr/>
        </p:nvSpPr>
        <p:spPr>
          <a:xfrm>
            <a:off x="4846320" y="1700784"/>
            <a:ext cx="640080" cy="201168"/>
          </a:xfrm>
          <a:prstGeom prst="rect">
            <a:avLst/>
          </a:prstGeom>
          <a:solidFill>
            <a:srgbClr val="E74C3C">
              <a:alpha val="80000"/>
            </a:srgbClr>
          </a:solidFill>
          <a:ln w="12700">
            <a:solidFill>
              <a:srgbClr val="E74C3C"/>
            </a:solidFill>
            <a:prstDash val="solid"/>
          </a:ln>
        </p:spPr>
        <p:txBody>
          <a:bodyPr/>
          <a:lstStyle/>
          <a:p>
            <a:endParaRPr/>
          </a:p>
        </p:txBody>
      </p:sp>
      <p:sp>
        <p:nvSpPr>
          <p:cNvPr id="16" name="Text 14"/>
          <p:cNvSpPr/>
          <p:nvPr/>
        </p:nvSpPr>
        <p:spPr>
          <a:xfrm>
            <a:off x="4846320" y="1700784"/>
            <a:ext cx="64008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Issue</a:t>
            </a:r>
            <a:endParaRPr lang="en-US" sz="800" dirty="0"/>
          </a:p>
        </p:txBody>
      </p:sp>
      <p:sp>
        <p:nvSpPr>
          <p:cNvPr id="17" name="Text 15"/>
          <p:cNvSpPr/>
          <p:nvPr/>
        </p:nvSpPr>
        <p:spPr>
          <a:xfrm>
            <a:off x="5577840" y="1691640"/>
            <a:ext cx="3154680" cy="274320"/>
          </a:xfrm>
          <a:prstGeom prst="rect">
            <a:avLst/>
          </a:prstGeom>
          <a:noFill/>
          <a:ln/>
        </p:spPr>
        <p:txBody>
          <a:bodyPr wrap="square" lIns="0" tIns="0" rIns="0" bIns="0" rtlCol="0" anchor="ctr"/>
          <a:lstStyle/>
          <a:p>
            <a:pPr marL="0" indent="0">
              <a:buNone/>
            </a:pPr>
            <a:r>
              <a:rPr lang="en-US" sz="900" dirty="0">
                <a:solidFill>
                  <a:srgbClr val="E8EFF6"/>
                </a:solidFill>
                <a:latin typeface="Calibri" pitchFamily="34" charset="0"/>
                <a:ea typeface="Calibri" pitchFamily="34" charset="-122"/>
                <a:cs typeface="Calibri" pitchFamily="34" charset="-120"/>
              </a:rPr>
              <a:t>Poor prompt design leads to verbose, irrelevant, or non-compliant outputs</a:t>
            </a:r>
            <a:endParaRPr lang="en-US" sz="900" dirty="0"/>
          </a:p>
        </p:txBody>
      </p:sp>
      <p:sp>
        <p:nvSpPr>
          <p:cNvPr id="18" name="Shape 16"/>
          <p:cNvSpPr/>
          <p:nvPr/>
        </p:nvSpPr>
        <p:spPr>
          <a:xfrm>
            <a:off x="4846320" y="2029968"/>
            <a:ext cx="640080" cy="201168"/>
          </a:xfrm>
          <a:prstGeom prst="rect">
            <a:avLst/>
          </a:prstGeom>
          <a:solidFill>
            <a:srgbClr val="2ECC71">
              <a:alpha val="80000"/>
            </a:srgbClr>
          </a:solidFill>
          <a:ln w="12700">
            <a:solidFill>
              <a:srgbClr val="2ECC71"/>
            </a:solidFill>
            <a:prstDash val="solid"/>
          </a:ln>
        </p:spPr>
        <p:txBody>
          <a:bodyPr/>
          <a:lstStyle/>
          <a:p>
            <a:endParaRPr/>
          </a:p>
        </p:txBody>
      </p:sp>
      <p:sp>
        <p:nvSpPr>
          <p:cNvPr id="19" name="Text 17"/>
          <p:cNvSpPr/>
          <p:nvPr/>
        </p:nvSpPr>
        <p:spPr>
          <a:xfrm>
            <a:off x="4846320" y="2029968"/>
            <a:ext cx="64008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Fix</a:t>
            </a:r>
            <a:endParaRPr lang="en-US" sz="800" dirty="0"/>
          </a:p>
        </p:txBody>
      </p:sp>
      <p:sp>
        <p:nvSpPr>
          <p:cNvPr id="20" name="Text 18"/>
          <p:cNvSpPr/>
          <p:nvPr/>
        </p:nvSpPr>
        <p:spPr>
          <a:xfrm>
            <a:off x="5577840" y="2029968"/>
            <a:ext cx="3154680" cy="548640"/>
          </a:xfrm>
          <a:prstGeom prst="rect">
            <a:avLst/>
          </a:prstGeom>
          <a:noFill/>
          <a:ln/>
        </p:spPr>
        <p:txBody>
          <a:bodyPr wrap="square" lIns="0" tIns="0" rIns="0" bIns="0" rtlCol="0" anchor="ctr"/>
          <a:lstStyle/>
          <a:p>
            <a:pPr marL="0" indent="0">
              <a:buNone/>
            </a:pPr>
            <a:r>
              <a:rPr lang="en-US" sz="900" dirty="0">
                <a:solidFill>
                  <a:srgbClr val="E8EFF6"/>
                </a:solidFill>
                <a:latin typeface="Calibri" pitchFamily="34" charset="0"/>
                <a:ea typeface="Calibri" pitchFamily="34" charset="-122"/>
                <a:cs typeface="Calibri" pitchFamily="34" charset="-120"/>
              </a:rPr>
              <a:t>Maintain prompt libraries, A/B test prompts, use structured output formats</a:t>
            </a:r>
            <a:endParaRPr lang="en-US" sz="900" dirty="0"/>
          </a:p>
        </p:txBody>
      </p:sp>
      <p:sp>
        <p:nvSpPr>
          <p:cNvPr id="21" name="Shape 19"/>
          <p:cNvSpPr/>
          <p:nvPr/>
        </p:nvSpPr>
        <p:spPr>
          <a:xfrm>
            <a:off x="320040" y="2880360"/>
            <a:ext cx="4160520" cy="1508760"/>
          </a:xfrm>
          <a:prstGeom prst="rect">
            <a:avLst/>
          </a:prstGeom>
          <a:solidFill>
            <a:srgbClr val="1E3045"/>
          </a:solidFill>
          <a:ln w="12700">
            <a:solidFill>
              <a:srgbClr val="2A4060"/>
            </a:solidFill>
            <a:prstDash val="solid"/>
          </a:ln>
        </p:spPr>
        <p:txBody>
          <a:bodyPr/>
          <a:lstStyle/>
          <a:p>
            <a:endParaRPr/>
          </a:p>
        </p:txBody>
      </p:sp>
      <p:sp>
        <p:nvSpPr>
          <p:cNvPr id="22" name="Text 20"/>
          <p:cNvSpPr/>
          <p:nvPr/>
        </p:nvSpPr>
        <p:spPr>
          <a:xfrm>
            <a:off x="457200" y="2971800"/>
            <a:ext cx="384048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Data Privacy</a:t>
            </a:r>
            <a:endParaRPr lang="en-US" sz="1400" dirty="0"/>
          </a:p>
        </p:txBody>
      </p:sp>
      <p:sp>
        <p:nvSpPr>
          <p:cNvPr id="23" name="Shape 21"/>
          <p:cNvSpPr/>
          <p:nvPr/>
        </p:nvSpPr>
        <p:spPr>
          <a:xfrm>
            <a:off x="457200" y="3392424"/>
            <a:ext cx="640080" cy="201168"/>
          </a:xfrm>
          <a:prstGeom prst="rect">
            <a:avLst/>
          </a:prstGeom>
          <a:solidFill>
            <a:srgbClr val="E74C3C">
              <a:alpha val="80000"/>
            </a:srgbClr>
          </a:solidFill>
          <a:ln w="12700">
            <a:solidFill>
              <a:srgbClr val="E74C3C"/>
            </a:solidFill>
            <a:prstDash val="solid"/>
          </a:ln>
        </p:spPr>
        <p:txBody>
          <a:bodyPr/>
          <a:lstStyle/>
          <a:p>
            <a:endParaRPr/>
          </a:p>
        </p:txBody>
      </p:sp>
      <p:sp>
        <p:nvSpPr>
          <p:cNvPr id="24" name="Text 22"/>
          <p:cNvSpPr/>
          <p:nvPr/>
        </p:nvSpPr>
        <p:spPr>
          <a:xfrm>
            <a:off x="457200" y="3392424"/>
            <a:ext cx="64008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Issue</a:t>
            </a:r>
            <a:endParaRPr lang="en-US" sz="800" dirty="0"/>
          </a:p>
        </p:txBody>
      </p:sp>
      <p:sp>
        <p:nvSpPr>
          <p:cNvPr id="25" name="Text 23"/>
          <p:cNvSpPr/>
          <p:nvPr/>
        </p:nvSpPr>
        <p:spPr>
          <a:xfrm>
            <a:off x="1188720" y="3383280"/>
            <a:ext cx="3154680" cy="274320"/>
          </a:xfrm>
          <a:prstGeom prst="rect">
            <a:avLst/>
          </a:prstGeom>
          <a:noFill/>
          <a:ln/>
        </p:spPr>
        <p:txBody>
          <a:bodyPr wrap="square" lIns="0" tIns="0" rIns="0" bIns="0" rtlCol="0" anchor="ctr"/>
          <a:lstStyle/>
          <a:p>
            <a:pPr marL="0" indent="0">
              <a:buNone/>
            </a:pPr>
            <a:r>
              <a:rPr lang="en-US" sz="900" dirty="0">
                <a:solidFill>
                  <a:srgbClr val="E8EFF6"/>
                </a:solidFill>
                <a:latin typeface="Calibri" pitchFamily="34" charset="0"/>
                <a:ea typeface="Calibri" pitchFamily="34" charset="-122"/>
                <a:cs typeface="Calibri" pitchFamily="34" charset="-120"/>
              </a:rPr>
              <a:t>Concerns about sending sensitive data to third-party model providers</a:t>
            </a:r>
            <a:endParaRPr lang="en-US" sz="900" dirty="0"/>
          </a:p>
        </p:txBody>
      </p:sp>
      <p:sp>
        <p:nvSpPr>
          <p:cNvPr id="26" name="Shape 24"/>
          <p:cNvSpPr/>
          <p:nvPr/>
        </p:nvSpPr>
        <p:spPr>
          <a:xfrm>
            <a:off x="457200" y="3721608"/>
            <a:ext cx="640080" cy="201168"/>
          </a:xfrm>
          <a:prstGeom prst="rect">
            <a:avLst/>
          </a:prstGeom>
          <a:solidFill>
            <a:srgbClr val="2ECC71">
              <a:alpha val="80000"/>
            </a:srgbClr>
          </a:solidFill>
          <a:ln w="12700">
            <a:solidFill>
              <a:srgbClr val="2ECC71"/>
            </a:solidFill>
            <a:prstDash val="solid"/>
          </a:ln>
        </p:spPr>
        <p:txBody>
          <a:bodyPr/>
          <a:lstStyle/>
          <a:p>
            <a:endParaRPr/>
          </a:p>
        </p:txBody>
      </p:sp>
      <p:sp>
        <p:nvSpPr>
          <p:cNvPr id="27" name="Text 25"/>
          <p:cNvSpPr/>
          <p:nvPr/>
        </p:nvSpPr>
        <p:spPr>
          <a:xfrm>
            <a:off x="457200" y="3721608"/>
            <a:ext cx="64008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Fix</a:t>
            </a:r>
            <a:endParaRPr lang="en-US" sz="800" dirty="0"/>
          </a:p>
        </p:txBody>
      </p:sp>
      <p:sp>
        <p:nvSpPr>
          <p:cNvPr id="28" name="Text 26"/>
          <p:cNvSpPr/>
          <p:nvPr/>
        </p:nvSpPr>
        <p:spPr>
          <a:xfrm>
            <a:off x="1188720" y="3721608"/>
            <a:ext cx="3154680" cy="548640"/>
          </a:xfrm>
          <a:prstGeom prst="rect">
            <a:avLst/>
          </a:prstGeom>
          <a:noFill/>
          <a:ln/>
        </p:spPr>
        <p:txBody>
          <a:bodyPr wrap="square" lIns="0" tIns="0" rIns="0" bIns="0" rtlCol="0" anchor="ctr"/>
          <a:lstStyle/>
          <a:p>
            <a:pPr marL="0" indent="0">
              <a:buNone/>
            </a:pPr>
            <a:r>
              <a:rPr lang="en-US" sz="900" dirty="0">
                <a:solidFill>
                  <a:srgbClr val="E8EFF6"/>
                </a:solidFill>
                <a:latin typeface="Calibri" pitchFamily="34" charset="0"/>
                <a:ea typeface="Calibri" pitchFamily="34" charset="-122"/>
                <a:cs typeface="Calibri" pitchFamily="34" charset="-120"/>
              </a:rPr>
              <a:t>Use VPC endpoints, IAM controls, and prefer AWS-native models for sensitive data</a:t>
            </a:r>
            <a:endParaRPr lang="en-US" sz="900" dirty="0"/>
          </a:p>
        </p:txBody>
      </p:sp>
      <p:sp>
        <p:nvSpPr>
          <p:cNvPr id="29" name="Shape 27"/>
          <p:cNvSpPr/>
          <p:nvPr/>
        </p:nvSpPr>
        <p:spPr>
          <a:xfrm>
            <a:off x="4709160" y="2880360"/>
            <a:ext cx="4160520" cy="1508760"/>
          </a:xfrm>
          <a:prstGeom prst="rect">
            <a:avLst/>
          </a:prstGeom>
          <a:solidFill>
            <a:srgbClr val="1E3045"/>
          </a:solidFill>
          <a:ln w="12700">
            <a:solidFill>
              <a:srgbClr val="2A4060"/>
            </a:solidFill>
            <a:prstDash val="solid"/>
          </a:ln>
        </p:spPr>
        <p:txBody>
          <a:bodyPr/>
          <a:lstStyle/>
          <a:p>
            <a:endParaRPr/>
          </a:p>
        </p:txBody>
      </p:sp>
      <p:sp>
        <p:nvSpPr>
          <p:cNvPr id="30" name="Text 28"/>
          <p:cNvSpPr/>
          <p:nvPr/>
        </p:nvSpPr>
        <p:spPr>
          <a:xfrm>
            <a:off x="4846320" y="2971800"/>
            <a:ext cx="384048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Latency</a:t>
            </a:r>
            <a:endParaRPr lang="en-US" sz="1400" dirty="0"/>
          </a:p>
        </p:txBody>
      </p:sp>
      <p:sp>
        <p:nvSpPr>
          <p:cNvPr id="31" name="Shape 29"/>
          <p:cNvSpPr/>
          <p:nvPr/>
        </p:nvSpPr>
        <p:spPr>
          <a:xfrm>
            <a:off x="4846320" y="3392424"/>
            <a:ext cx="640080" cy="201168"/>
          </a:xfrm>
          <a:prstGeom prst="rect">
            <a:avLst/>
          </a:prstGeom>
          <a:solidFill>
            <a:srgbClr val="E74C3C">
              <a:alpha val="80000"/>
            </a:srgbClr>
          </a:solidFill>
          <a:ln w="12700">
            <a:solidFill>
              <a:srgbClr val="E74C3C"/>
            </a:solidFill>
            <a:prstDash val="solid"/>
          </a:ln>
        </p:spPr>
        <p:txBody>
          <a:bodyPr/>
          <a:lstStyle/>
          <a:p>
            <a:endParaRPr/>
          </a:p>
        </p:txBody>
      </p:sp>
      <p:sp>
        <p:nvSpPr>
          <p:cNvPr id="32" name="Text 30"/>
          <p:cNvSpPr/>
          <p:nvPr/>
        </p:nvSpPr>
        <p:spPr>
          <a:xfrm>
            <a:off x="4846320" y="3392424"/>
            <a:ext cx="64008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Issue</a:t>
            </a:r>
            <a:endParaRPr lang="en-US" sz="800" dirty="0"/>
          </a:p>
        </p:txBody>
      </p:sp>
      <p:sp>
        <p:nvSpPr>
          <p:cNvPr id="33" name="Text 31"/>
          <p:cNvSpPr/>
          <p:nvPr/>
        </p:nvSpPr>
        <p:spPr>
          <a:xfrm>
            <a:off x="5577840" y="3383280"/>
            <a:ext cx="3154680" cy="274320"/>
          </a:xfrm>
          <a:prstGeom prst="rect">
            <a:avLst/>
          </a:prstGeom>
          <a:noFill/>
          <a:ln/>
        </p:spPr>
        <p:txBody>
          <a:bodyPr wrap="square" lIns="0" tIns="0" rIns="0" bIns="0" rtlCol="0" anchor="ctr"/>
          <a:lstStyle/>
          <a:p>
            <a:pPr marL="0" indent="0">
              <a:buNone/>
            </a:pPr>
            <a:r>
              <a:rPr lang="en-US" sz="900" dirty="0">
                <a:solidFill>
                  <a:srgbClr val="E8EFF6"/>
                </a:solidFill>
                <a:latin typeface="Calibri" pitchFamily="34" charset="0"/>
                <a:ea typeface="Calibri" pitchFamily="34" charset="-122"/>
                <a:cs typeface="Calibri" pitchFamily="34" charset="-120"/>
              </a:rPr>
              <a:t>LLM inference adds latency compared to deterministic NLU responses</a:t>
            </a:r>
            <a:endParaRPr lang="en-US" sz="900" dirty="0"/>
          </a:p>
        </p:txBody>
      </p:sp>
      <p:sp>
        <p:nvSpPr>
          <p:cNvPr id="34" name="Shape 32"/>
          <p:cNvSpPr/>
          <p:nvPr/>
        </p:nvSpPr>
        <p:spPr>
          <a:xfrm>
            <a:off x="4846320" y="3721608"/>
            <a:ext cx="640080" cy="201168"/>
          </a:xfrm>
          <a:prstGeom prst="rect">
            <a:avLst/>
          </a:prstGeom>
          <a:solidFill>
            <a:srgbClr val="2ECC71">
              <a:alpha val="80000"/>
            </a:srgbClr>
          </a:solidFill>
          <a:ln w="12700">
            <a:solidFill>
              <a:srgbClr val="2ECC71"/>
            </a:solidFill>
            <a:prstDash val="solid"/>
          </a:ln>
        </p:spPr>
        <p:txBody>
          <a:bodyPr/>
          <a:lstStyle/>
          <a:p>
            <a:endParaRPr/>
          </a:p>
        </p:txBody>
      </p:sp>
      <p:sp>
        <p:nvSpPr>
          <p:cNvPr id="35" name="Text 33"/>
          <p:cNvSpPr/>
          <p:nvPr/>
        </p:nvSpPr>
        <p:spPr>
          <a:xfrm>
            <a:off x="4846320" y="3721608"/>
            <a:ext cx="64008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Fix</a:t>
            </a:r>
            <a:endParaRPr lang="en-US" sz="800" dirty="0"/>
          </a:p>
        </p:txBody>
      </p:sp>
      <p:sp>
        <p:nvSpPr>
          <p:cNvPr id="36" name="Text 34"/>
          <p:cNvSpPr/>
          <p:nvPr/>
        </p:nvSpPr>
        <p:spPr>
          <a:xfrm>
            <a:off x="5577840" y="3721608"/>
            <a:ext cx="3154680" cy="548640"/>
          </a:xfrm>
          <a:prstGeom prst="rect">
            <a:avLst/>
          </a:prstGeom>
          <a:noFill/>
          <a:ln/>
        </p:spPr>
        <p:txBody>
          <a:bodyPr wrap="square" lIns="0" tIns="0" rIns="0" bIns="0" rtlCol="0" anchor="ctr"/>
          <a:lstStyle/>
          <a:p>
            <a:pPr marL="0" indent="0">
              <a:buNone/>
            </a:pPr>
            <a:r>
              <a:rPr lang="en-US" sz="900" dirty="0">
                <a:solidFill>
                  <a:srgbClr val="E8EFF6"/>
                </a:solidFill>
                <a:latin typeface="Calibri" pitchFamily="34" charset="0"/>
                <a:ea typeface="Calibri" pitchFamily="34" charset="-122"/>
                <a:cs typeface="Calibri" pitchFamily="34" charset="-120"/>
              </a:rPr>
              <a:t>Use streaming responses, optimize context length, cache frequent responses</a:t>
            </a:r>
            <a:endParaRPr lang="en-US" sz="900" dirty="0"/>
          </a:p>
        </p:txBody>
      </p:sp>
      <p:sp>
        <p:nvSpPr>
          <p:cNvPr id="37" name="Shape 35"/>
          <p:cNvSpPr/>
          <p:nvPr/>
        </p:nvSpPr>
        <p:spPr>
          <a:xfrm>
            <a:off x="0" y="4686300"/>
            <a:ext cx="9144000" cy="457200"/>
          </a:xfrm>
          <a:prstGeom prst="rect">
            <a:avLst/>
          </a:prstGeom>
          <a:solidFill>
            <a:srgbClr val="162232"/>
          </a:solidFill>
          <a:ln w="12700">
            <a:solidFill>
              <a:srgbClr val="162232"/>
            </a:solidFill>
            <a:prstDash val="solid"/>
          </a:ln>
        </p:spPr>
        <p:txBody>
          <a:bodyPr/>
          <a:lstStyle/>
          <a:p>
            <a:endParaRPr/>
          </a:p>
        </p:txBody>
      </p:sp>
      <p:sp>
        <p:nvSpPr>
          <p:cNvPr id="38" name="Text 36"/>
          <p:cNvSpPr/>
          <p:nvPr/>
        </p:nvSpPr>
        <p:spPr>
          <a:xfrm>
            <a:off x="457200" y="4686300"/>
            <a:ext cx="7315200" cy="457200"/>
          </a:xfrm>
          <a:prstGeom prst="rect">
            <a:avLst/>
          </a:prstGeom>
          <a:noFill/>
          <a:ln/>
        </p:spPr>
        <p:txBody>
          <a:bodyPr wrap="square" rtlCol="0" anchor="ctr"/>
          <a:lstStyle/>
          <a:p>
            <a:pPr marL="0" indent="0">
              <a:buNone/>
            </a:pPr>
            <a:r>
              <a:rPr lang="en-US" sz="1000" dirty="0">
                <a:solidFill>
                  <a:srgbClr val="8FA3B8"/>
                </a:solidFill>
                <a:latin typeface="Calibri" pitchFamily="34" charset="0"/>
                <a:ea typeface="Calibri" pitchFamily="34" charset="-122"/>
                <a:cs typeface="Calibri" pitchFamily="34" charset="-120"/>
              </a:rPr>
              <a:t>Amazon Bedrock | Cloud Computing Presentation</a:t>
            </a:r>
            <a:endParaRPr lang="en-US" sz="1000" dirty="0"/>
          </a:p>
        </p:txBody>
      </p:sp>
      <p:sp>
        <p:nvSpPr>
          <p:cNvPr id="39" name="Text 37"/>
          <p:cNvSpPr/>
          <p:nvPr/>
        </p:nvSpPr>
        <p:spPr>
          <a:xfrm>
            <a:off x="8046720" y="4686300"/>
            <a:ext cx="914400" cy="457200"/>
          </a:xfrm>
          <a:prstGeom prst="rect">
            <a:avLst/>
          </a:prstGeom>
          <a:noFill/>
          <a:ln/>
        </p:spPr>
        <p:txBody>
          <a:bodyPr wrap="square" rtlCol="0" anchor="ctr"/>
          <a:lstStyle/>
          <a:p>
            <a:pPr marL="0" indent="0" algn="r">
              <a:buNone/>
            </a:pPr>
            <a:r>
              <a:rPr lang="en-US" sz="1000" dirty="0">
                <a:solidFill>
                  <a:srgbClr val="8FA3B8"/>
                </a:solidFill>
                <a:latin typeface="Calibri" pitchFamily="34" charset="0"/>
                <a:ea typeface="Calibri" pitchFamily="34" charset="-122"/>
                <a:cs typeface="Calibri" pitchFamily="34" charset="-120"/>
              </a:rPr>
              <a:t>11 / 14</a:t>
            </a:r>
            <a:endParaRPr lang="en-US" sz="1000" dirty="0"/>
          </a:p>
        </p:txBody>
      </p:sp>
      <p:pic>
        <p:nvPicPr>
          <p:cNvPr id="40" name="Picture 39" descr="image.png"/>
          <p:cNvPicPr>
            <a:picLocks noChangeAspect="1"/>
          </p:cNvPicPr>
          <p:nvPr/>
        </p:nvPicPr>
        <p:blipFill>
          <a:blip r:embed="rId3"/>
          <a:stretch>
            <a:fillRect/>
          </a:stretch>
        </p:blipFill>
        <p:spPr>
          <a:xfrm>
            <a:off x="4023359" y="1298448"/>
            <a:ext cx="274320" cy="274320"/>
          </a:xfrm>
          <a:prstGeom prst="rect">
            <a:avLst/>
          </a:prstGeom>
        </p:spPr>
      </p:pic>
      <p:pic>
        <p:nvPicPr>
          <p:cNvPr id="41" name="Picture 40" descr="image.png"/>
          <p:cNvPicPr>
            <a:picLocks noChangeAspect="1"/>
          </p:cNvPicPr>
          <p:nvPr/>
        </p:nvPicPr>
        <p:blipFill>
          <a:blip r:embed="rId4"/>
          <a:stretch>
            <a:fillRect/>
          </a:stretch>
        </p:blipFill>
        <p:spPr>
          <a:xfrm>
            <a:off x="8412480" y="1298448"/>
            <a:ext cx="274320" cy="274320"/>
          </a:xfrm>
          <a:prstGeom prst="rect">
            <a:avLst/>
          </a:prstGeom>
        </p:spPr>
      </p:pic>
      <p:pic>
        <p:nvPicPr>
          <p:cNvPr id="42" name="Picture 41" descr="image.png"/>
          <p:cNvPicPr>
            <a:picLocks noChangeAspect="1"/>
          </p:cNvPicPr>
          <p:nvPr/>
        </p:nvPicPr>
        <p:blipFill>
          <a:blip r:embed="rId5"/>
          <a:stretch>
            <a:fillRect/>
          </a:stretch>
        </p:blipFill>
        <p:spPr>
          <a:xfrm>
            <a:off x="4023359" y="2990088"/>
            <a:ext cx="274320" cy="274320"/>
          </a:xfrm>
          <a:prstGeom prst="rect">
            <a:avLst/>
          </a:prstGeom>
        </p:spPr>
      </p:pic>
      <p:pic>
        <p:nvPicPr>
          <p:cNvPr id="43" name="Picture 42" descr="image.png"/>
          <p:cNvPicPr>
            <a:picLocks noChangeAspect="1"/>
          </p:cNvPicPr>
          <p:nvPr/>
        </p:nvPicPr>
        <p:blipFill>
          <a:blip r:embed="rId6"/>
          <a:stretch>
            <a:fillRect/>
          </a:stretch>
        </p:blipFill>
        <p:spPr>
          <a:xfrm>
            <a:off x="8412480" y="2990088"/>
            <a:ext cx="274320" cy="2743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73152"/>
            <a:ext cx="9144000" cy="384048"/>
          </a:xfrm>
          <a:prstGeom prst="rect">
            <a:avLst/>
          </a:prstGeom>
          <a:solidFill>
            <a:srgbClr val="1A2840"/>
          </a:solidFill>
          <a:ln w="12700">
            <a:solidFill>
              <a:srgbClr val="1A2840"/>
            </a:solidFill>
            <a:prstDash val="solid"/>
          </a:ln>
        </p:spPr>
        <p:txBody>
          <a:bodyPr/>
          <a:lstStyle/>
          <a:p>
            <a:endParaRPr/>
          </a:p>
        </p:txBody>
      </p:sp>
      <p:sp>
        <p:nvSpPr>
          <p:cNvPr id="3" name="Text 1"/>
          <p:cNvSpPr/>
          <p:nvPr/>
        </p:nvSpPr>
        <p:spPr>
          <a:xfrm>
            <a:off x="365760" y="73152"/>
            <a:ext cx="8412480" cy="384048"/>
          </a:xfrm>
          <a:prstGeom prst="rect">
            <a:avLst/>
          </a:prstGeom>
          <a:noFill/>
          <a:ln/>
        </p:spPr>
        <p:txBody>
          <a:bodyPr wrap="square" lIns="0" tIns="0" rIns="0" bIns="0" rtlCol="0" anchor="ctr"/>
          <a:lstStyle/>
          <a:p>
            <a:pPr marL="0" indent="0">
              <a:buNone/>
            </a:pPr>
            <a:r>
              <a:rPr lang="en-US" sz="1000" dirty="0">
                <a:solidFill>
                  <a:srgbClr val="8FA3B8"/>
                </a:solidFill>
                <a:latin typeface="Calibri" pitchFamily="34" charset="0"/>
                <a:ea typeface="Calibri" pitchFamily="34" charset="-122"/>
                <a:cs typeface="Calibri" pitchFamily="34" charset="-120"/>
              </a:rPr>
              <a:t>RESEARCH PAPER  |  IJIRMPS Vol.13 Issue 5  |  Sep–Oct 2025  |  ISSN: 2349-7300</a:t>
            </a:r>
            <a:endParaRPr lang="en-US" sz="1000" dirty="0"/>
          </a:p>
        </p:txBody>
      </p:sp>
      <p:sp>
        <p:nvSpPr>
          <p:cNvPr id="4" name="Text 2"/>
          <p:cNvSpPr/>
          <p:nvPr/>
        </p:nvSpPr>
        <p:spPr>
          <a:xfrm>
            <a:off x="457200" y="59436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Paper Introduction</a:t>
            </a:r>
            <a:endParaRPr lang="en-US" sz="2800" dirty="0"/>
          </a:p>
        </p:txBody>
      </p:sp>
      <p:sp>
        <p:nvSpPr>
          <p:cNvPr id="5" name="Shape 3"/>
          <p:cNvSpPr/>
          <p:nvPr/>
        </p:nvSpPr>
        <p:spPr>
          <a:xfrm>
            <a:off x="320040" y="1170432"/>
            <a:ext cx="8503920" cy="960120"/>
          </a:xfrm>
          <a:prstGeom prst="rect">
            <a:avLst/>
          </a:prstGeom>
          <a:solidFill>
            <a:srgbClr val="1E3045"/>
          </a:solidFill>
          <a:ln w="12700">
            <a:solidFill>
              <a:srgbClr val="FF9900"/>
            </a:solidFill>
            <a:prstDash val="solid"/>
          </a:ln>
        </p:spPr>
        <p:txBody>
          <a:bodyPr/>
          <a:lstStyle/>
          <a:p>
            <a:endParaRPr/>
          </a:p>
        </p:txBody>
      </p:sp>
      <p:sp>
        <p:nvSpPr>
          <p:cNvPr id="6" name="Shape 4"/>
          <p:cNvSpPr/>
          <p:nvPr/>
        </p:nvSpPr>
        <p:spPr>
          <a:xfrm>
            <a:off x="320040" y="1170432"/>
            <a:ext cx="8503920" cy="54864"/>
          </a:xfrm>
          <a:prstGeom prst="rect">
            <a:avLst/>
          </a:prstGeom>
          <a:solidFill>
            <a:srgbClr val="FF9900"/>
          </a:solidFill>
          <a:ln w="12700">
            <a:solidFill>
              <a:srgbClr val="FF9900"/>
            </a:solidFill>
            <a:prstDash val="solid"/>
          </a:ln>
        </p:spPr>
        <p:txBody>
          <a:bodyPr/>
          <a:lstStyle/>
          <a:p>
            <a:endParaRPr/>
          </a:p>
        </p:txBody>
      </p:sp>
      <p:sp>
        <p:nvSpPr>
          <p:cNvPr id="7" name="Text 5"/>
          <p:cNvSpPr/>
          <p:nvPr/>
        </p:nvSpPr>
        <p:spPr>
          <a:xfrm>
            <a:off x="457200" y="1261872"/>
            <a:ext cx="8229600" cy="457200"/>
          </a:xfrm>
          <a:prstGeom prst="rect">
            <a:avLst/>
          </a:prstGeom>
          <a:noFill/>
          <a:ln/>
        </p:spPr>
        <p:txBody>
          <a:bodyPr wrap="square" lIns="0" tIns="0" rIns="0" bIns="0" rtlCol="0" anchor="ctr"/>
          <a:lstStyle/>
          <a:p>
            <a:pPr marL="0" indent="0">
              <a:buNone/>
            </a:pPr>
            <a:r>
              <a:rPr lang="en-US" sz="1600" b="1" i="1" dirty="0">
                <a:solidFill>
                  <a:srgbClr val="FFFFFF"/>
                </a:solidFill>
                <a:latin typeface="Calibri" pitchFamily="34" charset="0"/>
                <a:ea typeface="Calibri" pitchFamily="34" charset="-122"/>
                <a:cs typeface="Calibri" pitchFamily="34" charset="-120"/>
              </a:rPr>
              <a:t>"AWS Bedrock for Conversational AI &amp; GenAI"</a:t>
            </a:r>
            <a:endParaRPr lang="en-US" sz="1600" dirty="0"/>
          </a:p>
        </p:txBody>
      </p:sp>
      <p:sp>
        <p:nvSpPr>
          <p:cNvPr id="8" name="Text 6"/>
          <p:cNvSpPr/>
          <p:nvPr/>
        </p:nvSpPr>
        <p:spPr>
          <a:xfrm>
            <a:off x="457200" y="1673352"/>
            <a:ext cx="5486400" cy="320040"/>
          </a:xfrm>
          <a:prstGeom prst="rect">
            <a:avLst/>
          </a:prstGeom>
          <a:noFill/>
          <a:ln/>
        </p:spPr>
        <p:txBody>
          <a:bodyPr wrap="square" lIns="0" tIns="0" rIns="0" bIns="0" rtlCol="0" anchor="ctr"/>
          <a:lstStyle/>
          <a:p>
            <a:pPr marL="0" indent="0">
              <a:buNone/>
            </a:pPr>
            <a:r>
              <a:rPr lang="en-US" sz="1100" dirty="0">
                <a:solidFill>
                  <a:srgbClr val="8FA3B8"/>
                </a:solidFill>
                <a:latin typeface="Calibri" pitchFamily="34" charset="0"/>
                <a:ea typeface="Calibri" pitchFamily="34" charset="-122"/>
                <a:cs typeface="Calibri" pitchFamily="34" charset="-120"/>
              </a:rPr>
              <a:t>by Satish Yerram  |  yerramsathish1@gmail.com</a:t>
            </a:r>
            <a:endParaRPr lang="en-US" sz="1100" dirty="0"/>
          </a:p>
        </p:txBody>
      </p:sp>
      <p:sp>
        <p:nvSpPr>
          <p:cNvPr id="9" name="Shape 7"/>
          <p:cNvSpPr/>
          <p:nvPr/>
        </p:nvSpPr>
        <p:spPr>
          <a:xfrm>
            <a:off x="457200" y="2240280"/>
            <a:ext cx="1417320" cy="274320"/>
          </a:xfrm>
          <a:prstGeom prst="rect">
            <a:avLst/>
          </a:prstGeom>
          <a:solidFill>
            <a:srgbClr val="1A73E8">
              <a:alpha val="70000"/>
            </a:srgbClr>
          </a:solidFill>
          <a:ln w="12700">
            <a:solidFill>
              <a:srgbClr val="1A73E8"/>
            </a:solidFill>
            <a:prstDash val="solid"/>
          </a:ln>
        </p:spPr>
        <p:txBody>
          <a:bodyPr/>
          <a:lstStyle/>
          <a:p>
            <a:endParaRPr/>
          </a:p>
        </p:txBody>
      </p:sp>
      <p:sp>
        <p:nvSpPr>
          <p:cNvPr id="10" name="Text 8"/>
          <p:cNvSpPr/>
          <p:nvPr/>
        </p:nvSpPr>
        <p:spPr>
          <a:xfrm>
            <a:off x="457200" y="2240280"/>
            <a:ext cx="1417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Cloud Computing</a:t>
            </a:r>
            <a:endParaRPr lang="en-US" sz="900" dirty="0"/>
          </a:p>
        </p:txBody>
      </p:sp>
      <p:sp>
        <p:nvSpPr>
          <p:cNvPr id="11" name="Shape 9"/>
          <p:cNvSpPr/>
          <p:nvPr/>
        </p:nvSpPr>
        <p:spPr>
          <a:xfrm>
            <a:off x="2103120" y="2240280"/>
            <a:ext cx="1417320" cy="274320"/>
          </a:xfrm>
          <a:prstGeom prst="rect">
            <a:avLst/>
          </a:prstGeom>
          <a:solidFill>
            <a:srgbClr val="FF9900">
              <a:alpha val="70000"/>
            </a:srgbClr>
          </a:solidFill>
          <a:ln w="12700">
            <a:solidFill>
              <a:srgbClr val="FF9900"/>
            </a:solidFill>
            <a:prstDash val="solid"/>
          </a:ln>
        </p:spPr>
        <p:txBody>
          <a:bodyPr/>
          <a:lstStyle/>
          <a:p>
            <a:endParaRPr/>
          </a:p>
        </p:txBody>
      </p:sp>
      <p:sp>
        <p:nvSpPr>
          <p:cNvPr id="12" name="Text 10"/>
          <p:cNvSpPr/>
          <p:nvPr/>
        </p:nvSpPr>
        <p:spPr>
          <a:xfrm>
            <a:off x="2103120" y="2240280"/>
            <a:ext cx="1417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GenAI</a:t>
            </a:r>
            <a:endParaRPr lang="en-US" sz="900" dirty="0"/>
          </a:p>
        </p:txBody>
      </p:sp>
      <p:sp>
        <p:nvSpPr>
          <p:cNvPr id="13" name="Shape 11"/>
          <p:cNvSpPr/>
          <p:nvPr/>
        </p:nvSpPr>
        <p:spPr>
          <a:xfrm>
            <a:off x="3749040" y="2240280"/>
            <a:ext cx="1417320" cy="274320"/>
          </a:xfrm>
          <a:prstGeom prst="rect">
            <a:avLst/>
          </a:prstGeom>
          <a:solidFill>
            <a:srgbClr val="9B59B6">
              <a:alpha val="70000"/>
            </a:srgbClr>
          </a:solidFill>
          <a:ln w="12700">
            <a:solidFill>
              <a:srgbClr val="9B59B6"/>
            </a:solidFill>
            <a:prstDash val="solid"/>
          </a:ln>
        </p:spPr>
        <p:txBody>
          <a:bodyPr/>
          <a:lstStyle/>
          <a:p>
            <a:endParaRPr/>
          </a:p>
        </p:txBody>
      </p:sp>
      <p:sp>
        <p:nvSpPr>
          <p:cNvPr id="14" name="Text 12"/>
          <p:cNvSpPr/>
          <p:nvPr/>
        </p:nvSpPr>
        <p:spPr>
          <a:xfrm>
            <a:off x="3749040" y="2240280"/>
            <a:ext cx="1417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LLMs</a:t>
            </a:r>
            <a:endParaRPr lang="en-US" sz="900" dirty="0"/>
          </a:p>
        </p:txBody>
      </p:sp>
      <p:sp>
        <p:nvSpPr>
          <p:cNvPr id="15" name="Shape 13"/>
          <p:cNvSpPr/>
          <p:nvPr/>
        </p:nvSpPr>
        <p:spPr>
          <a:xfrm>
            <a:off x="5394960" y="2240280"/>
            <a:ext cx="1417320" cy="274320"/>
          </a:xfrm>
          <a:prstGeom prst="rect">
            <a:avLst/>
          </a:prstGeom>
          <a:solidFill>
            <a:srgbClr val="00B3B3">
              <a:alpha val="70000"/>
            </a:srgbClr>
          </a:solidFill>
          <a:ln w="12700">
            <a:solidFill>
              <a:srgbClr val="00B3B3"/>
            </a:solidFill>
            <a:prstDash val="solid"/>
          </a:ln>
        </p:spPr>
        <p:txBody>
          <a:bodyPr/>
          <a:lstStyle/>
          <a:p>
            <a:endParaRPr/>
          </a:p>
        </p:txBody>
      </p:sp>
      <p:sp>
        <p:nvSpPr>
          <p:cNvPr id="16" name="Text 14"/>
          <p:cNvSpPr/>
          <p:nvPr/>
        </p:nvSpPr>
        <p:spPr>
          <a:xfrm>
            <a:off x="5394960" y="2240280"/>
            <a:ext cx="1417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ChatBot</a:t>
            </a:r>
            <a:endParaRPr lang="en-US" sz="900" dirty="0"/>
          </a:p>
        </p:txBody>
      </p:sp>
      <p:sp>
        <p:nvSpPr>
          <p:cNvPr id="17" name="Text 15"/>
          <p:cNvSpPr/>
          <p:nvPr/>
        </p:nvSpPr>
        <p:spPr>
          <a:xfrm>
            <a:off x="457200" y="2670048"/>
            <a:ext cx="5029200" cy="347472"/>
          </a:xfrm>
          <a:prstGeom prst="rect">
            <a:avLst/>
          </a:prstGeom>
          <a:noFill/>
          <a:ln/>
        </p:spPr>
        <p:txBody>
          <a:bodyPr wrap="square" lIns="0" tIns="0" rIns="0" bIns="0" rtlCol="0" anchor="ctr"/>
          <a:lstStyle/>
          <a:p>
            <a:pPr marL="0" indent="0">
              <a:buNone/>
            </a:pPr>
            <a:r>
              <a:rPr lang="en-US" sz="1300" b="1" dirty="0">
                <a:solidFill>
                  <a:srgbClr val="00B3B3"/>
                </a:solidFill>
                <a:latin typeface="Calibri" pitchFamily="34" charset="0"/>
                <a:ea typeface="Calibri" pitchFamily="34" charset="-122"/>
                <a:cs typeface="Calibri" pitchFamily="34" charset="-120"/>
              </a:rPr>
              <a:t>Abstract Summary</a:t>
            </a:r>
            <a:endParaRPr lang="en-US" sz="1300" dirty="0"/>
          </a:p>
        </p:txBody>
      </p:sp>
      <p:sp>
        <p:nvSpPr>
          <p:cNvPr id="18" name="Shape 16"/>
          <p:cNvSpPr/>
          <p:nvPr/>
        </p:nvSpPr>
        <p:spPr>
          <a:xfrm>
            <a:off x="320040" y="3044952"/>
            <a:ext cx="5257800" cy="1463040"/>
          </a:xfrm>
          <a:prstGeom prst="rect">
            <a:avLst/>
          </a:prstGeom>
          <a:solidFill>
            <a:srgbClr val="1E3045"/>
          </a:solidFill>
          <a:ln w="12700">
            <a:solidFill>
              <a:srgbClr val="2A4060"/>
            </a:solidFill>
            <a:prstDash val="solid"/>
          </a:ln>
        </p:spPr>
        <p:txBody>
          <a:bodyPr/>
          <a:lstStyle/>
          <a:p>
            <a:endParaRPr/>
          </a:p>
        </p:txBody>
      </p:sp>
      <p:sp>
        <p:nvSpPr>
          <p:cNvPr id="19" name="Text 17"/>
          <p:cNvSpPr/>
          <p:nvPr/>
        </p:nvSpPr>
        <p:spPr>
          <a:xfrm>
            <a:off x="457200" y="3108960"/>
            <a:ext cx="4983480" cy="1335024"/>
          </a:xfrm>
          <a:prstGeom prst="rect">
            <a:avLst/>
          </a:prstGeom>
          <a:noFill/>
          <a:ln/>
        </p:spPr>
        <p:txBody>
          <a:bodyPr wrap="square" lIns="0" tIns="0" rIns="0" bIns="0" rtlCol="0" anchor="ctr"/>
          <a:lstStyle/>
          <a:p>
            <a:pPr marL="0" indent="0">
              <a:buNone/>
            </a:pPr>
            <a:r>
              <a:rPr lang="en-US" sz="1000" dirty="0">
                <a:solidFill>
                  <a:srgbClr val="E8EFF6"/>
                </a:solidFill>
                <a:latin typeface="Calibri" pitchFamily="34" charset="0"/>
                <a:ea typeface="Calibri" pitchFamily="34" charset="-122"/>
                <a:cs typeface="Calibri" pitchFamily="34" charset="-120"/>
              </a:rPr>
              <a:t>This paper examines how Amazon Bedrock enables enterprises to build scalable, intelligent conversational AI without managing infrastructure. It explores the integration of AWS Bedrock with Amazon Lex to combine structured NLU with generative flexibility — covering foundation model selection, hybrid chatbot architecture, security via IAM/VPC, and real-world use cases in customer support, healthcare, and finance.</a:t>
            </a:r>
            <a:endParaRPr lang="en-US" sz="1000" dirty="0"/>
          </a:p>
        </p:txBody>
      </p:sp>
      <p:sp>
        <p:nvSpPr>
          <p:cNvPr id="20" name="Text 18"/>
          <p:cNvSpPr/>
          <p:nvPr/>
        </p:nvSpPr>
        <p:spPr>
          <a:xfrm>
            <a:off x="5806440" y="2670048"/>
            <a:ext cx="3017520" cy="347472"/>
          </a:xfrm>
          <a:prstGeom prst="rect">
            <a:avLst/>
          </a:prstGeom>
          <a:noFill/>
          <a:ln/>
        </p:spPr>
        <p:txBody>
          <a:bodyPr wrap="square" lIns="0" tIns="0" rIns="0" bIns="0" rtlCol="0" anchor="ctr"/>
          <a:lstStyle/>
          <a:p>
            <a:pPr marL="0" indent="0">
              <a:buNone/>
            </a:pPr>
            <a:r>
              <a:rPr lang="en-US" sz="1300" b="1" dirty="0">
                <a:solidFill>
                  <a:srgbClr val="FF9900"/>
                </a:solidFill>
                <a:latin typeface="Calibri" pitchFamily="34" charset="0"/>
                <a:ea typeface="Calibri" pitchFamily="34" charset="-122"/>
                <a:cs typeface="Calibri" pitchFamily="34" charset="-120"/>
              </a:rPr>
              <a:t>Keywords</a:t>
            </a:r>
            <a:endParaRPr lang="en-US" sz="1300" dirty="0"/>
          </a:p>
        </p:txBody>
      </p:sp>
      <p:sp>
        <p:nvSpPr>
          <p:cNvPr id="21" name="Shape 19"/>
          <p:cNvSpPr/>
          <p:nvPr/>
        </p:nvSpPr>
        <p:spPr>
          <a:xfrm>
            <a:off x="5669280" y="3044952"/>
            <a:ext cx="3154680" cy="1463040"/>
          </a:xfrm>
          <a:prstGeom prst="rect">
            <a:avLst/>
          </a:prstGeom>
          <a:solidFill>
            <a:srgbClr val="1E3045"/>
          </a:solidFill>
          <a:ln w="12700">
            <a:solidFill>
              <a:srgbClr val="2A4060"/>
            </a:solidFill>
            <a:prstDash val="solid"/>
          </a:ln>
        </p:spPr>
        <p:txBody>
          <a:bodyPr/>
          <a:lstStyle/>
          <a:p>
            <a:endParaRPr/>
          </a:p>
        </p:txBody>
      </p:sp>
      <p:sp>
        <p:nvSpPr>
          <p:cNvPr id="22" name="Text 20"/>
          <p:cNvSpPr/>
          <p:nvPr/>
        </p:nvSpPr>
        <p:spPr>
          <a:xfrm>
            <a:off x="5806440" y="3108960"/>
            <a:ext cx="2834640" cy="1335024"/>
          </a:xfrm>
          <a:prstGeom prst="rect">
            <a:avLst/>
          </a:prstGeom>
          <a:noFill/>
          <a:ln/>
        </p:spPr>
        <p:txBody>
          <a:bodyPr wrap="square" lIns="0" tIns="0" rIns="0" bIns="0" rtlCol="0" anchor="ctr"/>
          <a:lstStyle/>
          <a:p>
            <a:pPr marL="0" indent="0">
              <a:buNone/>
            </a:pPr>
            <a:r>
              <a:rPr lang="en-US" sz="1000" dirty="0">
                <a:solidFill>
                  <a:srgbClr val="E8EFF6"/>
                </a:solidFill>
                <a:latin typeface="Calibri" pitchFamily="34" charset="0"/>
                <a:ea typeface="Calibri" pitchFamily="34" charset="-122"/>
                <a:cs typeface="Calibri" pitchFamily="34" charset="-120"/>
              </a:rPr>
              <a:t>▪  Generative AI</a:t>
            </a:r>
            <a:endParaRPr lang="en-US" sz="1000" dirty="0"/>
          </a:p>
          <a:p>
            <a:pPr marL="0" indent="0">
              <a:buNone/>
            </a:pPr>
            <a:r>
              <a:rPr lang="en-US" sz="1000" dirty="0">
                <a:solidFill>
                  <a:srgbClr val="E8EFF6"/>
                </a:solidFill>
                <a:latin typeface="Calibri" pitchFamily="34" charset="0"/>
                <a:ea typeface="Calibri" pitchFamily="34" charset="-122"/>
                <a:cs typeface="Calibri" pitchFamily="34" charset="-120"/>
              </a:rPr>
              <a:t>▪  LLMs (Large Language Models)</a:t>
            </a:r>
            <a:endParaRPr lang="en-US" sz="1000" dirty="0"/>
          </a:p>
          <a:p>
            <a:pPr marL="0" indent="0">
              <a:buNone/>
            </a:pPr>
            <a:r>
              <a:rPr lang="en-US" sz="1000" dirty="0">
                <a:solidFill>
                  <a:srgbClr val="E8EFF6"/>
                </a:solidFill>
                <a:latin typeface="Calibri" pitchFamily="34" charset="0"/>
                <a:ea typeface="Calibri" pitchFamily="34" charset="-122"/>
                <a:cs typeface="Calibri" pitchFamily="34" charset="-120"/>
              </a:rPr>
              <a:t>▪  Amazon Bedrock</a:t>
            </a:r>
            <a:endParaRPr lang="en-US" sz="1000" dirty="0"/>
          </a:p>
          <a:p>
            <a:pPr marL="0" indent="0">
              <a:buNone/>
            </a:pPr>
            <a:r>
              <a:rPr lang="en-US" sz="1000" dirty="0">
                <a:solidFill>
                  <a:srgbClr val="E8EFF6"/>
                </a:solidFill>
                <a:latin typeface="Calibri" pitchFamily="34" charset="0"/>
                <a:ea typeface="Calibri" pitchFamily="34" charset="-122"/>
                <a:cs typeface="Calibri" pitchFamily="34" charset="-120"/>
              </a:rPr>
              <a:t>▪  Amazon Lex</a:t>
            </a:r>
            <a:endParaRPr lang="en-US" sz="1000" dirty="0"/>
          </a:p>
          <a:p>
            <a:pPr marL="0" indent="0">
              <a:buNone/>
            </a:pPr>
            <a:r>
              <a:rPr lang="en-US" sz="1000" dirty="0">
                <a:solidFill>
                  <a:srgbClr val="E8EFF6"/>
                </a:solidFill>
                <a:latin typeface="Calibri" pitchFamily="34" charset="0"/>
                <a:ea typeface="Calibri" pitchFamily="34" charset="-122"/>
                <a:cs typeface="Calibri" pitchFamily="34" charset="-120"/>
              </a:rPr>
              <a:t>▪  Foundation Models</a:t>
            </a:r>
            <a:endParaRPr lang="en-US" sz="1000" dirty="0"/>
          </a:p>
          <a:p>
            <a:pPr marL="0" indent="0">
              <a:buNone/>
            </a:pPr>
            <a:r>
              <a:rPr lang="en-US" sz="1000" dirty="0">
                <a:solidFill>
                  <a:srgbClr val="E8EFF6"/>
                </a:solidFill>
                <a:latin typeface="Calibri" pitchFamily="34" charset="0"/>
                <a:ea typeface="Calibri" pitchFamily="34" charset="-122"/>
                <a:cs typeface="Calibri" pitchFamily="34" charset="-120"/>
              </a:rPr>
              <a:t>▪  Llama</a:t>
            </a:r>
            <a:endParaRPr lang="en-US" sz="1000" dirty="0"/>
          </a:p>
          <a:p>
            <a:pPr marL="0" indent="0">
              <a:buNone/>
            </a:pPr>
            <a:r>
              <a:rPr lang="en-US" sz="1000" dirty="0">
                <a:solidFill>
                  <a:srgbClr val="E8EFF6"/>
                </a:solidFill>
                <a:latin typeface="Calibri" pitchFamily="34" charset="0"/>
                <a:ea typeface="Calibri" pitchFamily="34" charset="-122"/>
                <a:cs typeface="Calibri" pitchFamily="34" charset="-120"/>
              </a:rPr>
              <a:t>▪  ChatBot</a:t>
            </a:r>
            <a:endParaRPr lang="en-US" sz="1000" dirty="0"/>
          </a:p>
          <a:p>
            <a:pPr marL="0" indent="0">
              <a:buNone/>
            </a:pPr>
            <a:r>
              <a:rPr lang="en-US" sz="1000" dirty="0">
                <a:solidFill>
                  <a:srgbClr val="E8EFF6"/>
                </a:solidFill>
                <a:latin typeface="Calibri" pitchFamily="34" charset="0"/>
                <a:ea typeface="Calibri" pitchFamily="34" charset="-122"/>
                <a:cs typeface="Calibri" pitchFamily="34" charset="-120"/>
              </a:rPr>
              <a:t>▪  Serverless AI</a:t>
            </a:r>
            <a:endParaRPr lang="en-US" sz="1000" dirty="0"/>
          </a:p>
        </p:txBody>
      </p:sp>
      <p:sp>
        <p:nvSpPr>
          <p:cNvPr id="23" name="Shape 21"/>
          <p:cNvSpPr/>
          <p:nvPr/>
        </p:nvSpPr>
        <p:spPr>
          <a:xfrm>
            <a:off x="0" y="4686300"/>
            <a:ext cx="9144000" cy="457200"/>
          </a:xfrm>
          <a:prstGeom prst="rect">
            <a:avLst/>
          </a:prstGeom>
          <a:solidFill>
            <a:srgbClr val="162232"/>
          </a:solidFill>
          <a:ln w="12700">
            <a:solidFill>
              <a:srgbClr val="162232"/>
            </a:solidFill>
            <a:prstDash val="solid"/>
          </a:ln>
        </p:spPr>
        <p:txBody>
          <a:bodyPr/>
          <a:lstStyle/>
          <a:p>
            <a:endParaRPr/>
          </a:p>
        </p:txBody>
      </p:sp>
      <p:sp>
        <p:nvSpPr>
          <p:cNvPr id="24" name="Text 22"/>
          <p:cNvSpPr/>
          <p:nvPr/>
        </p:nvSpPr>
        <p:spPr>
          <a:xfrm>
            <a:off x="457200" y="4686300"/>
            <a:ext cx="7315200" cy="457200"/>
          </a:xfrm>
          <a:prstGeom prst="rect">
            <a:avLst/>
          </a:prstGeom>
          <a:noFill/>
          <a:ln/>
        </p:spPr>
        <p:txBody>
          <a:bodyPr wrap="square" rtlCol="0" anchor="ctr"/>
          <a:lstStyle/>
          <a:p>
            <a:pPr marL="0" indent="0">
              <a:buNone/>
            </a:pPr>
            <a:r>
              <a:rPr lang="en-US" sz="1000" dirty="0">
                <a:solidFill>
                  <a:srgbClr val="8FA3B8"/>
                </a:solidFill>
                <a:latin typeface="Calibri" pitchFamily="34" charset="0"/>
                <a:ea typeface="Calibri" pitchFamily="34" charset="-122"/>
                <a:cs typeface="Calibri" pitchFamily="34" charset="-120"/>
              </a:rPr>
              <a:t>Amazon Bedrock | Cloud Computing Presentation</a:t>
            </a:r>
            <a:endParaRPr lang="en-US" sz="1000" dirty="0"/>
          </a:p>
        </p:txBody>
      </p:sp>
      <p:sp>
        <p:nvSpPr>
          <p:cNvPr id="25" name="Text 23"/>
          <p:cNvSpPr/>
          <p:nvPr/>
        </p:nvSpPr>
        <p:spPr>
          <a:xfrm>
            <a:off x="8046720" y="4686300"/>
            <a:ext cx="914400" cy="457200"/>
          </a:xfrm>
          <a:prstGeom prst="rect">
            <a:avLst/>
          </a:prstGeom>
          <a:noFill/>
          <a:ln/>
        </p:spPr>
        <p:txBody>
          <a:bodyPr wrap="square" rtlCol="0" anchor="ctr"/>
          <a:lstStyle/>
          <a:p>
            <a:pPr marL="0" indent="0" algn="r">
              <a:buNone/>
            </a:pPr>
            <a:r>
              <a:rPr lang="en-US" sz="1000" dirty="0">
                <a:solidFill>
                  <a:srgbClr val="8FA3B8"/>
                </a:solidFill>
                <a:latin typeface="Calibri" pitchFamily="34" charset="0"/>
                <a:ea typeface="Calibri" pitchFamily="34" charset="-122"/>
                <a:cs typeface="Calibri" pitchFamily="34" charset="-120"/>
              </a:rPr>
              <a:t>12 / 14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73152"/>
            <a:ext cx="9144000" cy="384048"/>
          </a:xfrm>
          <a:prstGeom prst="rect">
            <a:avLst/>
          </a:prstGeom>
          <a:solidFill>
            <a:srgbClr val="1A2840"/>
          </a:solidFill>
          <a:ln w="12700">
            <a:solidFill>
              <a:srgbClr val="1A2840"/>
            </a:solidFill>
            <a:prstDash val="solid"/>
          </a:ln>
        </p:spPr>
        <p:txBody>
          <a:bodyPr/>
          <a:lstStyle/>
          <a:p>
            <a:endParaRPr/>
          </a:p>
        </p:txBody>
      </p:sp>
      <p:sp>
        <p:nvSpPr>
          <p:cNvPr id="3" name="Text 1"/>
          <p:cNvSpPr/>
          <p:nvPr/>
        </p:nvSpPr>
        <p:spPr>
          <a:xfrm>
            <a:off x="365760" y="73152"/>
            <a:ext cx="8412480" cy="384048"/>
          </a:xfrm>
          <a:prstGeom prst="rect">
            <a:avLst/>
          </a:prstGeom>
          <a:noFill/>
          <a:ln/>
        </p:spPr>
        <p:txBody>
          <a:bodyPr wrap="square" lIns="0" tIns="0" rIns="0" bIns="0" rtlCol="0" anchor="ctr"/>
          <a:lstStyle/>
          <a:p>
            <a:pPr marL="0" indent="0">
              <a:buNone/>
            </a:pPr>
            <a:r>
              <a:rPr lang="en-US" sz="1000" dirty="0">
                <a:solidFill>
                  <a:srgbClr val="8FA3B8"/>
                </a:solidFill>
                <a:latin typeface="Calibri" pitchFamily="34" charset="0"/>
                <a:ea typeface="Calibri" pitchFamily="34" charset="-122"/>
                <a:cs typeface="Calibri" pitchFamily="34" charset="-120"/>
              </a:rPr>
              <a:t>RESEARCH PAPER  |  IJIRMPS Vol.13 Issue 5  |  Sep–Oct 2025  |  ISSN: 2349-7300</a:t>
            </a:r>
            <a:endParaRPr lang="en-US" sz="1000" dirty="0"/>
          </a:p>
        </p:txBody>
      </p:sp>
      <p:sp>
        <p:nvSpPr>
          <p:cNvPr id="4" name="Text 2"/>
          <p:cNvSpPr/>
          <p:nvPr/>
        </p:nvSpPr>
        <p:spPr>
          <a:xfrm>
            <a:off x="457200" y="59436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Findings &amp; Contributions</a:t>
            </a:r>
            <a:endParaRPr lang="en-US" sz="2800" dirty="0"/>
          </a:p>
        </p:txBody>
      </p:sp>
      <p:sp>
        <p:nvSpPr>
          <p:cNvPr id="5" name="Shape 3"/>
          <p:cNvSpPr/>
          <p:nvPr/>
        </p:nvSpPr>
        <p:spPr>
          <a:xfrm>
            <a:off x="320040" y="1170432"/>
            <a:ext cx="8503920" cy="749808"/>
          </a:xfrm>
          <a:prstGeom prst="rect">
            <a:avLst/>
          </a:prstGeom>
          <a:solidFill>
            <a:srgbClr val="1E3045"/>
          </a:solidFill>
          <a:ln w="12700">
            <a:solidFill>
              <a:srgbClr val="2A4060"/>
            </a:solidFill>
            <a:prstDash val="solid"/>
          </a:ln>
        </p:spPr>
        <p:txBody>
          <a:bodyPr/>
          <a:lstStyle/>
          <a:p>
            <a:endParaRPr/>
          </a:p>
        </p:txBody>
      </p:sp>
      <p:sp>
        <p:nvSpPr>
          <p:cNvPr id="6" name="Shape 4"/>
          <p:cNvSpPr/>
          <p:nvPr/>
        </p:nvSpPr>
        <p:spPr>
          <a:xfrm>
            <a:off x="320040" y="1170432"/>
            <a:ext cx="64008" cy="749808"/>
          </a:xfrm>
          <a:prstGeom prst="rect">
            <a:avLst/>
          </a:prstGeom>
          <a:solidFill>
            <a:srgbClr val="FF9900"/>
          </a:solidFill>
          <a:ln w="12700">
            <a:solidFill>
              <a:srgbClr val="FF9900"/>
            </a:solidFill>
            <a:prstDash val="solid"/>
          </a:ln>
        </p:spPr>
        <p:txBody>
          <a:bodyPr/>
          <a:lstStyle/>
          <a:p>
            <a:endParaRPr/>
          </a:p>
        </p:txBody>
      </p:sp>
      <p:sp>
        <p:nvSpPr>
          <p:cNvPr id="7" name="Shape 5"/>
          <p:cNvSpPr/>
          <p:nvPr/>
        </p:nvSpPr>
        <p:spPr>
          <a:xfrm>
            <a:off x="475488" y="1335024"/>
            <a:ext cx="384048" cy="384048"/>
          </a:xfrm>
          <a:prstGeom prst="rect">
            <a:avLst/>
          </a:prstGeom>
          <a:solidFill>
            <a:srgbClr val="FF9900">
              <a:alpha val="80000"/>
            </a:srgbClr>
          </a:solidFill>
          <a:ln w="12700">
            <a:solidFill>
              <a:srgbClr val="FF9900"/>
            </a:solidFill>
            <a:prstDash val="solid"/>
          </a:ln>
        </p:spPr>
        <p:txBody>
          <a:bodyPr/>
          <a:lstStyle/>
          <a:p>
            <a:endParaRPr/>
          </a:p>
        </p:txBody>
      </p:sp>
      <p:sp>
        <p:nvSpPr>
          <p:cNvPr id="8" name="Text 6"/>
          <p:cNvSpPr/>
          <p:nvPr/>
        </p:nvSpPr>
        <p:spPr>
          <a:xfrm>
            <a:off x="475488" y="1335024"/>
            <a:ext cx="38404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F1</a:t>
            </a:r>
            <a:endParaRPr lang="en-US" sz="1000" dirty="0"/>
          </a:p>
        </p:txBody>
      </p:sp>
      <p:sp>
        <p:nvSpPr>
          <p:cNvPr id="9" name="Text 7"/>
          <p:cNvSpPr/>
          <p:nvPr/>
        </p:nvSpPr>
        <p:spPr>
          <a:xfrm>
            <a:off x="1005840" y="1234440"/>
            <a:ext cx="2286000" cy="347472"/>
          </a:xfrm>
          <a:prstGeom prst="rect">
            <a:avLst/>
          </a:prstGeom>
          <a:noFill/>
          <a:ln/>
        </p:spPr>
        <p:txBody>
          <a:bodyPr wrap="square" lIns="0" tIns="0" rIns="0" bIns="0" rtlCol="0" anchor="ctr"/>
          <a:lstStyle/>
          <a:p>
            <a:pPr marL="0" indent="0">
              <a:buNone/>
            </a:pPr>
            <a:r>
              <a:rPr lang="en-US" sz="1300" b="1" dirty="0">
                <a:solidFill>
                  <a:srgbClr val="FF9900"/>
                </a:solidFill>
                <a:latin typeface="Calibri" pitchFamily="34" charset="0"/>
                <a:ea typeface="Calibri" pitchFamily="34" charset="-122"/>
                <a:cs typeface="Calibri" pitchFamily="34" charset="-120"/>
              </a:rPr>
              <a:t>Hybrid Architecture</a:t>
            </a:r>
            <a:endParaRPr lang="en-US" sz="1300" dirty="0"/>
          </a:p>
        </p:txBody>
      </p:sp>
      <p:sp>
        <p:nvSpPr>
          <p:cNvPr id="10" name="Text 8"/>
          <p:cNvSpPr/>
          <p:nvPr/>
        </p:nvSpPr>
        <p:spPr>
          <a:xfrm>
            <a:off x="1005840" y="1572768"/>
            <a:ext cx="7635240" cy="320040"/>
          </a:xfrm>
          <a:prstGeom prst="rect">
            <a:avLst/>
          </a:prstGeom>
          <a:noFill/>
          <a:ln/>
        </p:spPr>
        <p:txBody>
          <a:bodyPr wrap="square" lIns="0" tIns="0" rIns="0" bIns="0" rtlCol="0" anchor="ctr"/>
          <a:lstStyle/>
          <a:p>
            <a:pPr marL="0" indent="0">
              <a:buNone/>
            </a:pPr>
            <a:r>
              <a:rPr lang="en-US" sz="950" dirty="0">
                <a:solidFill>
                  <a:srgbClr val="E8EFF6"/>
                </a:solidFill>
                <a:latin typeface="Calibri" pitchFamily="34" charset="0"/>
                <a:ea typeface="Calibri" pitchFamily="34" charset="-122"/>
                <a:cs typeface="Calibri" pitchFamily="34" charset="-120"/>
              </a:rPr>
              <a:t>Combines Amazon Lex (structured NLU) with Bedrock (generative AI) to handle both deterministic workflows and open-ended conversations.</a:t>
            </a:r>
            <a:endParaRPr lang="en-US" sz="950" dirty="0"/>
          </a:p>
        </p:txBody>
      </p:sp>
      <p:sp>
        <p:nvSpPr>
          <p:cNvPr id="11" name="Shape 9"/>
          <p:cNvSpPr/>
          <p:nvPr/>
        </p:nvSpPr>
        <p:spPr>
          <a:xfrm>
            <a:off x="320040" y="2020824"/>
            <a:ext cx="8503920" cy="749808"/>
          </a:xfrm>
          <a:prstGeom prst="rect">
            <a:avLst/>
          </a:prstGeom>
          <a:solidFill>
            <a:srgbClr val="1E3045"/>
          </a:solidFill>
          <a:ln w="12700">
            <a:solidFill>
              <a:srgbClr val="2A4060"/>
            </a:solidFill>
            <a:prstDash val="solid"/>
          </a:ln>
        </p:spPr>
        <p:txBody>
          <a:bodyPr/>
          <a:lstStyle/>
          <a:p>
            <a:endParaRPr/>
          </a:p>
        </p:txBody>
      </p:sp>
      <p:sp>
        <p:nvSpPr>
          <p:cNvPr id="12" name="Shape 10"/>
          <p:cNvSpPr/>
          <p:nvPr/>
        </p:nvSpPr>
        <p:spPr>
          <a:xfrm>
            <a:off x="320040" y="2020824"/>
            <a:ext cx="64008" cy="749808"/>
          </a:xfrm>
          <a:prstGeom prst="rect">
            <a:avLst/>
          </a:prstGeom>
          <a:solidFill>
            <a:srgbClr val="00B3B3"/>
          </a:solidFill>
          <a:ln w="12700">
            <a:solidFill>
              <a:srgbClr val="00B3B3"/>
            </a:solidFill>
            <a:prstDash val="solid"/>
          </a:ln>
        </p:spPr>
        <p:txBody>
          <a:bodyPr/>
          <a:lstStyle/>
          <a:p>
            <a:endParaRPr/>
          </a:p>
        </p:txBody>
      </p:sp>
      <p:sp>
        <p:nvSpPr>
          <p:cNvPr id="13" name="Shape 11"/>
          <p:cNvSpPr/>
          <p:nvPr/>
        </p:nvSpPr>
        <p:spPr>
          <a:xfrm>
            <a:off x="475488" y="2185416"/>
            <a:ext cx="384048" cy="384048"/>
          </a:xfrm>
          <a:prstGeom prst="rect">
            <a:avLst/>
          </a:prstGeom>
          <a:solidFill>
            <a:srgbClr val="00B3B3">
              <a:alpha val="80000"/>
            </a:srgbClr>
          </a:solidFill>
          <a:ln w="12700">
            <a:solidFill>
              <a:srgbClr val="00B3B3"/>
            </a:solidFill>
            <a:prstDash val="solid"/>
          </a:ln>
        </p:spPr>
        <p:txBody>
          <a:bodyPr/>
          <a:lstStyle/>
          <a:p>
            <a:endParaRPr/>
          </a:p>
        </p:txBody>
      </p:sp>
      <p:sp>
        <p:nvSpPr>
          <p:cNvPr id="14" name="Text 12"/>
          <p:cNvSpPr/>
          <p:nvPr/>
        </p:nvSpPr>
        <p:spPr>
          <a:xfrm>
            <a:off x="475488" y="2185416"/>
            <a:ext cx="38404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F2</a:t>
            </a:r>
            <a:endParaRPr lang="en-US" sz="1000" dirty="0"/>
          </a:p>
        </p:txBody>
      </p:sp>
      <p:sp>
        <p:nvSpPr>
          <p:cNvPr id="15" name="Text 13"/>
          <p:cNvSpPr/>
          <p:nvPr/>
        </p:nvSpPr>
        <p:spPr>
          <a:xfrm>
            <a:off x="1005840" y="2084832"/>
            <a:ext cx="2286000" cy="347472"/>
          </a:xfrm>
          <a:prstGeom prst="rect">
            <a:avLst/>
          </a:prstGeom>
          <a:noFill/>
          <a:ln/>
        </p:spPr>
        <p:txBody>
          <a:bodyPr wrap="square" lIns="0" tIns="0" rIns="0" bIns="0" rtlCol="0" anchor="ctr"/>
          <a:lstStyle/>
          <a:p>
            <a:pPr marL="0" indent="0">
              <a:buNone/>
            </a:pPr>
            <a:r>
              <a:rPr lang="en-US" sz="1300" b="1" dirty="0">
                <a:solidFill>
                  <a:srgbClr val="00B3B3"/>
                </a:solidFill>
                <a:latin typeface="Calibri" pitchFamily="34" charset="0"/>
                <a:ea typeface="Calibri" pitchFamily="34" charset="-122"/>
                <a:cs typeface="Calibri" pitchFamily="34" charset="-120"/>
              </a:rPr>
              <a:t>Model Selection Strategy</a:t>
            </a:r>
            <a:endParaRPr lang="en-US" sz="1300" dirty="0"/>
          </a:p>
        </p:txBody>
      </p:sp>
      <p:sp>
        <p:nvSpPr>
          <p:cNvPr id="16" name="Text 14"/>
          <p:cNvSpPr/>
          <p:nvPr/>
        </p:nvSpPr>
        <p:spPr>
          <a:xfrm>
            <a:off x="1005840" y="2423160"/>
            <a:ext cx="7635240" cy="320040"/>
          </a:xfrm>
          <a:prstGeom prst="rect">
            <a:avLst/>
          </a:prstGeom>
          <a:noFill/>
          <a:ln/>
        </p:spPr>
        <p:txBody>
          <a:bodyPr wrap="square" lIns="0" tIns="0" rIns="0" bIns="0" rtlCol="0" anchor="ctr"/>
          <a:lstStyle/>
          <a:p>
            <a:pPr marL="0" indent="0">
              <a:buNone/>
            </a:pPr>
            <a:r>
              <a:rPr lang="en-US" sz="950" dirty="0">
                <a:solidFill>
                  <a:srgbClr val="E8EFF6"/>
                </a:solidFill>
                <a:latin typeface="Calibri" pitchFamily="34" charset="0"/>
                <a:ea typeface="Calibri" pitchFamily="34" charset="-122"/>
                <a:cs typeface="Calibri" pitchFamily="34" charset="-120"/>
              </a:rPr>
              <a:t>Claude for safety-critical sectors (banking, healthcare), Llama for reasoning-heavy tasks, Cohere for RAG pipelines, Titan for AWS-native workloads.</a:t>
            </a:r>
            <a:endParaRPr lang="en-US" sz="950" dirty="0"/>
          </a:p>
        </p:txBody>
      </p:sp>
      <p:sp>
        <p:nvSpPr>
          <p:cNvPr id="17" name="Shape 15"/>
          <p:cNvSpPr/>
          <p:nvPr/>
        </p:nvSpPr>
        <p:spPr>
          <a:xfrm>
            <a:off x="320040" y="2871216"/>
            <a:ext cx="8503920" cy="749808"/>
          </a:xfrm>
          <a:prstGeom prst="rect">
            <a:avLst/>
          </a:prstGeom>
          <a:solidFill>
            <a:srgbClr val="1E3045"/>
          </a:solidFill>
          <a:ln w="12700">
            <a:solidFill>
              <a:srgbClr val="2A4060"/>
            </a:solidFill>
            <a:prstDash val="solid"/>
          </a:ln>
        </p:spPr>
        <p:txBody>
          <a:bodyPr/>
          <a:lstStyle/>
          <a:p>
            <a:endParaRPr/>
          </a:p>
        </p:txBody>
      </p:sp>
      <p:sp>
        <p:nvSpPr>
          <p:cNvPr id="18" name="Shape 16"/>
          <p:cNvSpPr/>
          <p:nvPr/>
        </p:nvSpPr>
        <p:spPr>
          <a:xfrm>
            <a:off x="320040" y="2871216"/>
            <a:ext cx="64008" cy="749808"/>
          </a:xfrm>
          <a:prstGeom prst="rect">
            <a:avLst/>
          </a:prstGeom>
          <a:solidFill>
            <a:srgbClr val="1A73E8"/>
          </a:solidFill>
          <a:ln w="12700">
            <a:solidFill>
              <a:srgbClr val="1A73E8"/>
            </a:solidFill>
            <a:prstDash val="solid"/>
          </a:ln>
        </p:spPr>
        <p:txBody>
          <a:bodyPr/>
          <a:lstStyle/>
          <a:p>
            <a:endParaRPr/>
          </a:p>
        </p:txBody>
      </p:sp>
      <p:sp>
        <p:nvSpPr>
          <p:cNvPr id="19" name="Shape 17"/>
          <p:cNvSpPr/>
          <p:nvPr/>
        </p:nvSpPr>
        <p:spPr>
          <a:xfrm>
            <a:off x="475488" y="3035808"/>
            <a:ext cx="384048" cy="384048"/>
          </a:xfrm>
          <a:prstGeom prst="rect">
            <a:avLst/>
          </a:prstGeom>
          <a:solidFill>
            <a:srgbClr val="1A73E8">
              <a:alpha val="80000"/>
            </a:srgbClr>
          </a:solidFill>
          <a:ln w="12700">
            <a:solidFill>
              <a:srgbClr val="1A73E8"/>
            </a:solidFill>
            <a:prstDash val="solid"/>
          </a:ln>
        </p:spPr>
        <p:txBody>
          <a:bodyPr/>
          <a:lstStyle/>
          <a:p>
            <a:endParaRPr/>
          </a:p>
        </p:txBody>
      </p:sp>
      <p:sp>
        <p:nvSpPr>
          <p:cNvPr id="20" name="Text 18"/>
          <p:cNvSpPr/>
          <p:nvPr/>
        </p:nvSpPr>
        <p:spPr>
          <a:xfrm>
            <a:off x="475488" y="3035808"/>
            <a:ext cx="38404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F3</a:t>
            </a:r>
            <a:endParaRPr lang="en-US" sz="1000" dirty="0"/>
          </a:p>
        </p:txBody>
      </p:sp>
      <p:sp>
        <p:nvSpPr>
          <p:cNvPr id="21" name="Text 19"/>
          <p:cNvSpPr/>
          <p:nvPr/>
        </p:nvSpPr>
        <p:spPr>
          <a:xfrm>
            <a:off x="1005840" y="2935224"/>
            <a:ext cx="2286000" cy="347472"/>
          </a:xfrm>
          <a:prstGeom prst="rect">
            <a:avLst/>
          </a:prstGeom>
          <a:noFill/>
          <a:ln/>
        </p:spPr>
        <p:txBody>
          <a:bodyPr wrap="square" lIns="0" tIns="0" rIns="0" bIns="0" rtlCol="0" anchor="ctr"/>
          <a:lstStyle/>
          <a:p>
            <a:pPr marL="0" indent="0">
              <a:buNone/>
            </a:pPr>
            <a:r>
              <a:rPr lang="en-US" sz="1300" b="1" dirty="0">
                <a:solidFill>
                  <a:srgbClr val="1A73E8"/>
                </a:solidFill>
                <a:latin typeface="Calibri" pitchFamily="34" charset="0"/>
                <a:ea typeface="Calibri" pitchFamily="34" charset="-122"/>
                <a:cs typeface="Calibri" pitchFamily="34" charset="-120"/>
              </a:rPr>
              <a:t>Third-Party Integration</a:t>
            </a:r>
            <a:endParaRPr lang="en-US" sz="1300" dirty="0"/>
          </a:p>
        </p:txBody>
      </p:sp>
      <p:sp>
        <p:nvSpPr>
          <p:cNvPr id="22" name="Text 20"/>
          <p:cNvSpPr/>
          <p:nvPr/>
        </p:nvSpPr>
        <p:spPr>
          <a:xfrm>
            <a:off x="1005840" y="3273552"/>
            <a:ext cx="7635240" cy="320040"/>
          </a:xfrm>
          <a:prstGeom prst="rect">
            <a:avLst/>
          </a:prstGeom>
          <a:noFill/>
          <a:ln/>
        </p:spPr>
        <p:txBody>
          <a:bodyPr wrap="square" lIns="0" tIns="0" rIns="0" bIns="0" rtlCol="0" anchor="ctr"/>
          <a:lstStyle/>
          <a:p>
            <a:pPr marL="0" indent="0">
              <a:buNone/>
            </a:pPr>
            <a:r>
              <a:rPr lang="en-US" sz="950" dirty="0">
                <a:solidFill>
                  <a:srgbClr val="E8EFF6"/>
                </a:solidFill>
                <a:latin typeface="Calibri" pitchFamily="34" charset="0"/>
                <a:ea typeface="Calibri" pitchFamily="34" charset="-122"/>
                <a:cs typeface="Calibri" pitchFamily="34" charset="-120"/>
              </a:rPr>
              <a:t>Bedrock can be embedded into external chatbot platforms on Kubernetes (EKS) via IRSA authentication, ConfigMaps, and Redis caching.</a:t>
            </a:r>
            <a:endParaRPr lang="en-US" sz="950" dirty="0"/>
          </a:p>
        </p:txBody>
      </p:sp>
      <p:sp>
        <p:nvSpPr>
          <p:cNvPr id="23" name="Shape 21"/>
          <p:cNvSpPr/>
          <p:nvPr/>
        </p:nvSpPr>
        <p:spPr>
          <a:xfrm>
            <a:off x="320040" y="3721608"/>
            <a:ext cx="8503920" cy="749808"/>
          </a:xfrm>
          <a:prstGeom prst="rect">
            <a:avLst/>
          </a:prstGeom>
          <a:solidFill>
            <a:srgbClr val="1E3045"/>
          </a:solidFill>
          <a:ln w="12700">
            <a:solidFill>
              <a:srgbClr val="2A4060"/>
            </a:solidFill>
            <a:prstDash val="solid"/>
          </a:ln>
        </p:spPr>
        <p:txBody>
          <a:bodyPr/>
          <a:lstStyle/>
          <a:p>
            <a:endParaRPr/>
          </a:p>
        </p:txBody>
      </p:sp>
      <p:sp>
        <p:nvSpPr>
          <p:cNvPr id="24" name="Shape 22"/>
          <p:cNvSpPr/>
          <p:nvPr/>
        </p:nvSpPr>
        <p:spPr>
          <a:xfrm>
            <a:off x="320040" y="3721608"/>
            <a:ext cx="64008" cy="749808"/>
          </a:xfrm>
          <a:prstGeom prst="rect">
            <a:avLst/>
          </a:prstGeom>
          <a:solidFill>
            <a:srgbClr val="9B59B6"/>
          </a:solidFill>
          <a:ln w="12700">
            <a:solidFill>
              <a:srgbClr val="9B59B6"/>
            </a:solidFill>
            <a:prstDash val="solid"/>
          </a:ln>
        </p:spPr>
        <p:txBody>
          <a:bodyPr/>
          <a:lstStyle/>
          <a:p>
            <a:endParaRPr/>
          </a:p>
        </p:txBody>
      </p:sp>
      <p:sp>
        <p:nvSpPr>
          <p:cNvPr id="25" name="Shape 23"/>
          <p:cNvSpPr/>
          <p:nvPr/>
        </p:nvSpPr>
        <p:spPr>
          <a:xfrm>
            <a:off x="475488" y="3886200"/>
            <a:ext cx="384048" cy="384048"/>
          </a:xfrm>
          <a:prstGeom prst="rect">
            <a:avLst/>
          </a:prstGeom>
          <a:solidFill>
            <a:srgbClr val="9B59B6">
              <a:alpha val="80000"/>
            </a:srgbClr>
          </a:solidFill>
          <a:ln w="12700">
            <a:solidFill>
              <a:srgbClr val="9B59B6"/>
            </a:solidFill>
            <a:prstDash val="solid"/>
          </a:ln>
        </p:spPr>
        <p:txBody>
          <a:bodyPr/>
          <a:lstStyle/>
          <a:p>
            <a:endParaRPr/>
          </a:p>
        </p:txBody>
      </p:sp>
      <p:sp>
        <p:nvSpPr>
          <p:cNvPr id="26" name="Text 24"/>
          <p:cNvSpPr/>
          <p:nvPr/>
        </p:nvSpPr>
        <p:spPr>
          <a:xfrm>
            <a:off x="475488" y="3886200"/>
            <a:ext cx="384048"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F4</a:t>
            </a:r>
            <a:endParaRPr lang="en-US" sz="1000" dirty="0"/>
          </a:p>
        </p:txBody>
      </p:sp>
      <p:sp>
        <p:nvSpPr>
          <p:cNvPr id="27" name="Text 25"/>
          <p:cNvSpPr/>
          <p:nvPr/>
        </p:nvSpPr>
        <p:spPr>
          <a:xfrm>
            <a:off x="1005840" y="3785616"/>
            <a:ext cx="2286000" cy="347472"/>
          </a:xfrm>
          <a:prstGeom prst="rect">
            <a:avLst/>
          </a:prstGeom>
          <a:noFill/>
          <a:ln/>
        </p:spPr>
        <p:txBody>
          <a:bodyPr wrap="square" lIns="0" tIns="0" rIns="0" bIns="0" rtlCol="0" anchor="ctr"/>
          <a:lstStyle/>
          <a:p>
            <a:pPr marL="0" indent="0">
              <a:buNone/>
            </a:pPr>
            <a:r>
              <a:rPr lang="en-US" sz="1300" b="1" dirty="0">
                <a:solidFill>
                  <a:srgbClr val="9B59B6"/>
                </a:solidFill>
                <a:latin typeface="Calibri" pitchFamily="34" charset="0"/>
                <a:ea typeface="Calibri" pitchFamily="34" charset="-122"/>
                <a:cs typeface="Calibri" pitchFamily="34" charset="-120"/>
              </a:rPr>
              <a:t>Cross-Industry Applications</a:t>
            </a:r>
            <a:endParaRPr lang="en-US" sz="1300" dirty="0"/>
          </a:p>
        </p:txBody>
      </p:sp>
      <p:sp>
        <p:nvSpPr>
          <p:cNvPr id="28" name="Text 26"/>
          <p:cNvSpPr/>
          <p:nvPr/>
        </p:nvSpPr>
        <p:spPr>
          <a:xfrm>
            <a:off x="1005840" y="4123944"/>
            <a:ext cx="7635240" cy="320040"/>
          </a:xfrm>
          <a:prstGeom prst="rect">
            <a:avLst/>
          </a:prstGeom>
          <a:noFill/>
          <a:ln/>
        </p:spPr>
        <p:txBody>
          <a:bodyPr wrap="square" lIns="0" tIns="0" rIns="0" bIns="0" rtlCol="0" anchor="ctr"/>
          <a:lstStyle/>
          <a:p>
            <a:pPr marL="0" indent="0">
              <a:buNone/>
            </a:pPr>
            <a:r>
              <a:rPr lang="en-US" sz="950" dirty="0">
                <a:solidFill>
                  <a:srgbClr val="E8EFF6"/>
                </a:solidFill>
                <a:latin typeface="Calibri" pitchFamily="34" charset="0"/>
                <a:ea typeface="Calibri" pitchFamily="34" charset="-122"/>
                <a:cs typeface="Calibri" pitchFamily="34" charset="-120"/>
              </a:rPr>
              <a:t>Customer support (query resolution), healthcare (plain-language explanations), finance (personalized insights with compliance), internal productivity.</a:t>
            </a:r>
            <a:endParaRPr lang="en-US" sz="950" dirty="0"/>
          </a:p>
        </p:txBody>
      </p:sp>
      <p:sp>
        <p:nvSpPr>
          <p:cNvPr id="29" name="Shape 27"/>
          <p:cNvSpPr/>
          <p:nvPr/>
        </p:nvSpPr>
        <p:spPr>
          <a:xfrm>
            <a:off x="0" y="4686300"/>
            <a:ext cx="9144000" cy="457200"/>
          </a:xfrm>
          <a:prstGeom prst="rect">
            <a:avLst/>
          </a:prstGeom>
          <a:solidFill>
            <a:srgbClr val="162232"/>
          </a:solidFill>
          <a:ln w="12700">
            <a:solidFill>
              <a:srgbClr val="162232"/>
            </a:solidFill>
            <a:prstDash val="solid"/>
          </a:ln>
        </p:spPr>
        <p:txBody>
          <a:bodyPr/>
          <a:lstStyle/>
          <a:p>
            <a:endParaRPr/>
          </a:p>
        </p:txBody>
      </p:sp>
      <p:sp>
        <p:nvSpPr>
          <p:cNvPr id="30" name="Text 28"/>
          <p:cNvSpPr/>
          <p:nvPr/>
        </p:nvSpPr>
        <p:spPr>
          <a:xfrm>
            <a:off x="457200" y="4686300"/>
            <a:ext cx="7315200" cy="457200"/>
          </a:xfrm>
          <a:prstGeom prst="rect">
            <a:avLst/>
          </a:prstGeom>
          <a:noFill/>
          <a:ln/>
        </p:spPr>
        <p:txBody>
          <a:bodyPr wrap="square" rtlCol="0" anchor="ctr"/>
          <a:lstStyle/>
          <a:p>
            <a:pPr marL="0" indent="0">
              <a:buNone/>
            </a:pPr>
            <a:r>
              <a:rPr lang="en-US" sz="1000" dirty="0">
                <a:solidFill>
                  <a:srgbClr val="8FA3B8"/>
                </a:solidFill>
                <a:latin typeface="Calibri" pitchFamily="34" charset="0"/>
                <a:ea typeface="Calibri" pitchFamily="34" charset="-122"/>
                <a:cs typeface="Calibri" pitchFamily="34" charset="-120"/>
              </a:rPr>
              <a:t>Amazon Bedrock | Cloud Computing Presentation</a:t>
            </a:r>
            <a:endParaRPr lang="en-US" sz="1000" dirty="0"/>
          </a:p>
        </p:txBody>
      </p:sp>
      <p:sp>
        <p:nvSpPr>
          <p:cNvPr id="31" name="Text 29"/>
          <p:cNvSpPr/>
          <p:nvPr/>
        </p:nvSpPr>
        <p:spPr>
          <a:xfrm>
            <a:off x="8046720" y="4686300"/>
            <a:ext cx="914400" cy="457200"/>
          </a:xfrm>
          <a:prstGeom prst="rect">
            <a:avLst/>
          </a:prstGeom>
          <a:noFill/>
          <a:ln/>
        </p:spPr>
        <p:txBody>
          <a:bodyPr wrap="square" rtlCol="0" anchor="ctr"/>
          <a:lstStyle/>
          <a:p>
            <a:pPr marL="0" indent="0" algn="r">
              <a:buNone/>
            </a:pPr>
            <a:r>
              <a:rPr lang="en-US" sz="1000" dirty="0">
                <a:solidFill>
                  <a:srgbClr val="8FA3B8"/>
                </a:solidFill>
                <a:latin typeface="Calibri" pitchFamily="34" charset="0"/>
                <a:ea typeface="Calibri" pitchFamily="34" charset="-122"/>
                <a:cs typeface="Calibri" pitchFamily="34" charset="-120"/>
              </a:rPr>
              <a:t>13 / 14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73152"/>
            <a:ext cx="9144000" cy="384048"/>
          </a:xfrm>
          <a:prstGeom prst="rect">
            <a:avLst/>
          </a:prstGeom>
          <a:solidFill>
            <a:srgbClr val="1A2840"/>
          </a:solidFill>
          <a:ln w="12700">
            <a:solidFill>
              <a:srgbClr val="1A2840"/>
            </a:solidFill>
            <a:prstDash val="solid"/>
          </a:ln>
        </p:spPr>
        <p:txBody>
          <a:bodyPr/>
          <a:lstStyle/>
          <a:p>
            <a:endParaRPr/>
          </a:p>
        </p:txBody>
      </p:sp>
      <p:sp>
        <p:nvSpPr>
          <p:cNvPr id="3" name="Text 1"/>
          <p:cNvSpPr/>
          <p:nvPr/>
        </p:nvSpPr>
        <p:spPr>
          <a:xfrm>
            <a:off x="365760" y="73152"/>
            <a:ext cx="8412480" cy="384048"/>
          </a:xfrm>
          <a:prstGeom prst="rect">
            <a:avLst/>
          </a:prstGeom>
          <a:noFill/>
          <a:ln/>
        </p:spPr>
        <p:txBody>
          <a:bodyPr wrap="square" lIns="0" tIns="0" rIns="0" bIns="0" rtlCol="0" anchor="ctr"/>
          <a:lstStyle/>
          <a:p>
            <a:pPr marL="0" indent="0">
              <a:buNone/>
            </a:pPr>
            <a:r>
              <a:rPr lang="en-US" sz="1000" dirty="0">
                <a:solidFill>
                  <a:srgbClr val="8FA3B8"/>
                </a:solidFill>
                <a:latin typeface="Calibri" pitchFamily="34" charset="0"/>
                <a:ea typeface="Calibri" pitchFamily="34" charset="-122"/>
                <a:cs typeface="Calibri" pitchFamily="34" charset="-120"/>
              </a:rPr>
              <a:t>RESEARCH PAPER  |  IJIRMPS Vol.13 Issue 5  |  Sep–Oct 2025  |  ISSN: 2349-7300</a:t>
            </a:r>
            <a:endParaRPr lang="en-US" sz="1000" dirty="0"/>
          </a:p>
        </p:txBody>
      </p:sp>
      <p:sp>
        <p:nvSpPr>
          <p:cNvPr id="4" name="Text 2"/>
          <p:cNvSpPr/>
          <p:nvPr/>
        </p:nvSpPr>
        <p:spPr>
          <a:xfrm>
            <a:off x="457200" y="594360"/>
            <a:ext cx="822960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Architecture Diagram &amp; Conclusion</a:t>
            </a:r>
            <a:endParaRPr lang="en-US" sz="2600" dirty="0"/>
          </a:p>
        </p:txBody>
      </p:sp>
      <p:sp>
        <p:nvSpPr>
          <p:cNvPr id="5" name="Text 3"/>
          <p:cNvSpPr/>
          <p:nvPr/>
        </p:nvSpPr>
        <p:spPr>
          <a:xfrm>
            <a:off x="365760" y="1170432"/>
            <a:ext cx="5029200" cy="347472"/>
          </a:xfrm>
          <a:prstGeom prst="rect">
            <a:avLst/>
          </a:prstGeom>
          <a:noFill/>
          <a:ln/>
        </p:spPr>
        <p:txBody>
          <a:bodyPr wrap="square" lIns="0" tIns="0" rIns="0" bIns="0" rtlCol="0" anchor="ctr"/>
          <a:lstStyle/>
          <a:p>
            <a:pPr marL="0" indent="0">
              <a:buNone/>
            </a:pPr>
            <a:r>
              <a:rPr lang="en-US" sz="1300" b="1" dirty="0">
                <a:solidFill>
                  <a:srgbClr val="9B59B6"/>
                </a:solidFill>
                <a:latin typeface="Calibri" pitchFamily="34" charset="0"/>
                <a:ea typeface="Calibri" pitchFamily="34" charset="-122"/>
                <a:cs typeface="Calibri" pitchFamily="34" charset="-120"/>
              </a:rPr>
              <a:t>Paper's Integration Flow (Figure 1)</a:t>
            </a:r>
            <a:endParaRPr lang="en-US" sz="1300" dirty="0"/>
          </a:p>
        </p:txBody>
      </p:sp>
      <p:sp>
        <p:nvSpPr>
          <p:cNvPr id="6" name="Shape 4"/>
          <p:cNvSpPr/>
          <p:nvPr/>
        </p:nvSpPr>
        <p:spPr>
          <a:xfrm>
            <a:off x="320040" y="1572768"/>
            <a:ext cx="1143000" cy="749808"/>
          </a:xfrm>
          <a:prstGeom prst="rect">
            <a:avLst/>
          </a:prstGeom>
          <a:solidFill>
            <a:srgbClr val="8FA3B8">
              <a:alpha val="25000"/>
            </a:srgbClr>
          </a:solidFill>
          <a:ln w="12700">
            <a:solidFill>
              <a:srgbClr val="8FA3B8"/>
            </a:solidFill>
            <a:prstDash val="solid"/>
          </a:ln>
        </p:spPr>
        <p:txBody>
          <a:bodyPr/>
          <a:lstStyle/>
          <a:p>
            <a:endParaRPr/>
          </a:p>
        </p:txBody>
      </p:sp>
      <p:sp>
        <p:nvSpPr>
          <p:cNvPr id="7" name="Text 5"/>
          <p:cNvSpPr/>
          <p:nvPr/>
        </p:nvSpPr>
        <p:spPr>
          <a:xfrm>
            <a:off x="320040" y="1572768"/>
            <a:ext cx="1143000" cy="7498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User/</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Client</a:t>
            </a:r>
            <a:endParaRPr lang="en-US" sz="900" dirty="0"/>
          </a:p>
        </p:txBody>
      </p:sp>
      <p:sp>
        <p:nvSpPr>
          <p:cNvPr id="8" name="Shape 6"/>
          <p:cNvSpPr/>
          <p:nvPr/>
        </p:nvSpPr>
        <p:spPr>
          <a:xfrm>
            <a:off x="1463040" y="1920240"/>
            <a:ext cx="484632" cy="54864"/>
          </a:xfrm>
          <a:prstGeom prst="rect">
            <a:avLst/>
          </a:prstGeom>
          <a:solidFill>
            <a:srgbClr val="8FA3B8"/>
          </a:solidFill>
          <a:ln w="12700">
            <a:solidFill>
              <a:srgbClr val="8FA3B8"/>
            </a:solidFill>
            <a:prstDash val="solid"/>
          </a:ln>
        </p:spPr>
        <p:txBody>
          <a:bodyPr/>
          <a:lstStyle/>
          <a:p>
            <a:endParaRPr/>
          </a:p>
        </p:txBody>
      </p:sp>
      <p:sp>
        <p:nvSpPr>
          <p:cNvPr id="9" name="Shape 7"/>
          <p:cNvSpPr/>
          <p:nvPr/>
        </p:nvSpPr>
        <p:spPr>
          <a:xfrm>
            <a:off x="1627632" y="1572768"/>
            <a:ext cx="1143000" cy="749808"/>
          </a:xfrm>
          <a:prstGeom prst="rect">
            <a:avLst/>
          </a:prstGeom>
          <a:solidFill>
            <a:srgbClr val="1A73E8">
              <a:alpha val="25000"/>
            </a:srgbClr>
          </a:solidFill>
          <a:ln w="12700">
            <a:solidFill>
              <a:srgbClr val="1A73E8"/>
            </a:solidFill>
            <a:prstDash val="solid"/>
          </a:ln>
        </p:spPr>
        <p:txBody>
          <a:bodyPr/>
          <a:lstStyle/>
          <a:p>
            <a:endParaRPr/>
          </a:p>
        </p:txBody>
      </p:sp>
      <p:sp>
        <p:nvSpPr>
          <p:cNvPr id="10" name="Text 8"/>
          <p:cNvSpPr/>
          <p:nvPr/>
        </p:nvSpPr>
        <p:spPr>
          <a:xfrm>
            <a:off x="1627632" y="1572768"/>
            <a:ext cx="1143000" cy="7498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Amazon Lex</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(Chatbot)</a:t>
            </a:r>
            <a:endParaRPr lang="en-US" sz="900" dirty="0"/>
          </a:p>
        </p:txBody>
      </p:sp>
      <p:sp>
        <p:nvSpPr>
          <p:cNvPr id="11" name="Shape 9"/>
          <p:cNvSpPr/>
          <p:nvPr/>
        </p:nvSpPr>
        <p:spPr>
          <a:xfrm>
            <a:off x="2770632" y="1920240"/>
            <a:ext cx="484632" cy="54864"/>
          </a:xfrm>
          <a:prstGeom prst="rect">
            <a:avLst/>
          </a:prstGeom>
          <a:solidFill>
            <a:srgbClr val="8FA3B8"/>
          </a:solidFill>
          <a:ln w="12700">
            <a:solidFill>
              <a:srgbClr val="8FA3B8"/>
            </a:solidFill>
            <a:prstDash val="solid"/>
          </a:ln>
        </p:spPr>
        <p:txBody>
          <a:bodyPr/>
          <a:lstStyle/>
          <a:p>
            <a:endParaRPr/>
          </a:p>
        </p:txBody>
      </p:sp>
      <p:sp>
        <p:nvSpPr>
          <p:cNvPr id="12" name="Shape 10"/>
          <p:cNvSpPr/>
          <p:nvPr/>
        </p:nvSpPr>
        <p:spPr>
          <a:xfrm>
            <a:off x="2935224" y="1572768"/>
            <a:ext cx="1143000" cy="749808"/>
          </a:xfrm>
          <a:prstGeom prst="rect">
            <a:avLst/>
          </a:prstGeom>
          <a:solidFill>
            <a:srgbClr val="FF9900">
              <a:alpha val="25000"/>
            </a:srgbClr>
          </a:solidFill>
          <a:ln w="12700">
            <a:solidFill>
              <a:srgbClr val="FF9900"/>
            </a:solidFill>
            <a:prstDash val="solid"/>
          </a:ln>
        </p:spPr>
        <p:txBody>
          <a:bodyPr/>
          <a:lstStyle/>
          <a:p>
            <a:endParaRPr/>
          </a:p>
        </p:txBody>
      </p:sp>
      <p:sp>
        <p:nvSpPr>
          <p:cNvPr id="13" name="Text 11"/>
          <p:cNvSpPr/>
          <p:nvPr/>
        </p:nvSpPr>
        <p:spPr>
          <a:xfrm>
            <a:off x="2935224" y="1572768"/>
            <a:ext cx="1143000" cy="7498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Bedrock</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FM API</a:t>
            </a:r>
            <a:endParaRPr lang="en-US" sz="900" dirty="0"/>
          </a:p>
        </p:txBody>
      </p:sp>
      <p:sp>
        <p:nvSpPr>
          <p:cNvPr id="14" name="Shape 12"/>
          <p:cNvSpPr/>
          <p:nvPr/>
        </p:nvSpPr>
        <p:spPr>
          <a:xfrm>
            <a:off x="4407408" y="1554480"/>
            <a:ext cx="1188720" cy="301752"/>
          </a:xfrm>
          <a:prstGeom prst="rect">
            <a:avLst/>
          </a:prstGeom>
          <a:solidFill>
            <a:srgbClr val="1E3045"/>
          </a:solidFill>
          <a:ln w="12700">
            <a:solidFill>
              <a:srgbClr val="9B59B6"/>
            </a:solidFill>
            <a:prstDash val="solid"/>
          </a:ln>
        </p:spPr>
        <p:txBody>
          <a:bodyPr/>
          <a:lstStyle/>
          <a:p>
            <a:endParaRPr/>
          </a:p>
        </p:txBody>
      </p:sp>
      <p:sp>
        <p:nvSpPr>
          <p:cNvPr id="15" name="Shape 13"/>
          <p:cNvSpPr/>
          <p:nvPr/>
        </p:nvSpPr>
        <p:spPr>
          <a:xfrm>
            <a:off x="4142232" y="1664208"/>
            <a:ext cx="265176" cy="54864"/>
          </a:xfrm>
          <a:prstGeom prst="rect">
            <a:avLst/>
          </a:prstGeom>
          <a:solidFill>
            <a:srgbClr val="9B59B6"/>
          </a:solidFill>
          <a:ln w="12700">
            <a:solidFill>
              <a:srgbClr val="9B59B6"/>
            </a:solidFill>
            <a:prstDash val="solid"/>
          </a:ln>
        </p:spPr>
        <p:txBody>
          <a:bodyPr/>
          <a:lstStyle/>
          <a:p>
            <a:endParaRPr/>
          </a:p>
        </p:txBody>
      </p:sp>
      <p:sp>
        <p:nvSpPr>
          <p:cNvPr id="16" name="Text 14"/>
          <p:cNvSpPr/>
          <p:nvPr/>
        </p:nvSpPr>
        <p:spPr>
          <a:xfrm>
            <a:off x="4407408" y="1554480"/>
            <a:ext cx="1188720" cy="30175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Anthropic Claude</a:t>
            </a:r>
            <a:endParaRPr lang="en-US" sz="850" dirty="0"/>
          </a:p>
        </p:txBody>
      </p:sp>
      <p:sp>
        <p:nvSpPr>
          <p:cNvPr id="17" name="Shape 15"/>
          <p:cNvSpPr/>
          <p:nvPr/>
        </p:nvSpPr>
        <p:spPr>
          <a:xfrm>
            <a:off x="4407408" y="1901952"/>
            <a:ext cx="1188720" cy="301752"/>
          </a:xfrm>
          <a:prstGeom prst="rect">
            <a:avLst/>
          </a:prstGeom>
          <a:solidFill>
            <a:srgbClr val="1E3045"/>
          </a:solidFill>
          <a:ln w="12700">
            <a:solidFill>
              <a:srgbClr val="9B59B6"/>
            </a:solidFill>
            <a:prstDash val="solid"/>
          </a:ln>
        </p:spPr>
        <p:txBody>
          <a:bodyPr/>
          <a:lstStyle/>
          <a:p>
            <a:endParaRPr/>
          </a:p>
        </p:txBody>
      </p:sp>
      <p:sp>
        <p:nvSpPr>
          <p:cNvPr id="18" name="Shape 16"/>
          <p:cNvSpPr/>
          <p:nvPr/>
        </p:nvSpPr>
        <p:spPr>
          <a:xfrm>
            <a:off x="4142232" y="2011680"/>
            <a:ext cx="265176" cy="54864"/>
          </a:xfrm>
          <a:prstGeom prst="rect">
            <a:avLst/>
          </a:prstGeom>
          <a:solidFill>
            <a:srgbClr val="9B59B6"/>
          </a:solidFill>
          <a:ln w="12700">
            <a:solidFill>
              <a:srgbClr val="9B59B6"/>
            </a:solidFill>
            <a:prstDash val="solid"/>
          </a:ln>
        </p:spPr>
        <p:txBody>
          <a:bodyPr/>
          <a:lstStyle/>
          <a:p>
            <a:endParaRPr/>
          </a:p>
        </p:txBody>
      </p:sp>
      <p:sp>
        <p:nvSpPr>
          <p:cNvPr id="19" name="Text 17"/>
          <p:cNvSpPr/>
          <p:nvPr/>
        </p:nvSpPr>
        <p:spPr>
          <a:xfrm>
            <a:off x="4407408" y="1901952"/>
            <a:ext cx="1188720" cy="30175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Meta Llama</a:t>
            </a:r>
            <a:endParaRPr lang="en-US" sz="850" dirty="0"/>
          </a:p>
        </p:txBody>
      </p:sp>
      <p:sp>
        <p:nvSpPr>
          <p:cNvPr id="20" name="Shape 18"/>
          <p:cNvSpPr/>
          <p:nvPr/>
        </p:nvSpPr>
        <p:spPr>
          <a:xfrm>
            <a:off x="4407408" y="2249424"/>
            <a:ext cx="1188720" cy="301752"/>
          </a:xfrm>
          <a:prstGeom prst="rect">
            <a:avLst/>
          </a:prstGeom>
          <a:solidFill>
            <a:srgbClr val="1E3045"/>
          </a:solidFill>
          <a:ln w="12700">
            <a:solidFill>
              <a:srgbClr val="9B59B6"/>
            </a:solidFill>
            <a:prstDash val="solid"/>
          </a:ln>
        </p:spPr>
        <p:txBody>
          <a:bodyPr/>
          <a:lstStyle/>
          <a:p>
            <a:endParaRPr/>
          </a:p>
        </p:txBody>
      </p:sp>
      <p:sp>
        <p:nvSpPr>
          <p:cNvPr id="21" name="Shape 19"/>
          <p:cNvSpPr/>
          <p:nvPr/>
        </p:nvSpPr>
        <p:spPr>
          <a:xfrm>
            <a:off x="4142232" y="2359152"/>
            <a:ext cx="265176" cy="54864"/>
          </a:xfrm>
          <a:prstGeom prst="rect">
            <a:avLst/>
          </a:prstGeom>
          <a:solidFill>
            <a:srgbClr val="9B59B6"/>
          </a:solidFill>
          <a:ln w="12700">
            <a:solidFill>
              <a:srgbClr val="9B59B6"/>
            </a:solidFill>
            <a:prstDash val="solid"/>
          </a:ln>
        </p:spPr>
        <p:txBody>
          <a:bodyPr/>
          <a:lstStyle/>
          <a:p>
            <a:endParaRPr/>
          </a:p>
        </p:txBody>
      </p:sp>
      <p:sp>
        <p:nvSpPr>
          <p:cNvPr id="22" name="Text 20"/>
          <p:cNvSpPr/>
          <p:nvPr/>
        </p:nvSpPr>
        <p:spPr>
          <a:xfrm>
            <a:off x="4407408" y="2249424"/>
            <a:ext cx="1188720" cy="30175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Amazon Titan</a:t>
            </a:r>
            <a:endParaRPr lang="en-US" sz="850" dirty="0"/>
          </a:p>
        </p:txBody>
      </p:sp>
      <p:sp>
        <p:nvSpPr>
          <p:cNvPr id="23" name="Shape 21"/>
          <p:cNvSpPr/>
          <p:nvPr/>
        </p:nvSpPr>
        <p:spPr>
          <a:xfrm>
            <a:off x="4407408" y="2596896"/>
            <a:ext cx="1188720" cy="301752"/>
          </a:xfrm>
          <a:prstGeom prst="rect">
            <a:avLst/>
          </a:prstGeom>
          <a:solidFill>
            <a:srgbClr val="1E3045"/>
          </a:solidFill>
          <a:ln w="12700">
            <a:solidFill>
              <a:srgbClr val="9B59B6"/>
            </a:solidFill>
            <a:prstDash val="solid"/>
          </a:ln>
        </p:spPr>
        <p:txBody>
          <a:bodyPr/>
          <a:lstStyle/>
          <a:p>
            <a:endParaRPr/>
          </a:p>
        </p:txBody>
      </p:sp>
      <p:sp>
        <p:nvSpPr>
          <p:cNvPr id="24" name="Shape 22"/>
          <p:cNvSpPr/>
          <p:nvPr/>
        </p:nvSpPr>
        <p:spPr>
          <a:xfrm>
            <a:off x="4142232" y="2706624"/>
            <a:ext cx="265176" cy="54864"/>
          </a:xfrm>
          <a:prstGeom prst="rect">
            <a:avLst/>
          </a:prstGeom>
          <a:solidFill>
            <a:srgbClr val="9B59B6"/>
          </a:solidFill>
          <a:ln w="12700">
            <a:solidFill>
              <a:srgbClr val="9B59B6"/>
            </a:solidFill>
            <a:prstDash val="solid"/>
          </a:ln>
        </p:spPr>
        <p:txBody>
          <a:bodyPr/>
          <a:lstStyle/>
          <a:p>
            <a:endParaRPr/>
          </a:p>
        </p:txBody>
      </p:sp>
      <p:sp>
        <p:nvSpPr>
          <p:cNvPr id="25" name="Text 23"/>
          <p:cNvSpPr/>
          <p:nvPr/>
        </p:nvSpPr>
        <p:spPr>
          <a:xfrm>
            <a:off x="4407408" y="2596896"/>
            <a:ext cx="1188720" cy="30175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Stability AI</a:t>
            </a:r>
            <a:endParaRPr lang="en-US" sz="850" dirty="0"/>
          </a:p>
        </p:txBody>
      </p:sp>
      <p:sp>
        <p:nvSpPr>
          <p:cNvPr id="26" name="Shape 24"/>
          <p:cNvSpPr/>
          <p:nvPr/>
        </p:nvSpPr>
        <p:spPr>
          <a:xfrm>
            <a:off x="4407408" y="2944368"/>
            <a:ext cx="1188720" cy="301752"/>
          </a:xfrm>
          <a:prstGeom prst="rect">
            <a:avLst/>
          </a:prstGeom>
          <a:solidFill>
            <a:srgbClr val="1E3045"/>
          </a:solidFill>
          <a:ln w="12700">
            <a:solidFill>
              <a:srgbClr val="9B59B6"/>
            </a:solidFill>
            <a:prstDash val="solid"/>
          </a:ln>
        </p:spPr>
        <p:txBody>
          <a:bodyPr/>
          <a:lstStyle/>
          <a:p>
            <a:endParaRPr/>
          </a:p>
        </p:txBody>
      </p:sp>
      <p:sp>
        <p:nvSpPr>
          <p:cNvPr id="27" name="Shape 25"/>
          <p:cNvSpPr/>
          <p:nvPr/>
        </p:nvSpPr>
        <p:spPr>
          <a:xfrm>
            <a:off x="4142232" y="3054096"/>
            <a:ext cx="265176" cy="54864"/>
          </a:xfrm>
          <a:prstGeom prst="rect">
            <a:avLst/>
          </a:prstGeom>
          <a:solidFill>
            <a:srgbClr val="9B59B6"/>
          </a:solidFill>
          <a:ln w="12700">
            <a:solidFill>
              <a:srgbClr val="9B59B6"/>
            </a:solidFill>
            <a:prstDash val="solid"/>
          </a:ln>
        </p:spPr>
        <p:txBody>
          <a:bodyPr/>
          <a:lstStyle/>
          <a:p>
            <a:endParaRPr/>
          </a:p>
        </p:txBody>
      </p:sp>
      <p:sp>
        <p:nvSpPr>
          <p:cNvPr id="28" name="Text 26"/>
          <p:cNvSpPr/>
          <p:nvPr/>
        </p:nvSpPr>
        <p:spPr>
          <a:xfrm>
            <a:off x="4407408" y="2944368"/>
            <a:ext cx="1188720" cy="30175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Cohere</a:t>
            </a:r>
            <a:endParaRPr lang="en-US" sz="850" dirty="0"/>
          </a:p>
        </p:txBody>
      </p:sp>
      <p:sp>
        <p:nvSpPr>
          <p:cNvPr id="29" name="Text 27"/>
          <p:cNvSpPr/>
          <p:nvPr/>
        </p:nvSpPr>
        <p:spPr>
          <a:xfrm>
            <a:off x="320040" y="3364992"/>
            <a:ext cx="5303520" cy="292608"/>
          </a:xfrm>
          <a:prstGeom prst="rect">
            <a:avLst/>
          </a:prstGeom>
          <a:noFill/>
          <a:ln/>
        </p:spPr>
        <p:txBody>
          <a:bodyPr wrap="square" lIns="0" tIns="0" rIns="0" bIns="0" rtlCol="0" anchor="ctr"/>
          <a:lstStyle/>
          <a:p>
            <a:pPr marL="0" indent="0">
              <a:buNone/>
            </a:pPr>
            <a:r>
              <a:rPr lang="en-US" sz="950" i="1" dirty="0">
                <a:solidFill>
                  <a:srgbClr val="8FA3B8"/>
                </a:solidFill>
                <a:latin typeface="Calibri" pitchFamily="34" charset="0"/>
                <a:ea typeface="Calibri" pitchFamily="34" charset="-122"/>
                <a:cs typeface="Calibri" pitchFamily="34" charset="-120"/>
              </a:rPr>
              <a:t>Also: EKS External Chatbots ↔ Bedrock via IRSA + VPC Endpoints</a:t>
            </a:r>
            <a:endParaRPr lang="en-US" sz="950" dirty="0"/>
          </a:p>
        </p:txBody>
      </p:sp>
      <p:sp>
        <p:nvSpPr>
          <p:cNvPr id="30" name="Shape 28"/>
          <p:cNvSpPr/>
          <p:nvPr/>
        </p:nvSpPr>
        <p:spPr>
          <a:xfrm>
            <a:off x="5669280" y="1572768"/>
            <a:ext cx="3154680" cy="2084832"/>
          </a:xfrm>
          <a:prstGeom prst="rect">
            <a:avLst/>
          </a:prstGeom>
          <a:solidFill>
            <a:srgbClr val="1E3045"/>
          </a:solidFill>
          <a:ln w="12700">
            <a:solidFill>
              <a:srgbClr val="9B59B6"/>
            </a:solidFill>
            <a:prstDash val="solid"/>
          </a:ln>
        </p:spPr>
        <p:txBody>
          <a:bodyPr/>
          <a:lstStyle/>
          <a:p>
            <a:endParaRPr/>
          </a:p>
        </p:txBody>
      </p:sp>
      <p:sp>
        <p:nvSpPr>
          <p:cNvPr id="31" name="Text 29"/>
          <p:cNvSpPr/>
          <p:nvPr/>
        </p:nvSpPr>
        <p:spPr>
          <a:xfrm>
            <a:off x="5806440" y="1664208"/>
            <a:ext cx="2880360" cy="347472"/>
          </a:xfrm>
          <a:prstGeom prst="rect">
            <a:avLst/>
          </a:prstGeom>
          <a:noFill/>
          <a:ln/>
        </p:spPr>
        <p:txBody>
          <a:bodyPr wrap="square" lIns="0" tIns="0" rIns="0" bIns="0" rtlCol="0" anchor="ctr"/>
          <a:lstStyle/>
          <a:p>
            <a:pPr marL="0" indent="0">
              <a:buNone/>
            </a:pPr>
            <a:r>
              <a:rPr lang="en-US" sz="1300" b="1" dirty="0">
                <a:solidFill>
                  <a:srgbClr val="9B59B6"/>
                </a:solidFill>
                <a:latin typeface="Calibri" pitchFamily="34" charset="0"/>
                <a:ea typeface="Calibri" pitchFamily="34" charset="-122"/>
                <a:cs typeface="Calibri" pitchFamily="34" charset="-120"/>
              </a:rPr>
              <a:t>Paper Conclusion</a:t>
            </a:r>
            <a:endParaRPr lang="en-US" sz="1300" dirty="0"/>
          </a:p>
        </p:txBody>
      </p:sp>
      <p:sp>
        <p:nvSpPr>
          <p:cNvPr id="32" name="Text 30"/>
          <p:cNvSpPr/>
          <p:nvPr/>
        </p:nvSpPr>
        <p:spPr>
          <a:xfrm>
            <a:off x="5806440" y="2057400"/>
            <a:ext cx="2880360" cy="1481328"/>
          </a:xfrm>
          <a:prstGeom prst="rect">
            <a:avLst/>
          </a:prstGeom>
          <a:noFill/>
          <a:ln/>
        </p:spPr>
        <p:txBody>
          <a:bodyPr wrap="square" lIns="0" tIns="0" rIns="0" bIns="0" rtlCol="0" anchor="ctr"/>
          <a:lstStyle/>
          <a:p>
            <a:pPr marL="0" indent="0">
              <a:buNone/>
            </a:pPr>
            <a:r>
              <a:rPr lang="en-US" sz="1000" dirty="0">
                <a:solidFill>
                  <a:srgbClr val="E8EFF6"/>
                </a:solidFill>
                <a:latin typeface="Calibri" pitchFamily="34" charset="0"/>
                <a:ea typeface="Calibri" pitchFamily="34" charset="-122"/>
                <a:cs typeface="Calibri" pitchFamily="34" charset="-120"/>
              </a:rPr>
              <a:t>Bedrock democratizes generative AI by eliminating infrastructure barriers. Combined with Lex, it creates enterprise chatbots that are both reliable and human-like.</a:t>
            </a:r>
            <a:endParaRPr lang="en-US" sz="1000" dirty="0"/>
          </a:p>
          <a:p>
            <a:pPr marL="0" indent="0">
              <a:buNone/>
            </a:pPr>
            <a:endParaRPr lang="en-US" sz="1000" dirty="0"/>
          </a:p>
          <a:p>
            <a:pPr marL="0" indent="0">
              <a:buNone/>
            </a:pPr>
            <a:r>
              <a:rPr lang="en-US" sz="1000" dirty="0">
                <a:solidFill>
                  <a:srgbClr val="E8EFF6"/>
                </a:solidFill>
                <a:latin typeface="Calibri" pitchFamily="34" charset="0"/>
                <a:ea typeface="Calibri" pitchFamily="34" charset="-122"/>
                <a:cs typeface="Calibri" pitchFamily="34" charset="-120"/>
              </a:rPr>
              <a:t>The paper concludes that Bedrock + Lex forms a solid foundation for next-gen enterprise conversational AI that doesn't just automate tasks, but truly assists and engages users in meaningful ways.</a:t>
            </a:r>
            <a:endParaRPr lang="en-US" sz="1000" dirty="0"/>
          </a:p>
        </p:txBody>
      </p:sp>
      <p:sp>
        <p:nvSpPr>
          <p:cNvPr id="33" name="Shape 31"/>
          <p:cNvSpPr/>
          <p:nvPr/>
        </p:nvSpPr>
        <p:spPr>
          <a:xfrm>
            <a:off x="320040" y="3749040"/>
            <a:ext cx="8503920" cy="822960"/>
          </a:xfrm>
          <a:prstGeom prst="rect">
            <a:avLst/>
          </a:prstGeom>
          <a:solidFill>
            <a:srgbClr val="FF9900">
              <a:alpha val="12000"/>
            </a:srgbClr>
          </a:solidFill>
          <a:ln w="12700">
            <a:solidFill>
              <a:srgbClr val="FF9900"/>
            </a:solidFill>
            <a:prstDash val="solid"/>
          </a:ln>
        </p:spPr>
        <p:txBody>
          <a:bodyPr/>
          <a:lstStyle/>
          <a:p>
            <a:endParaRPr/>
          </a:p>
        </p:txBody>
      </p:sp>
      <p:sp>
        <p:nvSpPr>
          <p:cNvPr id="34" name="Text 32"/>
          <p:cNvSpPr/>
          <p:nvPr/>
        </p:nvSpPr>
        <p:spPr>
          <a:xfrm>
            <a:off x="502920" y="3776472"/>
            <a:ext cx="8229600" cy="77724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Key Takeaway: "Bedrock removes the need to build models from scratch — enabling even small teams to deploy enterprise-grade AI at scale."</a:t>
            </a:r>
            <a:endParaRPr lang="en-US" sz="1100" dirty="0"/>
          </a:p>
        </p:txBody>
      </p:sp>
      <p:sp>
        <p:nvSpPr>
          <p:cNvPr id="35" name="Shape 33"/>
          <p:cNvSpPr/>
          <p:nvPr/>
        </p:nvSpPr>
        <p:spPr>
          <a:xfrm>
            <a:off x="0" y="4686300"/>
            <a:ext cx="9144000" cy="457200"/>
          </a:xfrm>
          <a:prstGeom prst="rect">
            <a:avLst/>
          </a:prstGeom>
          <a:solidFill>
            <a:srgbClr val="162232"/>
          </a:solidFill>
          <a:ln w="12700">
            <a:solidFill>
              <a:srgbClr val="162232"/>
            </a:solidFill>
            <a:prstDash val="solid"/>
          </a:ln>
        </p:spPr>
        <p:txBody>
          <a:bodyPr/>
          <a:lstStyle/>
          <a:p>
            <a:endParaRPr/>
          </a:p>
        </p:txBody>
      </p:sp>
      <p:sp>
        <p:nvSpPr>
          <p:cNvPr id="36" name="Text 34"/>
          <p:cNvSpPr/>
          <p:nvPr/>
        </p:nvSpPr>
        <p:spPr>
          <a:xfrm>
            <a:off x="457200" y="4686300"/>
            <a:ext cx="7315200" cy="457200"/>
          </a:xfrm>
          <a:prstGeom prst="rect">
            <a:avLst/>
          </a:prstGeom>
          <a:noFill/>
          <a:ln/>
        </p:spPr>
        <p:txBody>
          <a:bodyPr wrap="square" rtlCol="0" anchor="ctr"/>
          <a:lstStyle/>
          <a:p>
            <a:pPr marL="0" indent="0">
              <a:buNone/>
            </a:pPr>
            <a:r>
              <a:rPr lang="en-US" sz="1000" dirty="0">
                <a:solidFill>
                  <a:srgbClr val="8FA3B8"/>
                </a:solidFill>
                <a:latin typeface="Calibri" pitchFamily="34" charset="0"/>
                <a:ea typeface="Calibri" pitchFamily="34" charset="-122"/>
                <a:cs typeface="Calibri" pitchFamily="34" charset="-120"/>
              </a:rPr>
              <a:t>Amazon Bedrock | Cloud Computing Presentation</a:t>
            </a:r>
            <a:endParaRPr lang="en-US" sz="1000" dirty="0"/>
          </a:p>
        </p:txBody>
      </p:sp>
      <p:sp>
        <p:nvSpPr>
          <p:cNvPr id="37" name="Text 35"/>
          <p:cNvSpPr/>
          <p:nvPr/>
        </p:nvSpPr>
        <p:spPr>
          <a:xfrm>
            <a:off x="8046720" y="4686300"/>
            <a:ext cx="914400" cy="457200"/>
          </a:xfrm>
          <a:prstGeom prst="rect">
            <a:avLst/>
          </a:prstGeom>
          <a:noFill/>
          <a:ln/>
        </p:spPr>
        <p:txBody>
          <a:bodyPr wrap="square" rtlCol="0" anchor="ctr"/>
          <a:lstStyle/>
          <a:p>
            <a:pPr marL="0" indent="0" algn="r">
              <a:buNone/>
            </a:pPr>
            <a:r>
              <a:rPr lang="en-US" sz="1000" dirty="0">
                <a:solidFill>
                  <a:srgbClr val="8FA3B8"/>
                </a:solidFill>
                <a:latin typeface="Calibri" pitchFamily="34" charset="0"/>
                <a:ea typeface="Calibri" pitchFamily="34" charset="-122"/>
                <a:cs typeface="Calibri" pitchFamily="34" charset="-120"/>
              </a:rPr>
              <a:t>14 / 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1435</Words>
  <Application>Microsoft Office PowerPoint</Application>
  <PresentationFormat>On-screen Show (16:9)</PresentationFormat>
  <Paragraphs>286</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Bedrock for Conversational AI &amp; GenAI</dc:title>
  <dc:subject>PptxGenJS Presentation</dc:subject>
  <dc:creator>PptxGenJS</dc:creator>
  <cp:lastModifiedBy>Rishiraj Gupta</cp:lastModifiedBy>
  <cp:revision>2</cp:revision>
  <dcterms:created xsi:type="dcterms:W3CDTF">2026-03-13T13:39:40Z</dcterms:created>
  <dcterms:modified xsi:type="dcterms:W3CDTF">2026-03-13T13:59:50Z</dcterms:modified>
</cp:coreProperties>
</file>